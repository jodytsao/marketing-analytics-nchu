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65" r:id="rId3"/>
    <p:sldId id="314" r:id="rId4"/>
    <p:sldId id="317" r:id="rId5"/>
    <p:sldId id="315" r:id="rId6"/>
    <p:sldId id="318" r:id="rId7"/>
    <p:sldId id="319" r:id="rId8"/>
    <p:sldId id="316" r:id="rId9"/>
    <p:sldId id="320" r:id="rId10"/>
    <p:sldId id="277" r:id="rId11"/>
    <p:sldId id="278" r:id="rId12"/>
    <p:sldId id="267" r:id="rId13"/>
    <p:sldId id="321" r:id="rId14"/>
    <p:sldId id="322" r:id="rId15"/>
    <p:sldId id="323" r:id="rId16"/>
    <p:sldId id="324" r:id="rId17"/>
    <p:sldId id="325" r:id="rId18"/>
    <p:sldId id="326" r:id="rId19"/>
    <p:sldId id="261" r:id="rId2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800"/>
    <a:srgbClr val="0000FF"/>
    <a:srgbClr val="009F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59484-E329-494D-92BB-E9E1AEA215F3}" v="11" dt="2026-03-04T00:28:55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/>
    <p:restoredTop sz="47624" autoAdjust="0"/>
  </p:normalViewPr>
  <p:slideViewPr>
    <p:cSldViewPr snapToGrid="0" snapToObjects="1">
      <p:cViewPr varScale="1">
        <p:scale>
          <a:sx n="54" d="100"/>
          <a:sy n="54" d="100"/>
        </p:scale>
        <p:origin x="25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修源" userId="cd4dc3a9-fcfc-4557-b60c-6ceb710917d0" providerId="ADAL" clId="{6F859484-E329-494D-92BB-E9E1AEA215F3}"/>
    <pc:docChg chg="addSld modSld">
      <pc:chgData name="曹修源" userId="cd4dc3a9-fcfc-4557-b60c-6ceb710917d0" providerId="ADAL" clId="{6F859484-E329-494D-92BB-E9E1AEA215F3}" dt="2026-03-04T00:30:00.758" v="59"/>
      <pc:docMkLst>
        <pc:docMk/>
      </pc:docMkLst>
      <pc:sldChg chg="addSp modSp new mod">
        <pc:chgData name="曹修源" userId="cd4dc3a9-fcfc-4557-b60c-6ceb710917d0" providerId="ADAL" clId="{6F859484-E329-494D-92BB-E9E1AEA215F3}" dt="2026-03-04T00:26:20.801" v="28" actId="1076"/>
        <pc:sldMkLst>
          <pc:docMk/>
          <pc:sldMk cId="1242577466" sldId="323"/>
        </pc:sldMkLst>
        <pc:spChg chg="add mod">
          <ac:chgData name="曹修源" userId="cd4dc3a9-fcfc-4557-b60c-6ceb710917d0" providerId="ADAL" clId="{6F859484-E329-494D-92BB-E9E1AEA215F3}" dt="2026-03-04T00:25:19.775" v="22" actId="6549"/>
          <ac:spMkLst>
            <pc:docMk/>
            <pc:sldMk cId="1242577466" sldId="323"/>
            <ac:spMk id="3" creationId="{4AED2EC2-477B-D0E1-7B8D-46141D0718BE}"/>
          </ac:spMkLst>
        </pc:spChg>
        <pc:spChg chg="add mod">
          <ac:chgData name="曹修源" userId="cd4dc3a9-fcfc-4557-b60c-6ceb710917d0" providerId="ADAL" clId="{6F859484-E329-494D-92BB-E9E1AEA215F3}" dt="2026-03-04T00:25:55.429" v="24" actId="1076"/>
          <ac:spMkLst>
            <pc:docMk/>
            <pc:sldMk cId="1242577466" sldId="323"/>
            <ac:spMk id="5" creationId="{37C15B26-9A17-3E8A-15C8-BAB21E58F6A3}"/>
          </ac:spMkLst>
        </pc:spChg>
        <pc:picChg chg="add mod">
          <ac:chgData name="曹修源" userId="cd4dc3a9-fcfc-4557-b60c-6ceb710917d0" providerId="ADAL" clId="{6F859484-E329-494D-92BB-E9E1AEA215F3}" dt="2026-03-04T00:26:05.008" v="26" actId="1076"/>
          <ac:picMkLst>
            <pc:docMk/>
            <pc:sldMk cId="1242577466" sldId="323"/>
            <ac:picMk id="6" creationId="{228B450A-FD07-38BC-28D6-E4F935007508}"/>
          </ac:picMkLst>
        </pc:picChg>
        <pc:picChg chg="add mod">
          <ac:chgData name="曹修源" userId="cd4dc3a9-fcfc-4557-b60c-6ceb710917d0" providerId="ADAL" clId="{6F859484-E329-494D-92BB-E9E1AEA215F3}" dt="2026-03-04T00:26:20.801" v="28" actId="1076"/>
          <ac:picMkLst>
            <pc:docMk/>
            <pc:sldMk cId="1242577466" sldId="323"/>
            <ac:picMk id="7" creationId="{5173DDED-03D8-1291-654E-300E52D43EB7}"/>
          </ac:picMkLst>
        </pc:picChg>
      </pc:sldChg>
      <pc:sldChg chg="addSp modSp new mod">
        <pc:chgData name="曹修源" userId="cd4dc3a9-fcfc-4557-b60c-6ceb710917d0" providerId="ADAL" clId="{6F859484-E329-494D-92BB-E9E1AEA215F3}" dt="2026-03-04T00:27:05.583" v="36" actId="1076"/>
        <pc:sldMkLst>
          <pc:docMk/>
          <pc:sldMk cId="3626641956" sldId="324"/>
        </pc:sldMkLst>
        <pc:picChg chg="add mod">
          <ac:chgData name="曹修源" userId="cd4dc3a9-fcfc-4557-b60c-6ceb710917d0" providerId="ADAL" clId="{6F859484-E329-494D-92BB-E9E1AEA215F3}" dt="2026-03-04T00:27:00.716" v="34" actId="1076"/>
          <ac:picMkLst>
            <pc:docMk/>
            <pc:sldMk cId="3626641956" sldId="324"/>
            <ac:picMk id="3" creationId="{585372F1-DE59-6F83-6EBB-238C08DF1108}"/>
          </ac:picMkLst>
        </pc:picChg>
        <pc:picChg chg="add mod">
          <ac:chgData name="曹修源" userId="cd4dc3a9-fcfc-4557-b60c-6ceb710917d0" providerId="ADAL" clId="{6F859484-E329-494D-92BB-E9E1AEA215F3}" dt="2026-03-04T00:27:05.583" v="36" actId="1076"/>
          <ac:picMkLst>
            <pc:docMk/>
            <pc:sldMk cId="3626641956" sldId="324"/>
            <ac:picMk id="4" creationId="{A528A67D-380F-419F-54E7-5BA23B2357C7}"/>
          </ac:picMkLst>
        </pc:picChg>
      </pc:sldChg>
      <pc:sldChg chg="addSp modSp new mod">
        <pc:chgData name="曹修源" userId="cd4dc3a9-fcfc-4557-b60c-6ceb710917d0" providerId="ADAL" clId="{6F859484-E329-494D-92BB-E9E1AEA215F3}" dt="2026-03-04T00:27:57.426" v="44" actId="1076"/>
        <pc:sldMkLst>
          <pc:docMk/>
          <pc:sldMk cId="1169294497" sldId="325"/>
        </pc:sldMkLst>
        <pc:spChg chg="add mod">
          <ac:chgData name="曹修源" userId="cd4dc3a9-fcfc-4557-b60c-6ceb710917d0" providerId="ADAL" clId="{6F859484-E329-494D-92BB-E9E1AEA215F3}" dt="2026-03-04T00:27:35.294" v="40" actId="5793"/>
          <ac:spMkLst>
            <pc:docMk/>
            <pc:sldMk cId="1169294497" sldId="325"/>
            <ac:spMk id="4" creationId="{02887574-E538-76A3-6136-038A1F83B211}"/>
          </ac:spMkLst>
        </pc:spChg>
        <pc:picChg chg="add mod">
          <ac:chgData name="曹修源" userId="cd4dc3a9-fcfc-4557-b60c-6ceb710917d0" providerId="ADAL" clId="{6F859484-E329-494D-92BB-E9E1AEA215F3}" dt="2026-03-04T00:27:47.405" v="42" actId="1076"/>
          <ac:picMkLst>
            <pc:docMk/>
            <pc:sldMk cId="1169294497" sldId="325"/>
            <ac:picMk id="5" creationId="{B7477C6F-FC04-ACFE-7E36-2FE5D8B49EA2}"/>
          </ac:picMkLst>
        </pc:picChg>
        <pc:picChg chg="add mod">
          <ac:chgData name="曹修源" userId="cd4dc3a9-fcfc-4557-b60c-6ceb710917d0" providerId="ADAL" clId="{6F859484-E329-494D-92BB-E9E1AEA215F3}" dt="2026-03-04T00:27:57.426" v="44" actId="1076"/>
          <ac:picMkLst>
            <pc:docMk/>
            <pc:sldMk cId="1169294497" sldId="325"/>
            <ac:picMk id="6" creationId="{0CC03CB7-5042-67EC-5835-8B15C89E19C0}"/>
          </ac:picMkLst>
        </pc:picChg>
      </pc:sldChg>
      <pc:sldChg chg="addSp modSp new mod modNotesTx">
        <pc:chgData name="曹修源" userId="cd4dc3a9-fcfc-4557-b60c-6ceb710917d0" providerId="ADAL" clId="{6F859484-E329-494D-92BB-E9E1AEA215F3}" dt="2026-03-04T00:30:00.758" v="59"/>
        <pc:sldMkLst>
          <pc:docMk/>
          <pc:sldMk cId="2405581324" sldId="326"/>
        </pc:sldMkLst>
        <pc:picChg chg="add mod">
          <ac:chgData name="曹修源" userId="cd4dc3a9-fcfc-4557-b60c-6ceb710917d0" providerId="ADAL" clId="{6F859484-E329-494D-92BB-E9E1AEA215F3}" dt="2026-03-04T00:28:29.655" v="47" actId="1076"/>
          <ac:picMkLst>
            <pc:docMk/>
            <pc:sldMk cId="2405581324" sldId="326"/>
            <ac:picMk id="3" creationId="{F67D196F-01DC-DDA1-765B-7E0A0F2C0777}"/>
          </ac:picMkLst>
        </pc:picChg>
        <pc:picChg chg="add mod">
          <ac:chgData name="曹修源" userId="cd4dc3a9-fcfc-4557-b60c-6ceb710917d0" providerId="ADAL" clId="{6F859484-E329-494D-92BB-E9E1AEA215F3}" dt="2026-03-04T00:29:08.844" v="58" actId="1076"/>
          <ac:picMkLst>
            <pc:docMk/>
            <pc:sldMk cId="2405581324" sldId="326"/>
            <ac:picMk id="4" creationId="{2CA12ADF-3741-0F78-0880-8675231A700B}"/>
          </ac:picMkLst>
        </pc:picChg>
        <pc:picChg chg="add mod">
          <ac:chgData name="曹修源" userId="cd4dc3a9-fcfc-4557-b60c-6ceb710917d0" providerId="ADAL" clId="{6F859484-E329-494D-92BB-E9E1AEA215F3}" dt="2026-03-04T00:29:07.066" v="57" actId="14100"/>
          <ac:picMkLst>
            <pc:docMk/>
            <pc:sldMk cId="2405581324" sldId="326"/>
            <ac:picMk id="5" creationId="{2CD49046-D611-FCD1-8DF8-7D577D90A362}"/>
          </ac:picMkLst>
        </pc:picChg>
        <pc:picChg chg="add mod">
          <ac:chgData name="曹修源" userId="cd4dc3a9-fcfc-4557-b60c-6ceb710917d0" providerId="ADAL" clId="{6F859484-E329-494D-92BB-E9E1AEA215F3}" dt="2026-03-04T00:29:03.594" v="55" actId="1076"/>
          <ac:picMkLst>
            <pc:docMk/>
            <pc:sldMk cId="2405581324" sldId="326"/>
            <ac:picMk id="6" creationId="{18FBCE4A-87FF-EF1F-C8CB-A3F20E0DBA7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724F24-A4D6-4726-8EE3-D40BAF312F96}" type="doc">
      <dgm:prSet loTypeId="urn:microsoft.com/office/officeart/2005/8/layout/default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35F89EB9-8DAF-4934-9F17-126622580927}">
      <dgm:prSet phldrT="[文字]"/>
      <dgm:spPr/>
      <dgm:t>
        <a:bodyPr/>
        <a:lstStyle/>
        <a:p>
          <a:r>
            <a: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有形性</a:t>
          </a:r>
        </a:p>
      </dgm:t>
    </dgm:pt>
    <dgm:pt modelId="{FE04AA42-66D9-421C-A162-680A4B5180BA}" type="parTrans" cxnId="{F4B6916A-8953-46AE-AA8C-E60408A12489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9CF7818-9C1A-450F-894E-5CFF5CA70A5F}" type="sibTrans" cxnId="{F4B6916A-8953-46AE-AA8C-E60408A12489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C0139B3-E321-4395-92D2-75210AD8DB33}">
      <dgm:prSet phldrT="[文字]"/>
      <dgm:spPr/>
      <dgm:t>
        <a:bodyPr/>
        <a:lstStyle/>
        <a:p>
          <a:r>
            <a: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反應性</a:t>
          </a:r>
        </a:p>
      </dgm:t>
    </dgm:pt>
    <dgm:pt modelId="{0F23B7AE-7B8B-49C1-9C8E-389553CD7906}" type="parTrans" cxnId="{87F6CA1F-4813-4637-A2A9-F71CA362B081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8FF342F-264D-4BEE-B1C5-D7FDD4B5ED46}" type="sibTrans" cxnId="{87F6CA1F-4813-4637-A2A9-F71CA362B081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1733F28-90E6-4029-8417-064B604452F7}">
      <dgm:prSet phldrT="[文字]"/>
      <dgm:spPr/>
      <dgm:t>
        <a:bodyPr/>
        <a:lstStyle/>
        <a:p>
          <a:r>
            <a: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保證性</a:t>
          </a:r>
        </a:p>
      </dgm:t>
    </dgm:pt>
    <dgm:pt modelId="{880ADAD1-C4B7-4472-A363-B85BBF8ABB2E}" type="parTrans" cxnId="{1D8B5E12-3549-4C3D-BEB3-F8612BBD554D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8B266BF-2B8B-4A1A-83C9-A3DCF8B5D159}" type="sibTrans" cxnId="{1D8B5E12-3549-4C3D-BEB3-F8612BBD554D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0F6B9B9-9C40-4B79-B800-FCAB1CC3683D}">
      <dgm:prSet phldrT="[文字]"/>
      <dgm:spPr/>
      <dgm:t>
        <a:bodyPr/>
        <a:lstStyle/>
        <a:p>
          <a:r>
            <a: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可靠性</a:t>
          </a:r>
        </a:p>
      </dgm:t>
    </dgm:pt>
    <dgm:pt modelId="{7FED0283-2B35-40B7-AC2C-E095F112B4E5}" type="parTrans" cxnId="{9C3D7F6B-EC80-4EC4-9E96-0094EDA4C2E7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C0325B-E7AF-49BB-BB5F-DC82A04EE3AF}" type="sibTrans" cxnId="{9C3D7F6B-EC80-4EC4-9E96-0094EDA4C2E7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24C4277-3934-4B32-9922-AD884F0CF663}">
      <dgm:prSet phldrT="[文字]"/>
      <dgm:spPr/>
      <dgm:t>
        <a:bodyPr/>
        <a:lstStyle/>
        <a:p>
          <a:r>
            <a: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關懷性</a:t>
          </a:r>
        </a:p>
      </dgm:t>
    </dgm:pt>
    <dgm:pt modelId="{FFE2062C-C76C-49D0-851F-E234CF1028F6}" type="parTrans" cxnId="{891C7DAB-D17C-43AE-BAB6-10988E93ADBA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C77BAAD-F3B4-48E4-A569-9FC1FD1A0425}" type="sibTrans" cxnId="{891C7DAB-D17C-43AE-BAB6-10988E93ADBA}">
      <dgm:prSet/>
      <dgm:spPr/>
      <dgm:t>
        <a:bodyPr/>
        <a:lstStyle/>
        <a:p>
          <a:endParaRPr lang="zh-TW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908D492-AB18-4A30-ABCD-6CB6BEF29296}" type="pres">
      <dgm:prSet presAssocID="{08724F24-A4D6-4726-8EE3-D40BAF312F96}" presName="diagram" presStyleCnt="0">
        <dgm:presLayoutVars>
          <dgm:dir/>
          <dgm:resizeHandles val="exact"/>
        </dgm:presLayoutVars>
      </dgm:prSet>
      <dgm:spPr/>
    </dgm:pt>
    <dgm:pt modelId="{4AFFEE2F-DFB8-4990-BB22-8C5E671458E4}" type="pres">
      <dgm:prSet presAssocID="{35F89EB9-8DAF-4934-9F17-126622580927}" presName="node" presStyleLbl="node1" presStyleIdx="0" presStyleCnt="5">
        <dgm:presLayoutVars>
          <dgm:bulletEnabled val="1"/>
        </dgm:presLayoutVars>
      </dgm:prSet>
      <dgm:spPr/>
    </dgm:pt>
    <dgm:pt modelId="{D274C7E6-A056-44C7-8043-231AD5719530}" type="pres">
      <dgm:prSet presAssocID="{59CF7818-9C1A-450F-894E-5CFF5CA70A5F}" presName="sibTrans" presStyleCnt="0"/>
      <dgm:spPr/>
    </dgm:pt>
    <dgm:pt modelId="{755EF3D9-4270-4A80-BDCC-A722596ACC0F}" type="pres">
      <dgm:prSet presAssocID="{EC0139B3-E321-4395-92D2-75210AD8DB33}" presName="node" presStyleLbl="node1" presStyleIdx="1" presStyleCnt="5">
        <dgm:presLayoutVars>
          <dgm:bulletEnabled val="1"/>
        </dgm:presLayoutVars>
      </dgm:prSet>
      <dgm:spPr/>
    </dgm:pt>
    <dgm:pt modelId="{13A17A3C-1E01-4B32-B4A7-BEAC51C0E15D}" type="pres">
      <dgm:prSet presAssocID="{98FF342F-264D-4BEE-B1C5-D7FDD4B5ED46}" presName="sibTrans" presStyleCnt="0"/>
      <dgm:spPr/>
    </dgm:pt>
    <dgm:pt modelId="{F5AEFD0A-573A-4422-A1A4-BFF2BC0E6FC1}" type="pres">
      <dgm:prSet presAssocID="{11733F28-90E6-4029-8417-064B604452F7}" presName="node" presStyleLbl="node1" presStyleIdx="2" presStyleCnt="5">
        <dgm:presLayoutVars>
          <dgm:bulletEnabled val="1"/>
        </dgm:presLayoutVars>
      </dgm:prSet>
      <dgm:spPr/>
    </dgm:pt>
    <dgm:pt modelId="{1CD7344A-1707-455E-AD6A-A9AFCFC1DA86}" type="pres">
      <dgm:prSet presAssocID="{68B266BF-2B8B-4A1A-83C9-A3DCF8B5D159}" presName="sibTrans" presStyleCnt="0"/>
      <dgm:spPr/>
    </dgm:pt>
    <dgm:pt modelId="{1BDA5519-AF1E-46D2-91EB-C5C733B8DF39}" type="pres">
      <dgm:prSet presAssocID="{50F6B9B9-9C40-4B79-B800-FCAB1CC3683D}" presName="node" presStyleLbl="node1" presStyleIdx="3" presStyleCnt="5">
        <dgm:presLayoutVars>
          <dgm:bulletEnabled val="1"/>
        </dgm:presLayoutVars>
      </dgm:prSet>
      <dgm:spPr/>
    </dgm:pt>
    <dgm:pt modelId="{7F0D7920-5B2D-4D66-9C10-794D61028A01}" type="pres">
      <dgm:prSet presAssocID="{0FC0325B-E7AF-49BB-BB5F-DC82A04EE3AF}" presName="sibTrans" presStyleCnt="0"/>
      <dgm:spPr/>
    </dgm:pt>
    <dgm:pt modelId="{5DA975BB-2E4D-41B6-80CF-99DA98D673B0}" type="pres">
      <dgm:prSet presAssocID="{624C4277-3934-4B32-9922-AD884F0CF663}" presName="node" presStyleLbl="node1" presStyleIdx="4" presStyleCnt="5">
        <dgm:presLayoutVars>
          <dgm:bulletEnabled val="1"/>
        </dgm:presLayoutVars>
      </dgm:prSet>
      <dgm:spPr/>
    </dgm:pt>
  </dgm:ptLst>
  <dgm:cxnLst>
    <dgm:cxn modelId="{3FE0F40D-329F-4022-9EBE-7D26ED934BCA}" type="presOf" srcId="{11733F28-90E6-4029-8417-064B604452F7}" destId="{F5AEFD0A-573A-4422-A1A4-BFF2BC0E6FC1}" srcOrd="0" destOrd="0" presId="urn:microsoft.com/office/officeart/2005/8/layout/default"/>
    <dgm:cxn modelId="{1D8B5E12-3549-4C3D-BEB3-F8612BBD554D}" srcId="{08724F24-A4D6-4726-8EE3-D40BAF312F96}" destId="{11733F28-90E6-4029-8417-064B604452F7}" srcOrd="2" destOrd="0" parTransId="{880ADAD1-C4B7-4472-A363-B85BBF8ABB2E}" sibTransId="{68B266BF-2B8B-4A1A-83C9-A3DCF8B5D159}"/>
    <dgm:cxn modelId="{87F6CA1F-4813-4637-A2A9-F71CA362B081}" srcId="{08724F24-A4D6-4726-8EE3-D40BAF312F96}" destId="{EC0139B3-E321-4395-92D2-75210AD8DB33}" srcOrd="1" destOrd="0" parTransId="{0F23B7AE-7B8B-49C1-9C8E-389553CD7906}" sibTransId="{98FF342F-264D-4BEE-B1C5-D7FDD4B5ED46}"/>
    <dgm:cxn modelId="{8F423135-DDE8-46A5-BE4E-809DA3B99952}" type="presOf" srcId="{50F6B9B9-9C40-4B79-B800-FCAB1CC3683D}" destId="{1BDA5519-AF1E-46D2-91EB-C5C733B8DF39}" srcOrd="0" destOrd="0" presId="urn:microsoft.com/office/officeart/2005/8/layout/default"/>
    <dgm:cxn modelId="{F4B6916A-8953-46AE-AA8C-E60408A12489}" srcId="{08724F24-A4D6-4726-8EE3-D40BAF312F96}" destId="{35F89EB9-8DAF-4934-9F17-126622580927}" srcOrd="0" destOrd="0" parTransId="{FE04AA42-66D9-421C-A162-680A4B5180BA}" sibTransId="{59CF7818-9C1A-450F-894E-5CFF5CA70A5F}"/>
    <dgm:cxn modelId="{9C3D7F6B-EC80-4EC4-9E96-0094EDA4C2E7}" srcId="{08724F24-A4D6-4726-8EE3-D40BAF312F96}" destId="{50F6B9B9-9C40-4B79-B800-FCAB1CC3683D}" srcOrd="3" destOrd="0" parTransId="{7FED0283-2B35-40B7-AC2C-E095F112B4E5}" sibTransId="{0FC0325B-E7AF-49BB-BB5F-DC82A04EE3AF}"/>
    <dgm:cxn modelId="{7FED6870-7B46-4710-95AB-4FB45C267C51}" type="presOf" srcId="{EC0139B3-E321-4395-92D2-75210AD8DB33}" destId="{755EF3D9-4270-4A80-BDCC-A722596ACC0F}" srcOrd="0" destOrd="0" presId="urn:microsoft.com/office/officeart/2005/8/layout/default"/>
    <dgm:cxn modelId="{81F76F7F-8C12-43D5-8599-DF21549BED47}" type="presOf" srcId="{08724F24-A4D6-4726-8EE3-D40BAF312F96}" destId="{F908D492-AB18-4A30-ABCD-6CB6BEF29296}" srcOrd="0" destOrd="0" presId="urn:microsoft.com/office/officeart/2005/8/layout/default"/>
    <dgm:cxn modelId="{891C7DAB-D17C-43AE-BAB6-10988E93ADBA}" srcId="{08724F24-A4D6-4726-8EE3-D40BAF312F96}" destId="{624C4277-3934-4B32-9922-AD884F0CF663}" srcOrd="4" destOrd="0" parTransId="{FFE2062C-C76C-49D0-851F-E234CF1028F6}" sibTransId="{5C77BAAD-F3B4-48E4-A569-9FC1FD1A0425}"/>
    <dgm:cxn modelId="{5B4A9AE9-F431-40B8-9A20-CDE73DAB4B85}" type="presOf" srcId="{624C4277-3934-4B32-9922-AD884F0CF663}" destId="{5DA975BB-2E4D-41B6-80CF-99DA98D673B0}" srcOrd="0" destOrd="0" presId="urn:microsoft.com/office/officeart/2005/8/layout/default"/>
    <dgm:cxn modelId="{B7CE21F0-8C27-4068-825D-4AFC04B76721}" type="presOf" srcId="{35F89EB9-8DAF-4934-9F17-126622580927}" destId="{4AFFEE2F-DFB8-4990-BB22-8C5E671458E4}" srcOrd="0" destOrd="0" presId="urn:microsoft.com/office/officeart/2005/8/layout/default"/>
    <dgm:cxn modelId="{EBAC7CB0-6A90-4B58-AF3B-F8F1AF28879C}" type="presParOf" srcId="{F908D492-AB18-4A30-ABCD-6CB6BEF29296}" destId="{4AFFEE2F-DFB8-4990-BB22-8C5E671458E4}" srcOrd="0" destOrd="0" presId="urn:microsoft.com/office/officeart/2005/8/layout/default"/>
    <dgm:cxn modelId="{2E05A81A-5452-43A3-9E59-0C28FBC736FF}" type="presParOf" srcId="{F908D492-AB18-4A30-ABCD-6CB6BEF29296}" destId="{D274C7E6-A056-44C7-8043-231AD5719530}" srcOrd="1" destOrd="0" presId="urn:microsoft.com/office/officeart/2005/8/layout/default"/>
    <dgm:cxn modelId="{DE5D0715-8765-4A5A-A2BB-EFA93AB27147}" type="presParOf" srcId="{F908D492-AB18-4A30-ABCD-6CB6BEF29296}" destId="{755EF3D9-4270-4A80-BDCC-A722596ACC0F}" srcOrd="2" destOrd="0" presId="urn:microsoft.com/office/officeart/2005/8/layout/default"/>
    <dgm:cxn modelId="{02B85A36-D4DF-4671-A4CB-AB98DC060E26}" type="presParOf" srcId="{F908D492-AB18-4A30-ABCD-6CB6BEF29296}" destId="{13A17A3C-1E01-4B32-B4A7-BEAC51C0E15D}" srcOrd="3" destOrd="0" presId="urn:microsoft.com/office/officeart/2005/8/layout/default"/>
    <dgm:cxn modelId="{64D2D278-0B8F-4331-BA6A-8A5CEA7F9EF6}" type="presParOf" srcId="{F908D492-AB18-4A30-ABCD-6CB6BEF29296}" destId="{F5AEFD0A-573A-4422-A1A4-BFF2BC0E6FC1}" srcOrd="4" destOrd="0" presId="urn:microsoft.com/office/officeart/2005/8/layout/default"/>
    <dgm:cxn modelId="{BD790E32-57FD-4A22-84D4-5B53578CCCE1}" type="presParOf" srcId="{F908D492-AB18-4A30-ABCD-6CB6BEF29296}" destId="{1CD7344A-1707-455E-AD6A-A9AFCFC1DA86}" srcOrd="5" destOrd="0" presId="urn:microsoft.com/office/officeart/2005/8/layout/default"/>
    <dgm:cxn modelId="{E970D7D8-5C8B-4F8D-8ED8-E95B6FF0CF72}" type="presParOf" srcId="{F908D492-AB18-4A30-ABCD-6CB6BEF29296}" destId="{1BDA5519-AF1E-46D2-91EB-C5C733B8DF39}" srcOrd="6" destOrd="0" presId="urn:microsoft.com/office/officeart/2005/8/layout/default"/>
    <dgm:cxn modelId="{C5919332-3AA1-41E3-9F75-8ABFFAA562D7}" type="presParOf" srcId="{F908D492-AB18-4A30-ABCD-6CB6BEF29296}" destId="{7F0D7920-5B2D-4D66-9C10-794D61028A01}" srcOrd="7" destOrd="0" presId="urn:microsoft.com/office/officeart/2005/8/layout/default"/>
    <dgm:cxn modelId="{8936D796-BD76-48C9-83CC-D2CCC5A0E504}" type="presParOf" srcId="{F908D492-AB18-4A30-ABCD-6CB6BEF29296}" destId="{5DA975BB-2E4D-41B6-80CF-99DA98D673B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FEE2F-DFB8-4990-BB22-8C5E671458E4}">
      <dsp:nvSpPr>
        <dsp:cNvPr id="0" name=""/>
        <dsp:cNvSpPr/>
      </dsp:nvSpPr>
      <dsp:spPr>
        <a:xfrm>
          <a:off x="988524" y="192"/>
          <a:ext cx="1869025" cy="112141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有形性</a:t>
          </a:r>
        </a:p>
      </dsp:txBody>
      <dsp:txXfrm>
        <a:off x="988524" y="192"/>
        <a:ext cx="1869025" cy="1121415"/>
      </dsp:txXfrm>
    </dsp:sp>
    <dsp:sp modelId="{755EF3D9-4270-4A80-BDCC-A722596ACC0F}">
      <dsp:nvSpPr>
        <dsp:cNvPr id="0" name=""/>
        <dsp:cNvSpPr/>
      </dsp:nvSpPr>
      <dsp:spPr>
        <a:xfrm>
          <a:off x="3044452" y="192"/>
          <a:ext cx="1869025" cy="1121415"/>
        </a:xfrm>
        <a:prstGeom prst="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反應性</a:t>
          </a:r>
        </a:p>
      </dsp:txBody>
      <dsp:txXfrm>
        <a:off x="3044452" y="192"/>
        <a:ext cx="1869025" cy="1121415"/>
      </dsp:txXfrm>
    </dsp:sp>
    <dsp:sp modelId="{F5AEFD0A-573A-4422-A1A4-BFF2BC0E6FC1}">
      <dsp:nvSpPr>
        <dsp:cNvPr id="0" name=""/>
        <dsp:cNvSpPr/>
      </dsp:nvSpPr>
      <dsp:spPr>
        <a:xfrm>
          <a:off x="5100380" y="192"/>
          <a:ext cx="1869025" cy="1121415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保證性</a:t>
          </a:r>
        </a:p>
      </dsp:txBody>
      <dsp:txXfrm>
        <a:off x="5100380" y="192"/>
        <a:ext cx="1869025" cy="1121415"/>
      </dsp:txXfrm>
    </dsp:sp>
    <dsp:sp modelId="{1BDA5519-AF1E-46D2-91EB-C5C733B8DF39}">
      <dsp:nvSpPr>
        <dsp:cNvPr id="0" name=""/>
        <dsp:cNvSpPr/>
      </dsp:nvSpPr>
      <dsp:spPr>
        <a:xfrm>
          <a:off x="2016488" y="1308510"/>
          <a:ext cx="1869025" cy="1121415"/>
        </a:xfrm>
        <a:prstGeom prst="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可靠性</a:t>
          </a:r>
        </a:p>
      </dsp:txBody>
      <dsp:txXfrm>
        <a:off x="2016488" y="1308510"/>
        <a:ext cx="1869025" cy="1121415"/>
      </dsp:txXfrm>
    </dsp:sp>
    <dsp:sp modelId="{5DA975BB-2E4D-41B6-80CF-99DA98D673B0}">
      <dsp:nvSpPr>
        <dsp:cNvPr id="0" name=""/>
        <dsp:cNvSpPr/>
      </dsp:nvSpPr>
      <dsp:spPr>
        <a:xfrm>
          <a:off x="4072416" y="1308510"/>
          <a:ext cx="1869025" cy="1121415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關懷性</a:t>
          </a:r>
        </a:p>
      </dsp:txBody>
      <dsp:txXfrm>
        <a:off x="4072416" y="1308510"/>
        <a:ext cx="1869025" cy="1121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F646B-0BB2-F040-AADF-453E175274B9}" type="datetimeFigureOut">
              <a:rPr kumimoji="1" lang="zh-TW" altLang="en-US" smtClean="0"/>
              <a:t>2026/3/4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F3467-36DF-674D-BE32-3E8BA7805F0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282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F3467-36DF-674D-BE32-3E8BA7805F0F}" type="slidenum">
              <a:rPr kumimoji="1" lang="zh-TW" altLang="en-US" smtClean="0"/>
              <a:t>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6254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F3467-36DF-674D-BE32-3E8BA7805F0F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0581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E898F-6912-403B-AFF3-C3863655EE3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501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E898F-6912-403B-AFF3-C3863655EE3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934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E898F-6912-403B-AFF3-C3863655EE3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352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E898F-6912-403B-AFF3-C3863655EE3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3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E898F-6912-403B-AFF3-C3863655EE3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214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E898F-6912-403B-AFF3-C3863655EE3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528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E898F-6912-403B-AFF3-C3863655EE3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096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https://www.ypppt.com/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662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i="0" dirty="0">
                <a:solidFill>
                  <a:srgbClr val="FAF9F5"/>
                </a:solidFill>
                <a:effectLst/>
                <a:latin typeface="anthropicSans"/>
              </a:rPr>
              <a:t>Prompt: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這個</a:t>
            </a:r>
            <a:r>
              <a:rPr lang="en-US" altLang="zh-TW" dirty="0"/>
              <a:t>excel</a:t>
            </a:r>
            <a:r>
              <a:rPr lang="zh-TW" altLang="en-US" dirty="0"/>
              <a:t>檔案的欄位及構面定義如下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 </a:t>
            </a:r>
            <a:r>
              <a:rPr lang="zh-TW" altLang="en-US" dirty="0"/>
              <a:t>店面裝潢 </a:t>
            </a:r>
            <a:r>
              <a:rPr lang="en-US" altLang="zh-TW" dirty="0"/>
              <a:t>2 </a:t>
            </a:r>
            <a:r>
              <a:rPr lang="zh-TW" altLang="en-US" dirty="0"/>
              <a:t>產品的價格 </a:t>
            </a:r>
            <a:r>
              <a:rPr lang="en-US" altLang="zh-TW" dirty="0"/>
              <a:t>3 </a:t>
            </a:r>
            <a:r>
              <a:rPr lang="zh-TW" altLang="en-US" dirty="0"/>
              <a:t>地點 </a:t>
            </a:r>
            <a:r>
              <a:rPr lang="en-US" altLang="zh-TW" dirty="0"/>
              <a:t>4 </a:t>
            </a:r>
            <a:r>
              <a:rPr lang="zh-TW" altLang="en-US" dirty="0"/>
              <a:t>店面、環境衛生 有形性平均 </a:t>
            </a:r>
            <a:r>
              <a:rPr lang="en-US" altLang="zh-TW" dirty="0"/>
              <a:t>5 </a:t>
            </a:r>
            <a:r>
              <a:rPr lang="zh-TW" altLang="en-US" dirty="0"/>
              <a:t>員工的服務態度 </a:t>
            </a:r>
            <a:r>
              <a:rPr lang="en-US" altLang="zh-TW" dirty="0"/>
              <a:t>6 </a:t>
            </a:r>
            <a:r>
              <a:rPr lang="zh-TW" altLang="en-US" dirty="0"/>
              <a:t>提供的折扣是否吸引人 </a:t>
            </a:r>
            <a:r>
              <a:rPr lang="en-US" altLang="zh-TW" dirty="0"/>
              <a:t>(</a:t>
            </a:r>
            <a:r>
              <a:rPr lang="zh-TW" altLang="en-US" dirty="0"/>
              <a:t>如：使用學生證的折扣</a:t>
            </a:r>
            <a:r>
              <a:rPr lang="en-US" altLang="zh-TW" dirty="0"/>
              <a:t>) 7 </a:t>
            </a:r>
            <a:r>
              <a:rPr lang="zh-TW" altLang="en-US" dirty="0"/>
              <a:t>產品的品項齊全 </a:t>
            </a:r>
            <a:r>
              <a:rPr lang="en-US" altLang="zh-TW" dirty="0"/>
              <a:t>8 </a:t>
            </a:r>
            <a:r>
              <a:rPr lang="zh-TW" altLang="en-US" dirty="0"/>
              <a:t>員工對產品是否了解 </a:t>
            </a:r>
            <a:r>
              <a:rPr lang="en-US" altLang="zh-TW" dirty="0"/>
              <a:t>(</a:t>
            </a:r>
            <a:r>
              <a:rPr lang="zh-TW" altLang="en-US" dirty="0"/>
              <a:t>如：清楚知道店內有何產品</a:t>
            </a:r>
            <a:r>
              <a:rPr lang="en-US" altLang="zh-TW" dirty="0"/>
              <a:t>) 9 </a:t>
            </a:r>
            <a:r>
              <a:rPr lang="zh-TW" altLang="en-US" dirty="0"/>
              <a:t>員工是否準時營業開店 </a:t>
            </a:r>
            <a:r>
              <a:rPr lang="en-US" altLang="zh-TW" dirty="0"/>
              <a:t>(</a:t>
            </a:r>
            <a:r>
              <a:rPr lang="zh-TW" altLang="en-US" dirty="0"/>
              <a:t>下午</a:t>
            </a:r>
            <a:r>
              <a:rPr lang="en-US" altLang="zh-TW" dirty="0"/>
              <a:t>2</a:t>
            </a:r>
            <a:r>
              <a:rPr lang="zh-TW" altLang="en-US" dirty="0"/>
              <a:t>：</a:t>
            </a:r>
            <a:r>
              <a:rPr lang="en-US" altLang="zh-TW" dirty="0"/>
              <a:t>00-10</a:t>
            </a:r>
            <a:r>
              <a:rPr lang="zh-TW" altLang="en-US" dirty="0"/>
              <a:t>：</a:t>
            </a:r>
            <a:r>
              <a:rPr lang="en-US" altLang="zh-TW" dirty="0"/>
              <a:t>00) </a:t>
            </a:r>
            <a:r>
              <a:rPr lang="zh-TW" altLang="en-US" dirty="0"/>
              <a:t>確實性平均 </a:t>
            </a:r>
            <a:r>
              <a:rPr lang="en-US" altLang="zh-TW" dirty="0"/>
              <a:t>10 </a:t>
            </a:r>
            <a:r>
              <a:rPr lang="zh-TW" altLang="en-US" dirty="0"/>
              <a:t>員工推薦是否符合顧客需求 </a:t>
            </a:r>
            <a:r>
              <a:rPr lang="en-US" altLang="zh-TW" dirty="0"/>
              <a:t>(</a:t>
            </a:r>
            <a:r>
              <a:rPr lang="zh-TW" altLang="en-US" dirty="0"/>
              <a:t>如：顧客詢問店員不想喝含咖啡因的飲料，店員能提供符合顧客要求的產品</a:t>
            </a:r>
            <a:r>
              <a:rPr lang="en-US" altLang="zh-TW" dirty="0"/>
              <a:t>) 11 </a:t>
            </a:r>
            <a:r>
              <a:rPr lang="zh-TW" altLang="en-US" dirty="0"/>
              <a:t>產品的甜度分類，符合顧客需求 </a:t>
            </a:r>
            <a:r>
              <a:rPr lang="en-US" altLang="zh-TW" dirty="0"/>
              <a:t>(</a:t>
            </a:r>
            <a:r>
              <a:rPr lang="zh-TW" altLang="en-US" dirty="0"/>
              <a:t>甜度分類齊全，如：從全糖到微微糖都有</a:t>
            </a:r>
            <a:r>
              <a:rPr lang="en-US" altLang="zh-TW" dirty="0"/>
              <a:t>.</a:t>
            </a:r>
            <a:r>
              <a:rPr lang="zh-TW" altLang="en-US" dirty="0"/>
              <a:t>並且全糖夠甜，微微糖不會太甜</a:t>
            </a:r>
            <a:r>
              <a:rPr lang="en-US" altLang="zh-TW" dirty="0"/>
              <a:t>) 12 </a:t>
            </a:r>
            <a:r>
              <a:rPr lang="zh-TW" altLang="en-US" dirty="0"/>
              <a:t>營業的時間符合顧客需求 </a:t>
            </a:r>
            <a:r>
              <a:rPr lang="en-US" altLang="zh-TW" dirty="0"/>
              <a:t>(</a:t>
            </a:r>
            <a:r>
              <a:rPr lang="zh-TW" altLang="en-US" dirty="0"/>
              <a:t>下午</a:t>
            </a:r>
            <a:r>
              <a:rPr lang="en-US" altLang="zh-TW" dirty="0"/>
              <a:t>2</a:t>
            </a:r>
            <a:r>
              <a:rPr lang="zh-TW" altLang="en-US" dirty="0"/>
              <a:t>：</a:t>
            </a:r>
            <a:r>
              <a:rPr lang="en-US" altLang="zh-TW" dirty="0"/>
              <a:t>00-10</a:t>
            </a:r>
            <a:r>
              <a:rPr lang="zh-TW" altLang="en-US" dirty="0"/>
              <a:t>：</a:t>
            </a:r>
            <a:r>
              <a:rPr lang="en-US" altLang="zh-TW" dirty="0"/>
              <a:t>00) 13 </a:t>
            </a:r>
            <a:r>
              <a:rPr lang="zh-TW" altLang="en-US" dirty="0"/>
              <a:t>飲料的杯子外型、觸感、外觀符合顧客需求 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:</a:t>
            </a:r>
            <a:r>
              <a:rPr lang="zh-TW" altLang="en-US" dirty="0"/>
              <a:t>杯子好不好拿</a:t>
            </a:r>
            <a:r>
              <a:rPr lang="en-US" altLang="zh-TW" dirty="0"/>
              <a:t>) 14 </a:t>
            </a:r>
            <a:r>
              <a:rPr lang="zh-TW" altLang="en-US" dirty="0"/>
              <a:t>是否有提供產品的熱量標示 關懷性平均 </a:t>
            </a:r>
            <a:r>
              <a:rPr lang="en-US" altLang="zh-TW" dirty="0"/>
              <a:t>15 </a:t>
            </a:r>
            <a:r>
              <a:rPr lang="zh-TW" altLang="en-US" dirty="0"/>
              <a:t>員工回應顧客的速度 </a:t>
            </a:r>
            <a:r>
              <a:rPr lang="en-US" altLang="zh-TW" dirty="0"/>
              <a:t>16 </a:t>
            </a:r>
            <a:r>
              <a:rPr lang="zh-TW" altLang="en-US" dirty="0"/>
              <a:t>粉絲專業的回應速度 </a:t>
            </a:r>
            <a:r>
              <a:rPr lang="en-US" altLang="zh-TW" dirty="0"/>
              <a:t>17 </a:t>
            </a:r>
            <a:r>
              <a:rPr lang="zh-TW" altLang="en-US" dirty="0"/>
              <a:t>店員是否主動維持排隊秩序 </a:t>
            </a:r>
            <a:r>
              <a:rPr lang="en-US" altLang="zh-TW" dirty="0"/>
              <a:t>(</a:t>
            </a:r>
            <a:r>
              <a:rPr lang="zh-TW" altLang="en-US" dirty="0"/>
              <a:t>如：當有人插隊時，店員會出面主持秩序</a:t>
            </a:r>
            <a:r>
              <a:rPr lang="en-US" altLang="zh-TW" dirty="0"/>
              <a:t>) 18 </a:t>
            </a:r>
            <a:r>
              <a:rPr lang="zh-TW" altLang="en-US" dirty="0"/>
              <a:t>店員支援收銀、製餐的效率 </a:t>
            </a:r>
            <a:r>
              <a:rPr lang="en-US" altLang="zh-TW" dirty="0"/>
              <a:t>(</a:t>
            </a:r>
            <a:r>
              <a:rPr lang="zh-TW" altLang="en-US" dirty="0"/>
              <a:t>店員互相支援的效率</a:t>
            </a:r>
            <a:r>
              <a:rPr lang="en-US" altLang="zh-TW" dirty="0"/>
              <a:t>) </a:t>
            </a:r>
            <a:r>
              <a:rPr lang="zh-TW" altLang="en-US" dirty="0"/>
              <a:t>反應性平均 </a:t>
            </a:r>
            <a:r>
              <a:rPr lang="en-US" altLang="zh-TW" dirty="0"/>
              <a:t>19 </a:t>
            </a:r>
            <a:r>
              <a:rPr lang="zh-TW" altLang="en-US" dirty="0"/>
              <a:t>點餐的速度 </a:t>
            </a:r>
            <a:r>
              <a:rPr lang="en-US" altLang="zh-TW" dirty="0"/>
              <a:t>20 </a:t>
            </a:r>
            <a:r>
              <a:rPr lang="zh-TW" altLang="en-US" dirty="0"/>
              <a:t>出餐的速度 </a:t>
            </a:r>
            <a:r>
              <a:rPr lang="en-US" altLang="zh-TW" dirty="0"/>
              <a:t>21 </a:t>
            </a:r>
            <a:r>
              <a:rPr lang="zh-TW" altLang="en-US" dirty="0"/>
              <a:t>出餐的正確率 </a:t>
            </a:r>
            <a:r>
              <a:rPr lang="en-US" altLang="zh-TW" dirty="0"/>
              <a:t>22 </a:t>
            </a:r>
            <a:r>
              <a:rPr lang="zh-TW" altLang="en-US" dirty="0"/>
              <a:t>品質是否統一、一致 </a:t>
            </a:r>
            <a:r>
              <a:rPr lang="en-US" altLang="zh-TW" dirty="0"/>
              <a:t>(</a:t>
            </a:r>
            <a:r>
              <a:rPr lang="zh-TW" altLang="en-US" dirty="0"/>
              <a:t>如：不同店員製作的口味皆相同</a:t>
            </a:r>
            <a:r>
              <a:rPr lang="en-US" altLang="zh-TW" dirty="0"/>
              <a:t>) </a:t>
            </a:r>
            <a:r>
              <a:rPr lang="zh-TW" altLang="en-US" dirty="0"/>
              <a:t>可靠性平均 的欄位如下</a:t>
            </a:r>
            <a:r>
              <a:rPr lang="en-US" altLang="zh-TW" dirty="0"/>
              <a:t>: </a:t>
            </a:r>
          </a:p>
          <a:p>
            <a:endParaRPr lang="en-US" altLang="zh-TW" dirty="0"/>
          </a:p>
          <a:p>
            <a:r>
              <a:rPr lang="zh-TW" altLang="en-US" dirty="0"/>
              <a:t>請依下列步驟進行分析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r>
              <a:rPr lang="en-US" altLang="zh-TW" dirty="0"/>
              <a:t>1.</a:t>
            </a:r>
            <a:r>
              <a:rPr lang="zh-TW" altLang="en-US" dirty="0"/>
              <a:t>統計每個題項的重要性及滿意度的平均值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2.</a:t>
            </a:r>
            <a:r>
              <a:rPr lang="zh-TW" altLang="en-US" dirty="0"/>
              <a:t>統計每個構面的重要性及滿意度的平均值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3.</a:t>
            </a:r>
            <a:r>
              <a:rPr lang="zh-TW" altLang="en-US" dirty="0"/>
              <a:t>繪製一個</a:t>
            </a:r>
            <a:r>
              <a:rPr lang="en-US" altLang="zh-TW" dirty="0"/>
              <a:t>Importance Performance Analysis Grid</a:t>
            </a:r>
            <a:r>
              <a:rPr lang="zh-TW" altLang="en-US" dirty="0"/>
              <a:t>，</a:t>
            </a:r>
            <a:r>
              <a:rPr lang="en-US" altLang="zh-TW" dirty="0"/>
              <a:t> </a:t>
            </a:r>
            <a:r>
              <a:rPr lang="zh-TW" altLang="en-US" dirty="0"/>
              <a:t>橫軸為滿意度 ，縱軸為重要性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   以彙整後的構面重要性及滿意度的平均值為繪製的資料來源</a:t>
            </a:r>
            <a:endParaRPr lang="en-US" altLang="zh-TW"/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F3467-36DF-674D-BE32-3E8BA7805F0F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346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0EBA-4DE1-D94C-802B-785F08D2B2C6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54CBFE0-3D1A-1B46-8123-66F1954E5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282831"/>
            <a:ext cx="7386406" cy="545844"/>
          </a:xfrm>
          <a:prstGeom prst="rect">
            <a:avLst/>
          </a:prstGeom>
        </p:spPr>
        <p:txBody>
          <a:bodyPr vert="horz" wrap="none" lIns="0" tIns="36000" rIns="0" bIns="36000" rtlCol="0" anchor="ctr">
            <a:normAutofit/>
          </a:bodyPr>
          <a:lstStyle/>
          <a:p>
            <a:r>
              <a:rPr lang="en-US" altLang="zh-TW" dirty="0"/>
              <a:t>標題（微軟正黑體18</a:t>
            </a:r>
            <a:r>
              <a:rPr lang="zh-TW" altLang="en-US" dirty="0"/>
              <a:t>級字</a:t>
            </a:r>
            <a:r>
              <a:rPr lang="en-US" altLang="zh-TW" dirty="0"/>
              <a:t>）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5221AA8-D89B-9447-8856-850F0BAE8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049883"/>
            <a:ext cx="8244528" cy="4051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9743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76484" y="5410729"/>
            <a:ext cx="2057400" cy="208359"/>
          </a:xfrm>
        </p:spPr>
        <p:txBody>
          <a:bodyPr lIns="0" tIns="0" rIns="0" bIns="0"/>
          <a:lstStyle>
            <a:lvl1pPr algn="ctr"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0BD0EBA-4DE1-D94C-802B-785F08D2B2C6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AC92264-2D3B-8746-A3B6-3B91104D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282831"/>
            <a:ext cx="7386406" cy="545844"/>
          </a:xfrm>
          <a:prstGeom prst="rect">
            <a:avLst/>
          </a:prstGeom>
        </p:spPr>
        <p:txBody>
          <a:bodyPr vert="horz" wrap="none" lIns="0" tIns="36000" rIns="0" bIns="36000" rtlCol="0" anchor="ctr">
            <a:normAutofit/>
          </a:bodyPr>
          <a:lstStyle/>
          <a:p>
            <a:r>
              <a:rPr lang="en-US" altLang="zh-TW" dirty="0"/>
              <a:t>標題（微軟正黑體18</a:t>
            </a:r>
            <a:r>
              <a:rPr lang="zh-TW" altLang="en-US" dirty="0"/>
              <a:t>級字</a:t>
            </a:r>
            <a:r>
              <a:rPr lang="en-US" altLang="zh-TW" dirty="0"/>
              <a:t>）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3F06B30-9182-DA44-B107-D4E6E2480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049883"/>
            <a:ext cx="8244528" cy="4051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5070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边形 4"/>
          <p:cNvSpPr/>
          <p:nvPr/>
        </p:nvSpPr>
        <p:spPr>
          <a:xfrm>
            <a:off x="2284909" y="277812"/>
            <a:ext cx="216233" cy="359834"/>
          </a:xfrm>
          <a:prstGeom prst="parallelogram">
            <a:avLst>
              <a:gd name="adj" fmla="val 5216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平行四边形 5"/>
          <p:cNvSpPr/>
          <p:nvPr/>
        </p:nvSpPr>
        <p:spPr>
          <a:xfrm>
            <a:off x="2438887" y="275167"/>
            <a:ext cx="216233" cy="359834"/>
          </a:xfrm>
          <a:prstGeom prst="parallelogram">
            <a:avLst>
              <a:gd name="adj" fmla="val 5216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平行四边形 6"/>
          <p:cNvSpPr/>
          <p:nvPr/>
        </p:nvSpPr>
        <p:spPr>
          <a:xfrm>
            <a:off x="2592163" y="275167"/>
            <a:ext cx="216233" cy="359834"/>
          </a:xfrm>
          <a:prstGeom prst="parallelogram">
            <a:avLst>
              <a:gd name="adj" fmla="val 521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平行四边形 7"/>
          <p:cNvSpPr/>
          <p:nvPr/>
        </p:nvSpPr>
        <p:spPr>
          <a:xfrm>
            <a:off x="2745439" y="275167"/>
            <a:ext cx="216233" cy="359834"/>
          </a:xfrm>
          <a:prstGeom prst="parallelogram">
            <a:avLst>
              <a:gd name="adj" fmla="val 521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347211" y="208862"/>
            <a:ext cx="2014688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700" b="1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工作回顾</a:t>
            </a:r>
          </a:p>
        </p:txBody>
      </p:sp>
    </p:spTree>
    <p:extLst>
      <p:ext uri="{BB962C8B-B14F-4D97-AF65-F5344CB8AC3E}">
        <p14:creationId xmlns:p14="http://schemas.microsoft.com/office/powerpoint/2010/main" val="11530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空白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51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337512" y="204072"/>
            <a:ext cx="528375" cy="538652"/>
            <a:chOff x="337511" y="183664"/>
            <a:chExt cx="528375" cy="484787"/>
          </a:xfrm>
        </p:grpSpPr>
        <p:sp>
          <p:nvSpPr>
            <p:cNvPr id="15" name="椭圆 14"/>
            <p:cNvSpPr/>
            <p:nvPr/>
          </p:nvSpPr>
          <p:spPr>
            <a:xfrm>
              <a:off x="359098" y="183664"/>
              <a:ext cx="484788" cy="484787"/>
            </a:xfrm>
            <a:prstGeom prst="ellips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" name="椭圆 15"/>
            <p:cNvSpPr/>
            <p:nvPr/>
          </p:nvSpPr>
          <p:spPr>
            <a:xfrm>
              <a:off x="415499" y="237042"/>
              <a:ext cx="378031" cy="37803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rgbClr val="27506E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" name="椭圆 16"/>
            <p:cNvSpPr/>
            <p:nvPr/>
          </p:nvSpPr>
          <p:spPr>
            <a:xfrm>
              <a:off x="729509" y="186824"/>
              <a:ext cx="112907" cy="112907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rgbClr val="27506E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" name="椭圆 17"/>
            <p:cNvSpPr/>
            <p:nvPr/>
          </p:nvSpPr>
          <p:spPr>
            <a:xfrm>
              <a:off x="337511" y="278417"/>
              <a:ext cx="82915" cy="82915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rgbClr val="27506E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4" name="椭圆 23"/>
            <p:cNvSpPr/>
            <p:nvPr/>
          </p:nvSpPr>
          <p:spPr>
            <a:xfrm>
              <a:off x="415499" y="581071"/>
              <a:ext cx="63760" cy="6376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rgbClr val="27506E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5" name="椭圆 24"/>
            <p:cNvSpPr/>
            <p:nvPr/>
          </p:nvSpPr>
          <p:spPr>
            <a:xfrm>
              <a:off x="799881" y="485964"/>
              <a:ext cx="66005" cy="66005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rgbClr val="27506E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5948817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94417789-ABD8-5F4B-B4F6-7DAE6D65446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4574" y="282831"/>
            <a:ext cx="7386406" cy="545844"/>
          </a:xfrm>
          <a:prstGeom prst="rect">
            <a:avLst/>
          </a:prstGeom>
        </p:spPr>
        <p:txBody>
          <a:bodyPr vert="horz" wrap="none" lIns="0" tIns="36000" rIns="0" bIns="36000" rtlCol="0" anchor="ctr">
            <a:normAutofit/>
          </a:bodyPr>
          <a:lstStyle/>
          <a:p>
            <a:r>
              <a:rPr lang="en-US" altLang="zh-TW" dirty="0"/>
              <a:t>標題（微軟正黑體18</a:t>
            </a:r>
            <a:r>
              <a:rPr lang="zh-TW" altLang="en-US" dirty="0"/>
              <a:t>級字</a:t>
            </a:r>
            <a:r>
              <a:rPr lang="en-US" altLang="zh-TW" dirty="0"/>
              <a:t>）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574" y="1049883"/>
            <a:ext cx="8244528" cy="4051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dirty="0"/>
              <a:t>內文</a:t>
            </a:r>
            <a:r>
              <a:rPr lang="en-US" altLang="zh-TW" dirty="0"/>
              <a:t>（微軟正黑體14</a:t>
            </a:r>
            <a:r>
              <a:rPr lang="zh-TW" altLang="en-US" dirty="0"/>
              <a:t>級字</a:t>
            </a:r>
            <a:r>
              <a:rPr lang="en-US" altLang="zh-TW" dirty="0"/>
              <a:t>）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24125" y="5413118"/>
            <a:ext cx="728662" cy="1875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lnSpc>
                <a:spcPct val="100000"/>
              </a:lnSpc>
              <a:defRPr sz="70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F0BD0EBA-4DE1-D94C-802B-785F08D2B2C6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084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kern="1200">
          <a:solidFill>
            <a:schemeClr val="bg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A243D3C-1726-44D1-8654-AF1ADEDAA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644" y="1296473"/>
            <a:ext cx="3938029" cy="1431733"/>
          </a:xfrm>
          <a:prstGeom prst="rect">
            <a:avLst/>
          </a:prstGeom>
        </p:spPr>
      </p:pic>
      <p:pic>
        <p:nvPicPr>
          <p:cNvPr id="7" name="內容版面配置區 13">
            <a:extLst>
              <a:ext uri="{FF2B5EF4-FFF2-40B4-BE49-F238E27FC236}">
                <a16:creationId xmlns:a16="http://schemas.microsoft.com/office/drawing/2014/main" id="{998BAC79-15CA-9048-AB28-C762907BC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006" y="107156"/>
            <a:ext cx="9144000" cy="5718049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5D4CFBF-2B2C-DF4C-9B65-05E89512744C}"/>
              </a:ext>
            </a:extLst>
          </p:cNvPr>
          <p:cNvSpPr txBox="1">
            <a:spLocks noChangeAspect="1"/>
          </p:cNvSpPr>
          <p:nvPr/>
        </p:nvSpPr>
        <p:spPr>
          <a:xfrm>
            <a:off x="283266" y="3406866"/>
            <a:ext cx="5274572" cy="133972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40000"/>
              </a:lnSpc>
            </a:pPr>
            <a:endParaRPr lang="en-US" altLang="zh-TW" sz="1600" b="1" dirty="0">
              <a:solidFill>
                <a:srgbClr val="009FB9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lnSpc>
                <a:spcPct val="140000"/>
              </a:lnSpc>
            </a:pPr>
            <a:r>
              <a:rPr lang="en-US" altLang="zh-TW" sz="1600" b="1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IPA(Importance &amp; Performance Analysis)</a:t>
            </a:r>
            <a:r>
              <a:rPr lang="zh-TW" altLang="en-US" sz="1600" b="1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分析</a:t>
            </a:r>
            <a:endParaRPr lang="en-US" altLang="zh-TW" sz="1600" b="1" dirty="0">
              <a:solidFill>
                <a:srgbClr val="009FB9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lnSpc>
                <a:spcPct val="140000"/>
              </a:lnSpc>
            </a:pPr>
            <a:r>
              <a:rPr lang="zh-TW" altLang="en-US" sz="1600" b="1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以服務品質衡量為例</a:t>
            </a:r>
            <a:endParaRPr lang="en-US" altLang="zh-TW" sz="1600" b="1" dirty="0">
              <a:solidFill>
                <a:srgbClr val="009FB9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lnSpc>
                <a:spcPct val="140000"/>
              </a:lnSpc>
            </a:pPr>
            <a:r>
              <a:rPr lang="zh-TW" altLang="en-US" sz="1600" b="1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數字</a:t>
            </a:r>
            <a:r>
              <a:rPr lang="en-US" altLang="zh-TW" sz="1600" b="1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&amp;</a:t>
            </a:r>
            <a:r>
              <a:rPr lang="zh-TW" altLang="en-US" sz="1600" b="1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行動篇</a:t>
            </a:r>
          </a:p>
        </p:txBody>
      </p:sp>
    </p:spTree>
    <p:extLst>
      <p:ext uri="{BB962C8B-B14F-4D97-AF65-F5344CB8AC3E}">
        <p14:creationId xmlns:p14="http://schemas.microsoft.com/office/powerpoint/2010/main" val="423649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4B1D98-40FA-9149-B27E-2819F943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0EBA-4DE1-D94C-802B-785F08D2B2C6}" type="slidenum">
              <a:rPr kumimoji="1" lang="zh-TW" altLang="en-US" smtClean="0"/>
              <a:pPr/>
              <a:t>1</a:t>
            </a:fld>
            <a:endParaRPr kumimoji="1"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E071119-D80D-A747-83BF-F92707B8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287594"/>
            <a:ext cx="7386406" cy="534731"/>
          </a:xfrm>
        </p:spPr>
        <p:txBody>
          <a:bodyPr anchor="ctr"/>
          <a:lstStyle/>
          <a:p>
            <a:r>
              <a:rPr kumimoji="1" lang="en-US" altLang="zh-TW" dirty="0"/>
              <a:t>〈</a:t>
            </a:r>
            <a:r>
              <a:rPr kumimoji="1" lang="zh-TW" altLang="en-US" dirty="0"/>
              <a:t>曹修源  </a:t>
            </a:r>
            <a:r>
              <a:rPr kumimoji="1" lang="zh-TW" altLang="en-US" sz="1200" dirty="0"/>
              <a:t>教授</a:t>
            </a:r>
            <a:r>
              <a:rPr kumimoji="1" lang="en-US" altLang="zh-TW" dirty="0"/>
              <a:t>〉</a:t>
            </a:r>
            <a:r>
              <a:rPr kumimoji="1" lang="zh-TW" altLang="en-US" dirty="0"/>
              <a:t>簡介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6EB72EEA-28EC-6345-9362-18FFBC5CCE81}"/>
              </a:ext>
            </a:extLst>
          </p:cNvPr>
          <p:cNvGrpSpPr>
            <a:grpSpLocks noChangeAspect="1"/>
          </p:cNvGrpSpPr>
          <p:nvPr/>
        </p:nvGrpSpPr>
        <p:grpSpPr>
          <a:xfrm>
            <a:off x="593869" y="1158044"/>
            <a:ext cx="8241423" cy="4012573"/>
            <a:chOff x="593869" y="1158044"/>
            <a:chExt cx="8241423" cy="401257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2CA300D-60DD-204B-A34B-DE2DBE5390A5}"/>
                </a:ext>
              </a:extLst>
            </p:cNvPr>
            <p:cNvSpPr/>
            <p:nvPr/>
          </p:nvSpPr>
          <p:spPr>
            <a:xfrm>
              <a:off x="2096907" y="1158044"/>
              <a:ext cx="3022549" cy="401257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〈</a:t>
              </a:r>
              <a:r>
                <a:rPr lang="zh-TW" altLang="en-US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學歷</a:t>
              </a: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〉</a:t>
              </a:r>
            </a:p>
            <a:p>
              <a:pPr>
                <a:lnSpc>
                  <a:spcPct val="110000"/>
                </a:lnSpc>
              </a:pPr>
              <a:endParaRPr lang="en-US" altLang="zh-TW" sz="9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澳洲國立柯廷科技大學   柯廷商學院   行銷博士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澳洲雪梨大學  商學院   訪問學者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美國南加州大學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電腦科學研究所   電腦科學碩士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東吳大學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電子計算機科學系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商學士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endParaRPr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〈</a:t>
              </a:r>
              <a:r>
                <a:rPr lang="zh-TW" altLang="en-US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經歷</a:t>
              </a: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〉</a:t>
              </a:r>
            </a:p>
            <a:p>
              <a:pPr>
                <a:lnSpc>
                  <a:spcPct val="110000"/>
                </a:lnSpc>
              </a:pPr>
              <a:endParaRPr lang="en-US" altLang="zh-TW" sz="720" dirty="0">
                <a:solidFill>
                  <a:srgbClr val="067FC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國立中興大學   行銷系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教授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淡江大學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企管系   副教授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德明財經科技大學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資管系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副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教授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明新科技大學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 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資管系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專任助理教授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澳洲國立柯廷科技大學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廷商學院   行銷系</a:t>
              </a:r>
              <a:r>
                <a:rPr lang="zh-TW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研究助理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明新技術   資訊中心教育訓練組   資工系兼任講師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IBM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台灣分公司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東吳大學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電子計算機科學系    助教</a:t>
              </a: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中華民國陸軍總部資訊中心</a:t>
              </a:r>
              <a:r>
                <a:rPr lang="en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C3I  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系統開發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endParaRPr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〈</a:t>
              </a:r>
              <a:r>
                <a:rPr lang="zh-TW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榮譽</a:t>
              </a: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〉</a:t>
              </a:r>
            </a:p>
            <a:p>
              <a:pPr>
                <a:lnSpc>
                  <a:spcPct val="110000"/>
                </a:lnSpc>
              </a:pPr>
              <a:endParaRPr lang="en-US" altLang="zh-TW" sz="9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東吳大學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電算系年度畢業生群育獎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管理協會暨國際管理協會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商業類    </a:t>
              </a:r>
              <a:r>
                <a:rPr lang="en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Best Paper Award</a:t>
              </a:r>
              <a:endParaRPr lang="zh-TW" altLang="en-US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中華商管科技學會年會暨學術研討會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 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行銷類   優勝論文獎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技職實務個案撰寫競賽   優勝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(ANZMA) Conference 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品牌與品牌管理類    最佳論文獎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指導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3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位研究生獲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2016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、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2018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、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2019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崇越論文大賞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指導學生獲輿情分析比賽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第一名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2799897-E112-6242-82A9-C7E594160B9C}"/>
                </a:ext>
              </a:extLst>
            </p:cNvPr>
            <p:cNvSpPr/>
            <p:nvPr/>
          </p:nvSpPr>
          <p:spPr>
            <a:xfrm>
              <a:off x="5255245" y="1158044"/>
              <a:ext cx="3580047" cy="387375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〈</a:t>
              </a:r>
              <a:r>
                <a:rPr lang="zh-TW" altLang="en-US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研究專長</a:t>
              </a: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〉</a:t>
              </a:r>
            </a:p>
            <a:p>
              <a:pPr>
                <a:lnSpc>
                  <a:spcPct val="110000"/>
                </a:lnSpc>
              </a:pPr>
              <a:endParaRPr lang="en-US" altLang="zh-TW" sz="9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行銷科學：行銷分析、品牌管理、網路行銷、創新與新產品開發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資料科學：輿情分析、人工智慧於行銷上之應用</a:t>
              </a:r>
            </a:p>
            <a:p>
              <a:pPr>
                <a:lnSpc>
                  <a:spcPct val="110000"/>
                </a:lnSpc>
              </a:pPr>
              <a:endParaRPr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〈</a:t>
              </a:r>
              <a:r>
                <a:rPr lang="zh-TW" altLang="en-US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論文著作</a:t>
              </a: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〉</a:t>
              </a:r>
            </a:p>
            <a:p>
              <a:pPr>
                <a:lnSpc>
                  <a:spcPct val="110000"/>
                </a:lnSpc>
              </a:pPr>
              <a:endParaRPr lang="en-US" altLang="zh-TW" sz="9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Estimating numerical scale ratings from text-based service reviews</a:t>
              </a:r>
            </a:p>
            <a:p>
              <a:pPr>
                <a:lnSpc>
                  <a:spcPct val="110000"/>
                </a:lnSpc>
              </a:pPr>
              <a:endParaRPr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〈</a:t>
              </a:r>
              <a:r>
                <a:rPr lang="zh-TW" altLang="en-US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教科書編撰</a:t>
              </a: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〉</a:t>
              </a:r>
            </a:p>
            <a:p>
              <a:pPr>
                <a:lnSpc>
                  <a:spcPct val="110000"/>
                </a:lnSpc>
              </a:pPr>
              <a:endParaRPr lang="en-US" altLang="zh-TW" sz="10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網路與數位行銷</a:t>
              </a:r>
              <a:r>
                <a:rPr lang="zh-TW" altLang="en-US" sz="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</a:t>
              </a:r>
              <a:r>
                <a:rPr lang="en-US" altLang="zh-TW" sz="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2019/</a:t>
              </a:r>
              <a:r>
                <a:rPr lang="zh-TW" altLang="en-US" sz="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高立圖書出版）</a:t>
              </a:r>
              <a:endParaRPr lang="en-US" altLang="zh-TW" sz="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endParaRPr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〈</a:t>
              </a:r>
              <a:r>
                <a:rPr lang="zh-TW" altLang="en-US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學術期刊發表論文</a:t>
              </a:r>
              <a:r>
                <a:rPr lang="en-US" altLang="zh-TW" sz="9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〉</a:t>
              </a:r>
            </a:p>
            <a:p>
              <a:pPr>
                <a:lnSpc>
                  <a:spcPct val="110000"/>
                </a:lnSpc>
              </a:pPr>
              <a:endParaRPr lang="en-US" altLang="zh-TW" sz="10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Journal of Service Management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SSCI )</a:t>
              </a: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Marketing Letters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SSCI )</a:t>
              </a: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European Journal of Marketing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SSCI )</a:t>
              </a: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Business Horizons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SSCI )</a:t>
              </a: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International Journal of Market Research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SSCI )</a:t>
              </a: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Journal of Brand Management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SSCI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）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Journal of Consumer </a:t>
              </a:r>
              <a:r>
                <a:rPr lang="en-US" altLang="zh-TW" sz="800" dirty="0" err="1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Behaviour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）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Journal of The Operational Research Society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SSCI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）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OMEGA-International Journal of Management Science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SSCI</a:t>
              </a:r>
              <a:r>
                <a:rPr lang="zh-TW" altLang="en-US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）</a:t>
              </a:r>
              <a:endParaRPr lang="en-US" altLang="zh-TW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zh-TW" altLang="en-US" sz="800" dirty="0">
                  <a:solidFill>
                    <a:srgbClr val="009FB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◼︎ </a:t>
              </a:r>
              <a:r>
                <a:rPr lang="en-US" altLang="zh-TW" sz="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Asia Pacific Journal of Marketing and Logistics</a:t>
              </a:r>
              <a:endParaRPr lang="zh-TW" altLang="en-US" sz="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F784A26-1FAF-BB47-A7A5-CF31C68AA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3869" y="1214459"/>
              <a:ext cx="1442919" cy="1812750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257ABCC7-709D-594D-8801-AFF27E92D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732" y="4665738"/>
              <a:ext cx="1242219" cy="271736"/>
            </a:xfrm>
            <a:prstGeom prst="rect">
              <a:avLst/>
            </a:prstGeom>
          </p:spPr>
        </p:pic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5E6EA831-CC09-514D-90DC-3E1F4FC7D188}"/>
                </a:ext>
              </a:extLst>
            </p:cNvPr>
            <p:cNvCxnSpPr>
              <a:cxnSpLocks/>
            </p:cNvCxnSpPr>
            <p:nvPr/>
          </p:nvCxnSpPr>
          <p:spPr>
            <a:xfrm>
              <a:off x="2314785" y="4073888"/>
              <a:ext cx="2702504" cy="0"/>
            </a:xfrm>
            <a:prstGeom prst="line">
              <a:avLst/>
            </a:prstGeom>
            <a:ln w="6350">
              <a:solidFill>
                <a:srgbClr val="009F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19810AC8-22DE-F848-94C5-AA15F02D6AE3}"/>
                </a:ext>
              </a:extLst>
            </p:cNvPr>
            <p:cNvCxnSpPr>
              <a:cxnSpLocks/>
            </p:cNvCxnSpPr>
            <p:nvPr/>
          </p:nvCxnSpPr>
          <p:spPr>
            <a:xfrm>
              <a:off x="5355491" y="3398461"/>
              <a:ext cx="3283641" cy="0"/>
            </a:xfrm>
            <a:prstGeom prst="line">
              <a:avLst/>
            </a:prstGeom>
            <a:ln w="6350">
              <a:solidFill>
                <a:srgbClr val="009F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48A7C333-3330-0D4E-9849-68EC4C402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92822" y="3476570"/>
              <a:ext cx="646310" cy="861747"/>
            </a:xfrm>
            <a:prstGeom prst="rect">
              <a:avLst/>
            </a:prstGeom>
          </p:spPr>
        </p:pic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5FC767E3-32E0-E34E-BED6-C29D193986F8}"/>
                </a:ext>
              </a:extLst>
            </p:cNvPr>
            <p:cNvCxnSpPr>
              <a:cxnSpLocks/>
            </p:cNvCxnSpPr>
            <p:nvPr/>
          </p:nvCxnSpPr>
          <p:spPr>
            <a:xfrm>
              <a:off x="2314785" y="2387093"/>
              <a:ext cx="2702504" cy="0"/>
            </a:xfrm>
            <a:prstGeom prst="line">
              <a:avLst/>
            </a:prstGeom>
            <a:ln w="6350">
              <a:solidFill>
                <a:srgbClr val="009F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6BF12340-DCBF-B440-BDBF-D04E2511E812}"/>
                </a:ext>
              </a:extLst>
            </p:cNvPr>
            <p:cNvCxnSpPr>
              <a:cxnSpLocks/>
            </p:cNvCxnSpPr>
            <p:nvPr/>
          </p:nvCxnSpPr>
          <p:spPr>
            <a:xfrm>
              <a:off x="2314785" y="1407050"/>
              <a:ext cx="2702504" cy="0"/>
            </a:xfrm>
            <a:prstGeom prst="line">
              <a:avLst/>
            </a:prstGeom>
            <a:ln w="6350">
              <a:solidFill>
                <a:srgbClr val="009F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7DE4B78D-527A-DF40-B3B2-EC0584C1FE8C}"/>
                </a:ext>
              </a:extLst>
            </p:cNvPr>
            <p:cNvCxnSpPr>
              <a:cxnSpLocks/>
            </p:cNvCxnSpPr>
            <p:nvPr/>
          </p:nvCxnSpPr>
          <p:spPr>
            <a:xfrm>
              <a:off x="5355491" y="2767230"/>
              <a:ext cx="3237669" cy="0"/>
            </a:xfrm>
            <a:prstGeom prst="line">
              <a:avLst/>
            </a:prstGeom>
            <a:ln w="6350">
              <a:solidFill>
                <a:srgbClr val="009F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2" descr="網路與數位行銷（五版）">
              <a:extLst>
                <a:ext uri="{FF2B5EF4-FFF2-40B4-BE49-F238E27FC236}">
                  <a16:creationId xmlns:a16="http://schemas.microsoft.com/office/drawing/2014/main" id="{95D7E0DA-A794-304B-AD1A-98F263218B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6" r="14482"/>
            <a:stretch/>
          </p:blipFill>
          <p:spPr bwMode="auto">
            <a:xfrm>
              <a:off x="7992822" y="2492277"/>
              <a:ext cx="646309" cy="838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C65BC004-E977-A740-9141-459642C133E1}"/>
                </a:ext>
              </a:extLst>
            </p:cNvPr>
            <p:cNvCxnSpPr>
              <a:cxnSpLocks/>
            </p:cNvCxnSpPr>
            <p:nvPr/>
          </p:nvCxnSpPr>
          <p:spPr>
            <a:xfrm>
              <a:off x="5355491" y="2162233"/>
              <a:ext cx="3283641" cy="0"/>
            </a:xfrm>
            <a:prstGeom prst="line">
              <a:avLst/>
            </a:prstGeom>
            <a:ln w="6350">
              <a:solidFill>
                <a:srgbClr val="009F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6F68CDDB-5462-1948-9BC0-241074FB4E37}"/>
                </a:ext>
              </a:extLst>
            </p:cNvPr>
            <p:cNvCxnSpPr>
              <a:cxnSpLocks/>
            </p:cNvCxnSpPr>
            <p:nvPr/>
          </p:nvCxnSpPr>
          <p:spPr>
            <a:xfrm>
              <a:off x="5355491" y="1416409"/>
              <a:ext cx="3283641" cy="0"/>
            </a:xfrm>
            <a:prstGeom prst="line">
              <a:avLst/>
            </a:prstGeom>
            <a:ln w="6350">
              <a:solidFill>
                <a:srgbClr val="009F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089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26"/>
          <p:cNvSpPr>
            <a:spLocks noGrp="1"/>
          </p:cNvSpPr>
          <p:nvPr>
            <p:ph type="body" sz="quarter" idx="10"/>
          </p:nvPr>
        </p:nvSpPr>
        <p:spPr>
          <a:xfrm>
            <a:off x="401264" y="343789"/>
            <a:ext cx="3561136" cy="466281"/>
          </a:xfrm>
        </p:spPr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服務品質定義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6507" y="1036343"/>
            <a:ext cx="7121387" cy="1963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30000"/>
              </a:lnSpc>
              <a:defRPr/>
            </a:pPr>
            <a:r>
              <a:rPr lang="zh-TW" altLang="zh-TW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最大的共通點是「</a:t>
            </a:r>
            <a:r>
              <a:rPr lang="zh-TW" altLang="zh-TW" sz="2400" kern="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顧客</a:t>
            </a:r>
            <a:r>
              <a:rPr lang="zh-TW" altLang="zh-TW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是服務品質的唯一評價者」(Deming, 1986)。</a:t>
            </a:r>
            <a:endParaRPr lang="en-US" altLang="zh-TW" sz="2400" kern="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zh-TW" sz="2400" b="1" kern="0" dirty="0">
                <a:solidFill>
                  <a:srgbClr val="F39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服務品質</a:t>
            </a:r>
            <a:r>
              <a:rPr lang="zh-TW" altLang="zh-TW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是一種</a:t>
            </a:r>
            <a:r>
              <a:rPr lang="zh-TW" altLang="zh-TW" sz="2400" kern="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抽象</a:t>
            </a:r>
            <a:r>
              <a:rPr lang="zh-TW" altLang="zh-TW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且</a:t>
            </a:r>
            <a:r>
              <a:rPr lang="zh-TW" altLang="zh-TW" sz="2400" kern="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主觀</a:t>
            </a:r>
            <a:r>
              <a:rPr lang="zh-TW" altLang="zh-TW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的概念，是顧客綜合了</a:t>
            </a:r>
            <a:r>
              <a:rPr lang="zh-TW" altLang="zh-TW" sz="2400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多面向</a:t>
            </a:r>
            <a:r>
              <a:rPr lang="zh-TW" altLang="zh-TW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的感受。</a:t>
            </a:r>
          </a:p>
        </p:txBody>
      </p:sp>
    </p:spTree>
    <p:extLst>
      <p:ext uri="{BB962C8B-B14F-4D97-AF65-F5344CB8AC3E}">
        <p14:creationId xmlns:p14="http://schemas.microsoft.com/office/powerpoint/2010/main" val="36220493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164230"/>
              </p:ext>
            </p:extLst>
          </p:nvPr>
        </p:nvGraphicFramePr>
        <p:xfrm>
          <a:off x="295141" y="1026956"/>
          <a:ext cx="8429580" cy="35667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5941">
                  <a:extLst>
                    <a:ext uri="{9D8B030D-6E8A-4147-A177-3AD203B41FA5}">
                      <a16:colId xmlns:a16="http://schemas.microsoft.com/office/drawing/2014/main" val="119196073"/>
                    </a:ext>
                  </a:extLst>
                </a:gridCol>
                <a:gridCol w="6753639">
                  <a:extLst>
                    <a:ext uri="{9D8B030D-6E8A-4147-A177-3AD203B41FA5}">
                      <a16:colId xmlns:a16="http://schemas.microsoft.com/office/drawing/2014/main" val="4247418390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學者</a:t>
                      </a:r>
                      <a:r>
                        <a:rPr lang="en-US" sz="1100" kern="100">
                          <a:effectLst/>
                        </a:rPr>
                        <a:t>(</a:t>
                      </a:r>
                      <a:r>
                        <a:rPr lang="zh-TW" sz="1100" kern="100">
                          <a:effectLst/>
                        </a:rPr>
                        <a:t>年分</a:t>
                      </a:r>
                      <a:r>
                        <a:rPr lang="en-US" sz="1100" kern="100">
                          <a:effectLst/>
                        </a:rPr>
                        <a:t>)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衡量服務品質之構面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91940697"/>
                  </a:ext>
                </a:extLst>
              </a:tr>
              <a:tr h="5022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Sasser,  Olsen </a:t>
                      </a:r>
                      <a:r>
                        <a:rPr lang="zh-TW" sz="1100" kern="100">
                          <a:effectLst/>
                        </a:rPr>
                        <a:t>＆</a:t>
                      </a:r>
                      <a:r>
                        <a:rPr lang="en-US" sz="1100" kern="100">
                          <a:effectLst/>
                        </a:rPr>
                        <a:t> Wyckoff</a:t>
                      </a:r>
                      <a:br>
                        <a:rPr lang="en-US" sz="1100" kern="100">
                          <a:effectLst/>
                        </a:rPr>
                      </a:br>
                      <a:r>
                        <a:rPr lang="en-US" sz="1100" kern="100">
                          <a:effectLst/>
                        </a:rPr>
                        <a:t>(1978) 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</a:t>
                      </a:r>
                      <a:r>
                        <a:rPr lang="zh-TW" sz="1100" kern="100" dirty="0">
                          <a:effectLst/>
                        </a:rPr>
                        <a:t>安全性（</a:t>
                      </a:r>
                      <a:r>
                        <a:rPr lang="en-US" sz="1100" kern="100" dirty="0">
                          <a:effectLst/>
                        </a:rPr>
                        <a:t>Security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</a:t>
                      </a:r>
                      <a:r>
                        <a:rPr lang="en-US" sz="1100" kern="100" dirty="0">
                          <a:effectLst/>
                        </a:rPr>
                        <a:t>2.</a:t>
                      </a:r>
                      <a:r>
                        <a:rPr lang="zh-TW" sz="1100" kern="100" dirty="0">
                          <a:effectLst/>
                        </a:rPr>
                        <a:t>一致性（</a:t>
                      </a:r>
                      <a:r>
                        <a:rPr lang="en-US" sz="1100" kern="100" dirty="0">
                          <a:effectLst/>
                        </a:rPr>
                        <a:t>Consistency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zh-TW" altLang="en-US" sz="1100" kern="100" dirty="0">
                          <a:effectLst/>
                        </a:rPr>
                        <a:t>   </a:t>
                      </a:r>
                      <a:r>
                        <a:rPr lang="en-US" sz="1100" kern="100" dirty="0">
                          <a:effectLst/>
                        </a:rPr>
                        <a:t>3.</a:t>
                      </a:r>
                      <a:r>
                        <a:rPr lang="zh-TW" sz="1100" kern="100" dirty="0">
                          <a:effectLst/>
                        </a:rPr>
                        <a:t>態度（</a:t>
                      </a:r>
                      <a:r>
                        <a:rPr lang="en-US" sz="1100" kern="100" dirty="0">
                          <a:effectLst/>
                        </a:rPr>
                        <a:t>Attitude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zh-TW" altLang="en-US" sz="1100" kern="100" dirty="0">
                          <a:effectLst/>
                        </a:rPr>
                        <a:t>   </a:t>
                      </a:r>
                      <a:r>
                        <a:rPr lang="en-US" sz="1100" kern="100" dirty="0">
                          <a:effectLst/>
                        </a:rPr>
                        <a:t>4.</a:t>
                      </a:r>
                      <a:r>
                        <a:rPr lang="zh-TW" sz="1100" kern="100" dirty="0">
                          <a:effectLst/>
                        </a:rPr>
                        <a:t>完整（</a:t>
                      </a:r>
                      <a:r>
                        <a:rPr lang="en-US" sz="1100" kern="100" dirty="0">
                          <a:effectLst/>
                        </a:rPr>
                        <a:t>Completeness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5.</a:t>
                      </a:r>
                      <a:r>
                        <a:rPr lang="zh-TW" sz="1100" kern="100" dirty="0">
                          <a:effectLst/>
                        </a:rPr>
                        <a:t>情境（</a:t>
                      </a:r>
                      <a:r>
                        <a:rPr lang="en-US" sz="1100" kern="100" dirty="0">
                          <a:effectLst/>
                        </a:rPr>
                        <a:t>Condition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</a:t>
                      </a:r>
                      <a:r>
                        <a:rPr lang="en-US" sz="1100" kern="100" dirty="0">
                          <a:effectLst/>
                        </a:rPr>
                        <a:t>6.</a:t>
                      </a:r>
                      <a:r>
                        <a:rPr lang="zh-TW" sz="1100" kern="100" dirty="0">
                          <a:effectLst/>
                        </a:rPr>
                        <a:t>便利性（</a:t>
                      </a:r>
                      <a:r>
                        <a:rPr lang="en-US" sz="1100" kern="100" dirty="0">
                          <a:effectLst/>
                        </a:rPr>
                        <a:t>Availability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 </a:t>
                      </a:r>
                      <a:r>
                        <a:rPr lang="en-US" sz="1100" kern="100" dirty="0">
                          <a:effectLst/>
                        </a:rPr>
                        <a:t>7.</a:t>
                      </a:r>
                      <a:r>
                        <a:rPr lang="zh-TW" sz="1100" kern="100" dirty="0">
                          <a:effectLst/>
                        </a:rPr>
                        <a:t>時效（</a:t>
                      </a:r>
                      <a:r>
                        <a:rPr lang="en-US" sz="1100" kern="100" dirty="0">
                          <a:effectLst/>
                        </a:rPr>
                        <a:t>Timing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206230848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Grönroos</a:t>
                      </a:r>
                      <a:br>
                        <a:rPr lang="en-US" sz="1100" kern="100">
                          <a:effectLst/>
                        </a:rPr>
                      </a:br>
                      <a:r>
                        <a:rPr lang="en-US" sz="1100" kern="100">
                          <a:effectLst/>
                        </a:rPr>
                        <a:t>(1984) 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</a:t>
                      </a:r>
                      <a:r>
                        <a:rPr lang="zh-TW" sz="1100" kern="100" dirty="0">
                          <a:effectLst/>
                        </a:rPr>
                        <a:t>功能性品質（</a:t>
                      </a:r>
                      <a:r>
                        <a:rPr lang="en-US" sz="1100" kern="100" dirty="0">
                          <a:effectLst/>
                        </a:rPr>
                        <a:t>Functional Quality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  </a:t>
                      </a:r>
                      <a:r>
                        <a:rPr lang="en-US" sz="1100" kern="100" dirty="0">
                          <a:effectLst/>
                        </a:rPr>
                        <a:t>2.</a:t>
                      </a:r>
                      <a:r>
                        <a:rPr lang="zh-TW" sz="1100" kern="100" dirty="0">
                          <a:effectLst/>
                        </a:rPr>
                        <a:t>技術性品質（</a:t>
                      </a:r>
                      <a:r>
                        <a:rPr lang="en-US" sz="1100" kern="100" dirty="0">
                          <a:effectLst/>
                        </a:rPr>
                        <a:t>Technical </a:t>
                      </a:r>
                      <a:r>
                        <a:rPr lang="en-US" sz="1100" kern="100" dirty="0" err="1">
                          <a:effectLst/>
                        </a:rPr>
                        <a:t>Qiality</a:t>
                      </a:r>
                      <a:r>
                        <a:rPr lang="zh-TW" sz="1100" kern="100" dirty="0">
                          <a:effectLst/>
                        </a:rPr>
                        <a:t>） 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2055921846"/>
                  </a:ext>
                </a:extLst>
              </a:tr>
              <a:tr h="7175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Parasuraman, Zeithaml </a:t>
                      </a:r>
                      <a:r>
                        <a:rPr lang="zh-TW" sz="1100" kern="100">
                          <a:effectLst/>
                        </a:rPr>
                        <a:t>＆</a:t>
                      </a:r>
                      <a:r>
                        <a:rPr lang="en-US" sz="1100" kern="100">
                          <a:effectLst/>
                        </a:rPr>
                        <a:t> Berry</a:t>
                      </a:r>
                      <a:br>
                        <a:rPr lang="en-US" sz="1100" kern="100">
                          <a:effectLst/>
                        </a:rPr>
                      </a:br>
                      <a:r>
                        <a:rPr lang="en-US" sz="1100" kern="100">
                          <a:effectLst/>
                        </a:rPr>
                        <a:t> (1985)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</a:t>
                      </a:r>
                      <a:r>
                        <a:rPr lang="zh-TW" sz="1100" kern="100" dirty="0">
                          <a:effectLst/>
                        </a:rPr>
                        <a:t>可靠性（</a:t>
                      </a:r>
                      <a:r>
                        <a:rPr lang="en-US" sz="1100" kern="100" dirty="0">
                          <a:effectLst/>
                        </a:rPr>
                        <a:t>Reliability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</a:t>
                      </a:r>
                      <a:r>
                        <a:rPr lang="en-US" sz="1100" kern="100" dirty="0">
                          <a:effectLst/>
                        </a:rPr>
                        <a:t>2.</a:t>
                      </a:r>
                      <a:r>
                        <a:rPr lang="zh-TW" sz="1100" kern="100" dirty="0">
                          <a:effectLst/>
                        </a:rPr>
                        <a:t>反應性（</a:t>
                      </a:r>
                      <a:r>
                        <a:rPr lang="en-US" sz="1100" kern="100" dirty="0">
                          <a:effectLst/>
                        </a:rPr>
                        <a:t>Responsiveness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zh-TW" altLang="en-US" sz="1100" kern="100" dirty="0">
                          <a:effectLst/>
                        </a:rPr>
                        <a:t>    </a:t>
                      </a:r>
                      <a:r>
                        <a:rPr lang="en-US" sz="1100" kern="100" dirty="0">
                          <a:effectLst/>
                        </a:rPr>
                        <a:t>3.</a:t>
                      </a:r>
                      <a:r>
                        <a:rPr lang="zh-TW" sz="1100" kern="100" dirty="0">
                          <a:effectLst/>
                        </a:rPr>
                        <a:t>專業性（</a:t>
                      </a:r>
                      <a:r>
                        <a:rPr lang="en-US" sz="1100" kern="100" dirty="0">
                          <a:effectLst/>
                        </a:rPr>
                        <a:t>Competence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zh-TW" altLang="en-US" sz="1100" kern="100" dirty="0">
                          <a:effectLst/>
                        </a:rPr>
                        <a:t>    </a:t>
                      </a:r>
                      <a:r>
                        <a:rPr lang="en-US" sz="1100" kern="100" dirty="0">
                          <a:effectLst/>
                        </a:rPr>
                        <a:t>4.</a:t>
                      </a:r>
                      <a:r>
                        <a:rPr lang="zh-TW" sz="1100" kern="100" dirty="0">
                          <a:effectLst/>
                        </a:rPr>
                        <a:t>接近性（</a:t>
                      </a:r>
                      <a:r>
                        <a:rPr lang="en-US" sz="1100" kern="100" dirty="0">
                          <a:effectLst/>
                        </a:rPr>
                        <a:t>Access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5.</a:t>
                      </a:r>
                      <a:r>
                        <a:rPr lang="zh-TW" sz="1100" kern="100" dirty="0">
                          <a:effectLst/>
                        </a:rPr>
                        <a:t>禮貌性（</a:t>
                      </a:r>
                      <a:r>
                        <a:rPr lang="en-US" sz="1100" kern="100" dirty="0">
                          <a:effectLst/>
                        </a:rPr>
                        <a:t>Courtesy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</a:t>
                      </a:r>
                      <a:r>
                        <a:rPr lang="en-US" sz="1100" kern="100" dirty="0">
                          <a:effectLst/>
                        </a:rPr>
                        <a:t>6.</a:t>
                      </a:r>
                      <a:r>
                        <a:rPr lang="zh-TW" sz="1100" kern="100" dirty="0">
                          <a:effectLst/>
                        </a:rPr>
                        <a:t>溝通性（</a:t>
                      </a:r>
                      <a:r>
                        <a:rPr lang="en-US" sz="1100" kern="100" dirty="0">
                          <a:effectLst/>
                        </a:rPr>
                        <a:t>Communication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</a:t>
                      </a:r>
                      <a:r>
                        <a:rPr lang="en-US" sz="1100" kern="100" dirty="0">
                          <a:effectLst/>
                        </a:rPr>
                        <a:t>7.</a:t>
                      </a:r>
                      <a:r>
                        <a:rPr lang="zh-TW" sz="1100" kern="100" dirty="0">
                          <a:effectLst/>
                        </a:rPr>
                        <a:t>信賴性（</a:t>
                      </a:r>
                      <a:r>
                        <a:rPr lang="en-US" sz="1100" kern="100" dirty="0">
                          <a:effectLst/>
                        </a:rPr>
                        <a:t>Credibility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    </a:t>
                      </a:r>
                      <a:r>
                        <a:rPr lang="en-US" sz="1100" kern="100" dirty="0">
                          <a:effectLst/>
                        </a:rPr>
                        <a:t>8.</a:t>
                      </a:r>
                      <a:r>
                        <a:rPr lang="zh-TW" sz="1100" kern="100" dirty="0">
                          <a:effectLst/>
                        </a:rPr>
                        <a:t>安全性（</a:t>
                      </a:r>
                      <a:r>
                        <a:rPr lang="en-US" sz="1100" kern="100" dirty="0">
                          <a:effectLst/>
                        </a:rPr>
                        <a:t>Security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9.</a:t>
                      </a:r>
                      <a:r>
                        <a:rPr lang="zh-TW" sz="1100" kern="100" dirty="0">
                          <a:effectLst/>
                        </a:rPr>
                        <a:t>理解性（</a:t>
                      </a:r>
                      <a:r>
                        <a:rPr lang="en-US" sz="1100" kern="100" dirty="0">
                          <a:effectLst/>
                        </a:rPr>
                        <a:t>Understanding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</a:t>
                      </a:r>
                      <a:r>
                        <a:rPr lang="en-US" sz="1100" kern="100" dirty="0">
                          <a:effectLst/>
                        </a:rPr>
                        <a:t>10.</a:t>
                      </a:r>
                      <a:r>
                        <a:rPr lang="zh-TW" sz="1100" kern="100" dirty="0">
                          <a:effectLst/>
                        </a:rPr>
                        <a:t>有形性（</a:t>
                      </a:r>
                      <a:r>
                        <a:rPr lang="en-US" sz="1100" kern="100" dirty="0">
                          <a:effectLst/>
                        </a:rPr>
                        <a:t>Tangibles</a:t>
                      </a:r>
                      <a:r>
                        <a:rPr lang="zh-TW" sz="1100" kern="100" dirty="0">
                          <a:effectLst/>
                        </a:rPr>
                        <a:t>） 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384939603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Martin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(1986)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</a:t>
                      </a:r>
                      <a:r>
                        <a:rPr lang="zh-TW" sz="1100" kern="100" dirty="0">
                          <a:effectLst/>
                        </a:rPr>
                        <a:t>過程品質</a:t>
                      </a:r>
                      <a:r>
                        <a:rPr lang="en-US" sz="1100" kern="100" dirty="0">
                          <a:effectLst/>
                        </a:rPr>
                        <a:t>(Service Procedures)</a:t>
                      </a:r>
                      <a:r>
                        <a:rPr lang="zh-TW" altLang="en-US" sz="1100" kern="100" dirty="0">
                          <a:effectLst/>
                        </a:rPr>
                        <a:t>       </a:t>
                      </a:r>
                      <a:r>
                        <a:rPr lang="en-US" sz="1100" kern="100" dirty="0">
                          <a:effectLst/>
                        </a:rPr>
                        <a:t>2.</a:t>
                      </a:r>
                      <a:r>
                        <a:rPr lang="zh-TW" sz="1100" kern="100" dirty="0">
                          <a:effectLst/>
                        </a:rPr>
                        <a:t>歡樂品質</a:t>
                      </a:r>
                      <a:r>
                        <a:rPr lang="en-US" sz="1100" kern="100" dirty="0">
                          <a:effectLst/>
                        </a:rPr>
                        <a:t>(The Service Staff’s Personality or What is Termed’ Conviviality)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21738338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Parasuraman, Zetithaml </a:t>
                      </a:r>
                      <a:r>
                        <a:rPr lang="zh-TW" sz="1100" kern="100">
                          <a:effectLst/>
                        </a:rPr>
                        <a:t>＆</a:t>
                      </a:r>
                      <a:r>
                        <a:rPr lang="en-US" sz="1100" kern="100">
                          <a:effectLst/>
                        </a:rPr>
                        <a:t> Berry</a:t>
                      </a:r>
                      <a:br>
                        <a:rPr lang="en-US" sz="1100" kern="100">
                          <a:effectLst/>
                        </a:rPr>
                      </a:br>
                      <a:r>
                        <a:rPr lang="en-US" sz="1100" kern="100">
                          <a:effectLst/>
                        </a:rPr>
                        <a:t>(1988) 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</a:t>
                      </a:r>
                      <a:r>
                        <a:rPr lang="zh-TW" sz="1100" kern="100" dirty="0">
                          <a:effectLst/>
                        </a:rPr>
                        <a:t>可靠性（</a:t>
                      </a:r>
                      <a:r>
                        <a:rPr lang="en-US" sz="1100" kern="100" dirty="0">
                          <a:effectLst/>
                        </a:rPr>
                        <a:t>Reliability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zh-TW" altLang="en-US" sz="1100" kern="100" dirty="0">
                          <a:effectLst/>
                        </a:rPr>
                        <a:t>      </a:t>
                      </a:r>
                      <a:r>
                        <a:rPr lang="en-US" sz="1100" kern="100" dirty="0">
                          <a:effectLst/>
                        </a:rPr>
                        <a:t>2.</a:t>
                      </a:r>
                      <a:r>
                        <a:rPr lang="zh-TW" sz="1100" kern="100" dirty="0">
                          <a:effectLst/>
                        </a:rPr>
                        <a:t>反應性（</a:t>
                      </a:r>
                      <a:r>
                        <a:rPr lang="en-US" sz="1100" kern="100" dirty="0">
                          <a:effectLst/>
                        </a:rPr>
                        <a:t>Responsiveness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</a:t>
                      </a:r>
                      <a:r>
                        <a:rPr lang="en-US" sz="1100" kern="100" dirty="0">
                          <a:effectLst/>
                        </a:rPr>
                        <a:t>3.</a:t>
                      </a:r>
                      <a:r>
                        <a:rPr lang="zh-TW" sz="1100" kern="100" dirty="0">
                          <a:effectLst/>
                        </a:rPr>
                        <a:t>保證性（</a:t>
                      </a:r>
                      <a:r>
                        <a:rPr lang="en-US" sz="1100" kern="100" dirty="0">
                          <a:effectLst/>
                        </a:rPr>
                        <a:t>Assurance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4.</a:t>
                      </a:r>
                      <a:r>
                        <a:rPr lang="zh-TW" sz="1100" kern="100" dirty="0">
                          <a:effectLst/>
                        </a:rPr>
                        <a:t>有形性（</a:t>
                      </a:r>
                      <a:r>
                        <a:rPr lang="en-US" sz="1100" kern="100" dirty="0">
                          <a:effectLst/>
                        </a:rPr>
                        <a:t>Tangibles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 </a:t>
                      </a:r>
                      <a:r>
                        <a:rPr lang="en-US" sz="1100" kern="100" dirty="0">
                          <a:effectLst/>
                        </a:rPr>
                        <a:t>5.</a:t>
                      </a:r>
                      <a:r>
                        <a:rPr lang="zh-TW" sz="1100" kern="100" dirty="0">
                          <a:effectLst/>
                        </a:rPr>
                        <a:t>關懷性（</a:t>
                      </a:r>
                      <a:r>
                        <a:rPr lang="en-US" sz="1100" kern="100" dirty="0">
                          <a:effectLst/>
                        </a:rPr>
                        <a:t>Empathy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33599833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Lehtinen </a:t>
                      </a:r>
                      <a:r>
                        <a:rPr lang="zh-TW" sz="1100" kern="100">
                          <a:effectLst/>
                        </a:rPr>
                        <a:t>＆</a:t>
                      </a:r>
                      <a:r>
                        <a:rPr lang="en-US" sz="1100" kern="100">
                          <a:effectLst/>
                        </a:rPr>
                        <a:t> Lehtinen </a:t>
                      </a:r>
                      <a:br>
                        <a:rPr lang="en-US" sz="1100" kern="100">
                          <a:effectLst/>
                        </a:rPr>
                      </a:br>
                      <a:r>
                        <a:rPr lang="en-US" sz="1100" kern="100">
                          <a:effectLst/>
                        </a:rPr>
                        <a:t>(1991) 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</a:t>
                      </a:r>
                      <a:r>
                        <a:rPr lang="zh-TW" sz="1100" kern="100" dirty="0">
                          <a:effectLst/>
                        </a:rPr>
                        <a:t>實體品質（</a:t>
                      </a:r>
                      <a:r>
                        <a:rPr lang="en-US" sz="1100" kern="100" dirty="0">
                          <a:effectLst/>
                        </a:rPr>
                        <a:t>Physical Quality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 </a:t>
                      </a:r>
                      <a:r>
                        <a:rPr lang="en-US" sz="1100" kern="100" dirty="0">
                          <a:effectLst/>
                        </a:rPr>
                        <a:t>2.</a:t>
                      </a:r>
                      <a:r>
                        <a:rPr lang="zh-TW" sz="1100" kern="100" dirty="0">
                          <a:effectLst/>
                        </a:rPr>
                        <a:t>互動品質（</a:t>
                      </a:r>
                      <a:r>
                        <a:rPr lang="en-US" sz="1100" kern="100" dirty="0">
                          <a:effectLst/>
                        </a:rPr>
                        <a:t>Interactive Quality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</a:t>
                      </a:r>
                      <a:r>
                        <a:rPr lang="en-US" sz="1100" kern="100" dirty="0">
                          <a:effectLst/>
                        </a:rPr>
                        <a:t>3.</a:t>
                      </a:r>
                      <a:r>
                        <a:rPr lang="zh-TW" sz="1100" kern="100" dirty="0">
                          <a:effectLst/>
                        </a:rPr>
                        <a:t>公司品質（</a:t>
                      </a:r>
                      <a:r>
                        <a:rPr lang="en-US" sz="1100" kern="100" dirty="0">
                          <a:effectLst/>
                        </a:rPr>
                        <a:t>Corporate Quality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356677091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黃文棗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(1991)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</a:t>
                      </a:r>
                      <a:r>
                        <a:rPr lang="zh-TW" sz="1100" kern="100" dirty="0">
                          <a:effectLst/>
                        </a:rPr>
                        <a:t>安全性</a:t>
                      </a:r>
                      <a:r>
                        <a:rPr lang="en-US" sz="1100" kern="100" dirty="0">
                          <a:effectLst/>
                        </a:rPr>
                        <a:t>          2.</a:t>
                      </a:r>
                      <a:r>
                        <a:rPr lang="zh-TW" sz="1100" kern="100" dirty="0">
                          <a:effectLst/>
                        </a:rPr>
                        <a:t>反應力</a:t>
                      </a:r>
                      <a:r>
                        <a:rPr lang="zh-TW" altLang="en-US" sz="1100" kern="100" dirty="0">
                          <a:effectLst/>
                        </a:rPr>
                        <a:t>          </a:t>
                      </a:r>
                      <a:r>
                        <a:rPr lang="en-US" sz="1100" kern="100" dirty="0">
                          <a:effectLst/>
                        </a:rPr>
                        <a:t>3.</a:t>
                      </a:r>
                      <a:r>
                        <a:rPr lang="zh-TW" sz="1100" kern="100" dirty="0">
                          <a:effectLst/>
                        </a:rPr>
                        <a:t>及時性</a:t>
                      </a:r>
                      <a:r>
                        <a:rPr lang="en-US" sz="1100" kern="100" dirty="0">
                          <a:effectLst/>
                        </a:rPr>
                        <a:t>          4.</a:t>
                      </a:r>
                      <a:r>
                        <a:rPr lang="zh-TW" sz="1100" kern="100" dirty="0">
                          <a:effectLst/>
                        </a:rPr>
                        <a:t>接近性</a:t>
                      </a:r>
                      <a:r>
                        <a:rPr lang="zh-TW" altLang="en-US" sz="1100" kern="100" dirty="0">
                          <a:effectLst/>
                        </a:rPr>
                        <a:t>          </a:t>
                      </a:r>
                      <a:r>
                        <a:rPr lang="en-US" sz="1100" kern="100" dirty="0">
                          <a:effectLst/>
                        </a:rPr>
                        <a:t>5.</a:t>
                      </a:r>
                      <a:r>
                        <a:rPr lang="zh-TW" sz="1100" kern="100" dirty="0">
                          <a:effectLst/>
                        </a:rPr>
                        <a:t>有形性</a:t>
                      </a:r>
                      <a:r>
                        <a:rPr lang="en-US" sz="1100" kern="100" dirty="0">
                          <a:effectLst/>
                        </a:rPr>
                        <a:t>         </a:t>
                      </a:r>
                      <a:r>
                        <a:rPr lang="zh-TW" altLang="en-US" sz="1100" kern="100" dirty="0">
                          <a:effectLst/>
                        </a:rPr>
                        <a:t> </a:t>
                      </a:r>
                      <a:r>
                        <a:rPr lang="en-US" sz="1100" kern="100" dirty="0">
                          <a:effectLst/>
                        </a:rPr>
                        <a:t>6.</a:t>
                      </a:r>
                      <a:r>
                        <a:rPr lang="zh-TW" sz="1100" kern="100" dirty="0">
                          <a:effectLst/>
                        </a:rPr>
                        <a:t>信用</a:t>
                      </a:r>
                      <a:r>
                        <a:rPr lang="zh-TW" altLang="en-US" sz="1100" kern="100" dirty="0">
                          <a:effectLst/>
                        </a:rPr>
                        <a:t>          </a:t>
                      </a:r>
                      <a:r>
                        <a:rPr lang="en-US" sz="1100" kern="100" dirty="0">
                          <a:effectLst/>
                        </a:rPr>
                        <a:t>7.</a:t>
                      </a:r>
                      <a:r>
                        <a:rPr lang="zh-TW" sz="1100" kern="100" dirty="0">
                          <a:effectLst/>
                        </a:rPr>
                        <a:t>完整性</a:t>
                      </a:r>
                      <a:r>
                        <a:rPr lang="en-US" sz="1100" kern="100" dirty="0">
                          <a:effectLst/>
                        </a:rPr>
                        <a:t>          8.</a:t>
                      </a:r>
                      <a:r>
                        <a:rPr lang="zh-TW" sz="1100" kern="100" dirty="0">
                          <a:effectLst/>
                        </a:rPr>
                        <a:t>禮儀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66012896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Rust &amp; Oliver</a:t>
                      </a:r>
                      <a:br>
                        <a:rPr lang="en-US" sz="1100" kern="100">
                          <a:effectLst/>
                        </a:rPr>
                      </a:br>
                      <a:r>
                        <a:rPr lang="en-US" sz="1100" kern="100">
                          <a:effectLst/>
                        </a:rPr>
                        <a:t>(1994)</a:t>
                      </a:r>
                      <a:endParaRPr lang="zh-TW" sz="11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</a:t>
                      </a:r>
                      <a:r>
                        <a:rPr lang="zh-TW" sz="1100" kern="100" dirty="0">
                          <a:effectLst/>
                        </a:rPr>
                        <a:t>服務產品（</a:t>
                      </a:r>
                      <a:r>
                        <a:rPr lang="en-US" sz="1100" kern="100" dirty="0">
                          <a:effectLst/>
                        </a:rPr>
                        <a:t>Service </a:t>
                      </a:r>
                      <a:r>
                        <a:rPr lang="en-US" sz="1100" kern="100" dirty="0" err="1">
                          <a:effectLst/>
                        </a:rPr>
                        <a:t>Produt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zh-TW" altLang="en-US" sz="1100" kern="100" dirty="0">
                          <a:effectLst/>
                        </a:rPr>
                        <a:t>      </a:t>
                      </a:r>
                      <a:r>
                        <a:rPr lang="en-US" sz="1100" kern="100" dirty="0">
                          <a:effectLst/>
                        </a:rPr>
                        <a:t>2.</a:t>
                      </a:r>
                      <a:r>
                        <a:rPr lang="zh-TW" sz="1100" kern="100" dirty="0">
                          <a:effectLst/>
                        </a:rPr>
                        <a:t>服務傳遞（</a:t>
                      </a:r>
                      <a:r>
                        <a:rPr lang="en-US" sz="1100" kern="100" dirty="0">
                          <a:effectLst/>
                        </a:rPr>
                        <a:t>Service Deliver</a:t>
                      </a:r>
                      <a:r>
                        <a:rPr lang="zh-TW" sz="1100" kern="100" dirty="0">
                          <a:effectLst/>
                        </a:rPr>
                        <a:t>）</a:t>
                      </a:r>
                      <a:r>
                        <a:rPr lang="zh-TW" altLang="en-US" sz="1100" kern="100" dirty="0">
                          <a:effectLst/>
                        </a:rPr>
                        <a:t>         </a:t>
                      </a:r>
                      <a:r>
                        <a:rPr lang="en-US" sz="1100" kern="100" dirty="0">
                          <a:effectLst/>
                        </a:rPr>
                        <a:t>3.</a:t>
                      </a:r>
                      <a:r>
                        <a:rPr lang="zh-TW" sz="1100" kern="100" dirty="0">
                          <a:effectLst/>
                        </a:rPr>
                        <a:t>服務環境</a:t>
                      </a:r>
                      <a:r>
                        <a:rPr lang="en-US" sz="1100" kern="100" dirty="0">
                          <a:effectLst/>
                        </a:rPr>
                        <a:t>(Service Environment)</a:t>
                      </a:r>
                      <a:endParaRPr lang="zh-TW" sz="11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5909" marR="5909" marT="0" marB="0" anchor="ctr"/>
                </a:tc>
                <a:extLst>
                  <a:ext uri="{0D108BD9-81ED-4DB2-BD59-A6C34878D82A}">
                    <a16:rowId xmlns:a16="http://schemas.microsoft.com/office/drawing/2014/main" val="552792235"/>
                  </a:ext>
                </a:extLst>
              </a:tr>
            </a:tbl>
          </a:graphicData>
        </a:graphic>
      </p:graphicFrame>
      <p:sp>
        <p:nvSpPr>
          <p:cNvPr id="27" name="文本占位符 26"/>
          <p:cNvSpPr>
            <a:spLocks noGrp="1"/>
          </p:cNvSpPr>
          <p:nvPr>
            <p:ph type="body" sz="quarter" idx="10"/>
          </p:nvPr>
        </p:nvSpPr>
        <p:spPr>
          <a:xfrm>
            <a:off x="295141" y="380903"/>
            <a:ext cx="2927797" cy="466281"/>
          </a:xfrm>
        </p:spPr>
        <p:txBody>
          <a:bodyPr/>
          <a:lstStyle/>
          <a:p>
            <a:r>
              <a:rPr lang="zh-TW" altLang="en-US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服務品質構面</a:t>
            </a:r>
            <a:endParaRPr lang="zh-CN" altLang="en-US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46814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26"/>
          <p:cNvSpPr>
            <a:spLocks noGrp="1"/>
          </p:cNvSpPr>
          <p:nvPr>
            <p:ph type="body" sz="quarter" idx="10"/>
          </p:nvPr>
        </p:nvSpPr>
        <p:spPr>
          <a:xfrm>
            <a:off x="297923" y="353561"/>
            <a:ext cx="6784342" cy="466281"/>
          </a:xfrm>
        </p:spPr>
        <p:txBody>
          <a:bodyPr/>
          <a:lstStyle/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SERVQUAL model (PZB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服務品質模式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5763" y="1118051"/>
            <a:ext cx="8372475" cy="606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30000"/>
              </a:lnSpc>
              <a:defRPr/>
            </a:pPr>
            <a:r>
              <a:rPr lang="en-US" altLang="zh-TW" sz="1350" kern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Parasuraman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、</a:t>
            </a:r>
            <a:r>
              <a:rPr lang="en-US" altLang="zh-TW" sz="1350" kern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Zeithaml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、 </a:t>
            </a:r>
            <a:r>
              <a:rPr lang="en-US" altLang="zh-TW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Berry(1985)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三位學者認為服務品質的優劣，是針對顧客對服務品質的期望</a:t>
            </a:r>
            <a:r>
              <a:rPr lang="en-US" altLang="zh-TW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(ES)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，</a:t>
            </a:r>
            <a:endParaRPr lang="en-US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及顧客實際感受的服務 </a:t>
            </a:r>
            <a:r>
              <a:rPr lang="en-US" altLang="zh-TW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(PS)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，進行差距衡量，若 </a:t>
            </a:r>
            <a:r>
              <a:rPr lang="en-US" altLang="zh-TW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ES≦PS 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為高服務品質，</a:t>
            </a:r>
            <a:r>
              <a:rPr lang="en-US" altLang="zh-TW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ES&gt;PS 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則為低服務品質。</a:t>
            </a:r>
            <a:endParaRPr lang="zh-TW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740551" y="1971675"/>
            <a:ext cx="7803374" cy="2985274"/>
            <a:chOff x="0" y="0"/>
            <a:chExt cx="6940659" cy="6288646"/>
          </a:xfrm>
        </p:grpSpPr>
        <p:sp>
          <p:nvSpPr>
            <p:cNvPr id="5" name="文字方塊 2"/>
            <p:cNvSpPr txBox="1">
              <a:spLocks noChangeArrowheads="1"/>
            </p:cNvSpPr>
            <p:nvPr/>
          </p:nvSpPr>
          <p:spPr bwMode="auto">
            <a:xfrm>
              <a:off x="1481959" y="0"/>
              <a:ext cx="1052830" cy="549275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68580" tIns="34290" rIns="68580" bIns="34290" anchor="t" anchorCtr="0">
              <a:noAutofit/>
            </a:bodyPr>
            <a:lstStyle/>
            <a:p>
              <a:pPr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口碑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6" name="文字方塊 2"/>
            <p:cNvSpPr txBox="1">
              <a:spLocks noChangeArrowheads="1"/>
            </p:cNvSpPr>
            <p:nvPr/>
          </p:nvSpPr>
          <p:spPr bwMode="auto">
            <a:xfrm>
              <a:off x="4587766" y="0"/>
              <a:ext cx="1052830" cy="549275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68580" tIns="34290" rIns="68580" bIns="34290" anchor="t" anchorCtr="0">
              <a:noAutofit/>
            </a:bodyPr>
            <a:lstStyle/>
            <a:p>
              <a:pPr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過去經驗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7" name="文字方塊 8"/>
            <p:cNvSpPr txBox="1">
              <a:spLocks noChangeArrowheads="1"/>
            </p:cNvSpPr>
            <p:nvPr/>
          </p:nvSpPr>
          <p:spPr bwMode="auto">
            <a:xfrm>
              <a:off x="3026979" y="0"/>
              <a:ext cx="1052830" cy="549275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68580" tIns="34290" rIns="68580" bIns="34290" anchor="t" anchorCtr="0">
              <a:noAutofit/>
            </a:bodyPr>
            <a:lstStyle/>
            <a:p>
              <a:pPr algn="ctr"/>
              <a:r>
                <a:rPr lang="zh-TW" altLang="en-US" sz="1200" dirty="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個人需求</a:t>
              </a:r>
              <a:endParaRPr lang="zh-TW" altLang="en-US" sz="825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cxnSp>
          <p:nvCxnSpPr>
            <p:cNvPr id="8" name="直線接點 7"/>
            <p:cNvCxnSpPr/>
            <p:nvPr/>
          </p:nvCxnSpPr>
          <p:spPr>
            <a:xfrm flipH="1">
              <a:off x="2002221" y="551793"/>
              <a:ext cx="0" cy="45113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 flipH="1">
              <a:off x="5123793" y="551793"/>
              <a:ext cx="0" cy="45113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2002221" y="993228"/>
              <a:ext cx="311642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 flipH="1">
              <a:off x="3547241" y="551793"/>
              <a:ext cx="14423" cy="865012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2"/>
            <p:cNvSpPr txBox="1">
              <a:spLocks noChangeArrowheads="1"/>
            </p:cNvSpPr>
            <p:nvPr/>
          </p:nvSpPr>
          <p:spPr bwMode="auto">
            <a:xfrm>
              <a:off x="2806262" y="1418897"/>
              <a:ext cx="1498600" cy="549275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68580" tIns="34290" rIns="68580" bIns="34290" anchor="t" anchorCtr="0">
              <a:noAutofit/>
            </a:bodyPr>
            <a:lstStyle/>
            <a:p>
              <a:pPr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期望的服務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13" name="文字方塊 2"/>
            <p:cNvSpPr txBox="1">
              <a:spLocks noChangeArrowheads="1"/>
            </p:cNvSpPr>
            <p:nvPr/>
          </p:nvSpPr>
          <p:spPr bwMode="auto">
            <a:xfrm>
              <a:off x="2806262" y="2380593"/>
              <a:ext cx="1498600" cy="549275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68580" tIns="34290" rIns="68580" bIns="34290" anchor="t" anchorCtr="0">
              <a:noAutofit/>
            </a:bodyPr>
            <a:lstStyle/>
            <a:p>
              <a:pPr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實際的服務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4303986" y="1686910"/>
              <a:ext cx="400273" cy="975175"/>
              <a:chOff x="0" y="0"/>
              <a:chExt cx="400273" cy="975175"/>
            </a:xfrm>
          </p:grpSpPr>
          <p:cxnSp>
            <p:nvCxnSpPr>
              <p:cNvPr id="23" name="直線接點 22"/>
              <p:cNvCxnSpPr/>
              <p:nvPr/>
            </p:nvCxnSpPr>
            <p:spPr>
              <a:xfrm flipH="1">
                <a:off x="0" y="0"/>
                <a:ext cx="397510" cy="0"/>
              </a:xfrm>
              <a:prstGeom prst="line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線接點 23"/>
              <p:cNvCxnSpPr/>
              <p:nvPr/>
            </p:nvCxnSpPr>
            <p:spPr>
              <a:xfrm flipH="1">
                <a:off x="2763" y="975175"/>
                <a:ext cx="397510" cy="0"/>
              </a:xfrm>
              <a:prstGeom prst="line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/>
              <p:cNvCxnSpPr/>
              <p:nvPr/>
            </p:nvCxnSpPr>
            <p:spPr>
              <a:xfrm flipH="1">
                <a:off x="389518" y="0"/>
                <a:ext cx="0" cy="972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群組 14"/>
            <p:cNvGrpSpPr/>
            <p:nvPr/>
          </p:nvGrpSpPr>
          <p:grpSpPr>
            <a:xfrm flipH="1">
              <a:off x="2396359" y="1686910"/>
              <a:ext cx="400273" cy="975175"/>
              <a:chOff x="0" y="0"/>
              <a:chExt cx="400273" cy="975175"/>
            </a:xfrm>
          </p:grpSpPr>
          <p:cxnSp>
            <p:nvCxnSpPr>
              <p:cNvPr id="20" name="直線接點 19"/>
              <p:cNvCxnSpPr/>
              <p:nvPr/>
            </p:nvCxnSpPr>
            <p:spPr>
              <a:xfrm flipH="1">
                <a:off x="0" y="0"/>
                <a:ext cx="397510" cy="0"/>
              </a:xfrm>
              <a:prstGeom prst="line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線接點 20"/>
              <p:cNvCxnSpPr/>
              <p:nvPr/>
            </p:nvCxnSpPr>
            <p:spPr>
              <a:xfrm flipH="1">
                <a:off x="2763" y="975175"/>
                <a:ext cx="397510" cy="0"/>
              </a:xfrm>
              <a:prstGeom prst="line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/>
              <p:cNvCxnSpPr/>
              <p:nvPr/>
            </p:nvCxnSpPr>
            <p:spPr>
              <a:xfrm flipH="1">
                <a:off x="389518" y="0"/>
                <a:ext cx="0" cy="972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線接點 15"/>
            <p:cNvCxnSpPr/>
            <p:nvPr/>
          </p:nvCxnSpPr>
          <p:spPr>
            <a:xfrm flipH="1">
              <a:off x="2096814" y="2175641"/>
              <a:ext cx="30604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文字方塊 2"/>
            <p:cNvSpPr txBox="1">
              <a:spLocks noChangeArrowheads="1"/>
            </p:cNvSpPr>
            <p:nvPr/>
          </p:nvSpPr>
          <p:spPr bwMode="auto">
            <a:xfrm>
              <a:off x="0" y="1245476"/>
              <a:ext cx="2095500" cy="5043170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68580" tIns="34290" rIns="68580" bIns="34290" anchor="t" anchorCtr="0">
              <a:noAutofit/>
            </a:bodyPr>
            <a:lstStyle/>
            <a:p>
              <a:pPr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決定服務品質的要素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有形性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可靠性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反應性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勝任性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禮貌性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可信性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安全性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可及性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溝通性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新細明體" panose="02020500000000000000" pitchFamily="18" charset="-120"/>
                  <a:ea typeface="標楷體" panose="03000509000000000000" pitchFamily="65" charset="-120"/>
                  <a:cs typeface="新細明體" panose="02020500000000000000" pitchFamily="18" charset="-120"/>
                </a:rPr>
                <a:t>瞭解性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cxnSp>
          <p:nvCxnSpPr>
            <p:cNvPr id="18" name="直線接點 17"/>
            <p:cNvCxnSpPr/>
            <p:nvPr/>
          </p:nvCxnSpPr>
          <p:spPr>
            <a:xfrm flipV="1">
              <a:off x="4698124" y="2175641"/>
              <a:ext cx="314821" cy="0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文字方塊 2"/>
            <p:cNvSpPr txBox="1">
              <a:spLocks noChangeArrowheads="1"/>
            </p:cNvSpPr>
            <p:nvPr/>
          </p:nvSpPr>
          <p:spPr bwMode="auto">
            <a:xfrm>
              <a:off x="5013434" y="1324303"/>
              <a:ext cx="1927225" cy="3214370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68580" tIns="34290" rIns="68580" bIns="34290" anchor="t" anchorCtr="0">
              <a:noAutofit/>
            </a:bodyPr>
            <a:lstStyle/>
            <a:p>
              <a:pPr algn="ctr"/>
              <a:r>
                <a:rPr lang="zh-TW" altLang="en-US" sz="1200">
                  <a:latin typeface="Times New Roman" panose="02020603050405020304" pitchFamily="18" charset="0"/>
                  <a:ea typeface="標楷體" panose="03000509000000000000" pitchFamily="65" charset="-120"/>
                  <a:cs typeface="新細明體" panose="02020500000000000000" pitchFamily="18" charset="-120"/>
                </a:rPr>
                <a:t>認知的服務品質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Times New Roman" panose="02020603050405020304" pitchFamily="18" charset="0"/>
                  <a:ea typeface="標楷體" panose="03000509000000000000" pitchFamily="65" charset="-120"/>
                  <a:cs typeface="新細明體" panose="02020500000000000000" pitchFamily="18" charset="-120"/>
                </a:rPr>
                <a:t>低於期望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algn="ctr"/>
              <a:r>
                <a:rPr lang="en-US" altLang="zh-TW" sz="1200">
                  <a:latin typeface="新細明體" panose="02020500000000000000" pitchFamily="18" charset="-120"/>
                  <a:ea typeface="Times New Roman" panose="02020603050405020304" pitchFamily="18" charset="0"/>
                  <a:cs typeface="新細明體" panose="02020500000000000000" pitchFamily="18" charset="-120"/>
                </a:rPr>
                <a:t>ES&gt;PS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Times New Roman" panose="02020603050405020304" pitchFamily="18" charset="0"/>
                  <a:ea typeface="標楷體" panose="03000509000000000000" pitchFamily="65" charset="-120"/>
                  <a:cs typeface="新細明體" panose="02020500000000000000" pitchFamily="18" charset="-120"/>
                </a:rPr>
                <a:t>滿足期望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algn="ctr"/>
              <a:r>
                <a:rPr lang="en-US" altLang="zh-TW" sz="1200">
                  <a:latin typeface="新細明體" panose="02020500000000000000" pitchFamily="18" charset="-120"/>
                  <a:ea typeface="Times New Roman" panose="02020603050405020304" pitchFamily="18" charset="0"/>
                  <a:cs typeface="新細明體" panose="02020500000000000000" pitchFamily="18" charset="-120"/>
                </a:rPr>
                <a:t>ES=PS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indent="-228600" algn="ctr"/>
              <a:r>
                <a:rPr lang="zh-TW" altLang="en-US" sz="1200">
                  <a:latin typeface="Times New Roman" panose="02020603050405020304" pitchFamily="18" charset="0"/>
                  <a:ea typeface="標楷體" panose="03000509000000000000" pitchFamily="65" charset="-120"/>
                  <a:cs typeface="新細明體" panose="02020500000000000000" pitchFamily="18" charset="-120"/>
                </a:rPr>
                <a:t>超過期望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marL="228600" algn="ctr"/>
              <a:r>
                <a:rPr lang="en-US" altLang="zh-TW" sz="1200">
                  <a:latin typeface="新細明體" panose="02020500000000000000" pitchFamily="18" charset="-120"/>
                  <a:ea typeface="Times New Roman" panose="02020603050405020304" pitchFamily="18" charset="0"/>
                  <a:cs typeface="新細明體" panose="02020500000000000000" pitchFamily="18" charset="-120"/>
                </a:rPr>
                <a:t>ES&lt;PS</a:t>
              </a:r>
              <a:endParaRPr lang="zh-TW" altLang="en-US" sz="825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52483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26"/>
          <p:cNvSpPr>
            <a:spLocks noGrp="1"/>
          </p:cNvSpPr>
          <p:nvPr>
            <p:ph type="body" sz="quarter" idx="10"/>
          </p:nvPr>
        </p:nvSpPr>
        <p:spPr>
          <a:xfrm>
            <a:off x="414194" y="336385"/>
            <a:ext cx="3321384" cy="466281"/>
          </a:xfrm>
        </p:spPr>
        <p:txBody>
          <a:bodyPr/>
          <a:lstStyle/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TW" altLang="en-US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缺口分析</a:t>
            </a:r>
            <a:endParaRPr lang="zh-CN" altLang="en-US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16985" y="1313609"/>
            <a:ext cx="3539043" cy="3315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30000"/>
              </a:lnSpc>
              <a:defRPr/>
            </a:pPr>
            <a:r>
              <a:rPr lang="zh-TW" altLang="en-US" sz="14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◼︎ </a:t>
            </a:r>
            <a:r>
              <a:rPr lang="zh-TW" altLang="zh-TW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「服務品質(Perceived Quality)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zh-TW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認知(Perception)-期望(Expectation)」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。</a:t>
            </a:r>
            <a:endParaRPr lang="en-US" altLang="zh-TW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endParaRPr lang="en-US" altLang="zh-TW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4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◼︎</a:t>
            </a:r>
            <a:r>
              <a:rPr lang="zh-TW" altLang="zh-TW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服務品質認知的</a:t>
            </a:r>
            <a:r>
              <a:rPr lang="zh-TW" altLang="zh-TW" sz="13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差異</a:t>
            </a:r>
            <a:r>
              <a:rPr lang="zh-TW" altLang="zh-TW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是由於服務產生與傳遞的各環節中有五個</a:t>
            </a:r>
            <a:r>
              <a:rPr lang="zh-TW" altLang="zh-TW" sz="135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缺口(Gap)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endParaRPr lang="en-US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缺口一至缺口四</a:t>
            </a:r>
            <a:endParaRPr lang="en-US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4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◼︎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均由業者本身所造成的，屬於服務提供者的服務與實際感受之間的差距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endParaRPr lang="en-US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缺口五</a:t>
            </a:r>
            <a:endParaRPr lang="en-US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4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◼︎</a:t>
            </a:r>
            <a:r>
              <a:rPr lang="zh-TW" altLang="en-US" sz="135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則是消費者期望與實際認知的差異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72" y="936807"/>
            <a:ext cx="4668577" cy="434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882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26"/>
          <p:cNvSpPr>
            <a:spLocks noGrp="1"/>
          </p:cNvSpPr>
          <p:nvPr>
            <p:ph type="body" sz="quarter" idx="10"/>
          </p:nvPr>
        </p:nvSpPr>
        <p:spPr>
          <a:xfrm>
            <a:off x="440570" y="337475"/>
            <a:ext cx="2825199" cy="466281"/>
          </a:xfrm>
        </p:spPr>
        <p:txBody>
          <a:bodyPr/>
          <a:lstStyle/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TW" altLang="zh-TW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SERVQUAL量表</a:t>
            </a:r>
            <a:endParaRPr lang="zh-CN" altLang="en-US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06364" y="1873397"/>
            <a:ext cx="4086450" cy="277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30000"/>
              </a:lnSpc>
              <a:defRPr/>
            </a:pPr>
            <a:r>
              <a:rPr lang="en-US" altLang="zh-TW" sz="1350" dirty="0"/>
              <a:t>Carman(1990)</a:t>
            </a:r>
            <a:r>
              <a:rPr lang="zh-TW" altLang="en-US" sz="1350" dirty="0"/>
              <a:t>認為預期應為事前的資料，知覺為事後的資料，指出</a:t>
            </a:r>
            <a:r>
              <a:rPr lang="en-US" altLang="zh-TW" sz="1350" dirty="0" err="1"/>
              <a:t>Parasuraman</a:t>
            </a:r>
            <a:r>
              <a:rPr lang="en-US" altLang="zh-TW" sz="1350" dirty="0"/>
              <a:t> et al.(1988)</a:t>
            </a:r>
            <a:r>
              <a:rPr lang="zh-TW" altLang="en-US" sz="1350" dirty="0"/>
              <a:t>所用的預期與知覺資料皆為事後的資料，在顧客接受服務後調查對於此服務的預期，所得到的資料會產生誤差。</a:t>
            </a:r>
            <a:endParaRPr lang="en-US" altLang="zh-TW" sz="1350" dirty="0"/>
          </a:p>
          <a:p>
            <a:pPr algn="just" defTabSz="685800">
              <a:lnSpc>
                <a:spcPct val="130000"/>
              </a:lnSpc>
              <a:defRPr/>
            </a:pPr>
            <a:endParaRPr lang="en-US" altLang="zh-TW" sz="1350" dirty="0"/>
          </a:p>
          <a:p>
            <a:pPr algn="just" defTabSz="685800">
              <a:lnSpc>
                <a:spcPct val="130000"/>
              </a:lnSpc>
              <a:defRPr/>
            </a:pPr>
            <a:r>
              <a:rPr lang="en-US" altLang="zh-TW" sz="1350" dirty="0" err="1"/>
              <a:t>Parasuraman</a:t>
            </a:r>
            <a:r>
              <a:rPr lang="en-US" altLang="zh-TW" sz="1350" dirty="0"/>
              <a:t> et al.(1991)</a:t>
            </a:r>
            <a:r>
              <a:rPr lang="zh-TW" altLang="en-US" sz="1350" dirty="0"/>
              <a:t>提出了一些對於</a:t>
            </a:r>
            <a:r>
              <a:rPr lang="en-US" altLang="zh-TW" sz="1350" dirty="0"/>
              <a:t>SERVQUAL</a:t>
            </a:r>
            <a:r>
              <a:rPr lang="zh-TW" altLang="en-US" sz="1350" dirty="0"/>
              <a:t>的修改：</a:t>
            </a:r>
            <a:endParaRPr lang="en-US" altLang="zh-TW" sz="1350" dirty="0"/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350" dirty="0"/>
              <a:t>（</a:t>
            </a:r>
            <a:r>
              <a:rPr lang="en-US" altLang="zh-TW" sz="1350" dirty="0"/>
              <a:t>1</a:t>
            </a:r>
            <a:r>
              <a:rPr lang="zh-TW" altLang="en-US" sz="1350" dirty="0"/>
              <a:t>）將問項中的負向語氣改為正向的語氣。</a:t>
            </a:r>
            <a:endParaRPr lang="en-US" altLang="zh-TW" sz="1350" dirty="0"/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350" dirty="0"/>
              <a:t>（</a:t>
            </a:r>
            <a:r>
              <a:rPr lang="en-US" altLang="zh-TW" sz="1350" dirty="0"/>
              <a:t>2</a:t>
            </a:r>
            <a:r>
              <a:rPr lang="zh-TW" altLang="en-US" sz="1350" dirty="0"/>
              <a:t>）修改實體性與保證性的問項。</a:t>
            </a:r>
            <a:endParaRPr lang="en-US" altLang="zh-TW" sz="1350" dirty="0"/>
          </a:p>
          <a:p>
            <a:pPr algn="just" defTabSz="685800">
              <a:lnSpc>
                <a:spcPct val="130000"/>
              </a:lnSpc>
              <a:defRPr/>
            </a:pPr>
            <a:r>
              <a:rPr lang="zh-TW" altLang="en-US" sz="1350" dirty="0"/>
              <a:t>（</a:t>
            </a:r>
            <a:r>
              <a:rPr lang="en-US" altLang="zh-TW" sz="1350" dirty="0"/>
              <a:t>3</a:t>
            </a:r>
            <a:r>
              <a:rPr lang="zh-TW" altLang="en-US" sz="1350" dirty="0"/>
              <a:t>）改變各構面的衡量權重，區別各構面的重要性。</a:t>
            </a:r>
            <a:endParaRPr lang="zh-TW" altLang="zh-TW" sz="1350" kern="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11906"/>
              </p:ext>
            </p:extLst>
          </p:nvPr>
        </p:nvGraphicFramePr>
        <p:xfrm>
          <a:off x="619858" y="1131724"/>
          <a:ext cx="4163922" cy="37795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16219">
                  <a:extLst>
                    <a:ext uri="{9D8B030D-6E8A-4147-A177-3AD203B41FA5}">
                      <a16:colId xmlns:a16="http://schemas.microsoft.com/office/drawing/2014/main" val="1096799274"/>
                    </a:ext>
                  </a:extLst>
                </a:gridCol>
                <a:gridCol w="892342">
                  <a:extLst>
                    <a:ext uri="{9D8B030D-6E8A-4147-A177-3AD203B41FA5}">
                      <a16:colId xmlns:a16="http://schemas.microsoft.com/office/drawing/2014/main" val="3054977526"/>
                    </a:ext>
                  </a:extLst>
                </a:gridCol>
                <a:gridCol w="2355361">
                  <a:extLst>
                    <a:ext uri="{9D8B030D-6E8A-4147-A177-3AD203B41FA5}">
                      <a16:colId xmlns:a16="http://schemas.microsoft.com/office/drawing/2014/main" val="807617521"/>
                    </a:ext>
                  </a:extLst>
                </a:gridCol>
              </a:tblGrid>
              <a:tr h="2305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 dirty="0">
                          <a:effectLst/>
                        </a:rPr>
                        <a:t>原</a:t>
                      </a:r>
                      <a:r>
                        <a:rPr lang="en-US" sz="800" kern="100" dirty="0">
                          <a:effectLst/>
                        </a:rPr>
                        <a:t>PZB</a:t>
                      </a:r>
                      <a:r>
                        <a:rPr lang="zh-TW" sz="800" kern="100" dirty="0">
                          <a:effectLst/>
                        </a:rPr>
                        <a:t>因素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effectLst/>
                        </a:rPr>
                        <a:t>(1985)</a:t>
                      </a:r>
                      <a:endParaRPr lang="zh-TW" sz="8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修改</a:t>
                      </a:r>
                      <a:r>
                        <a:rPr lang="en-US" sz="800" kern="100">
                          <a:effectLst/>
                        </a:rPr>
                        <a:t>PZB</a:t>
                      </a:r>
                      <a:r>
                        <a:rPr lang="zh-TW" sz="800" kern="100">
                          <a:effectLst/>
                        </a:rPr>
                        <a:t>因素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(1988)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評量項目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75028"/>
                  </a:ext>
                </a:extLst>
              </a:tr>
              <a:tr h="4610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有形性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(tangible)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 dirty="0">
                          <a:effectLst/>
                        </a:rPr>
                        <a:t>有形性</a:t>
                      </a:r>
                      <a:br>
                        <a:rPr lang="en-US" sz="800" kern="100" dirty="0">
                          <a:effectLst/>
                        </a:rPr>
                      </a:br>
                      <a:r>
                        <a:rPr lang="en-US" sz="800" kern="100" dirty="0">
                          <a:effectLst/>
                        </a:rPr>
                        <a:t>(tangible)</a:t>
                      </a:r>
                      <a:endParaRPr lang="zh-TW" sz="8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1. </a:t>
                      </a:r>
                      <a:r>
                        <a:rPr lang="zh-TW" sz="800" kern="100">
                          <a:effectLst/>
                        </a:rPr>
                        <a:t>公司具有現代化的設備。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2. </a:t>
                      </a:r>
                      <a:r>
                        <a:rPr lang="zh-TW" sz="800" kern="100">
                          <a:effectLst/>
                        </a:rPr>
                        <a:t>公司的設施在視覺上是吸引人的。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3. </a:t>
                      </a:r>
                      <a:r>
                        <a:rPr lang="zh-TW" sz="800" kern="100">
                          <a:effectLst/>
                        </a:rPr>
                        <a:t>員工穿著應是得體且整潔的。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4. </a:t>
                      </a:r>
                      <a:r>
                        <a:rPr lang="zh-TW" sz="800" kern="100">
                          <a:effectLst/>
                        </a:rPr>
                        <a:t>公司各項設施與所提供的服務相符合。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458364"/>
                  </a:ext>
                </a:extLst>
              </a:tr>
              <a:tr h="6915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可靠性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(reliability)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可靠性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(reliability)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5. </a:t>
                      </a:r>
                      <a:r>
                        <a:rPr lang="zh-TW" sz="800" kern="100">
                          <a:effectLst/>
                        </a:rPr>
                        <a:t>公司對顧客所承諾會即時完成。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6. </a:t>
                      </a:r>
                      <a:r>
                        <a:rPr lang="zh-TW" sz="800" kern="100">
                          <a:effectLst/>
                        </a:rPr>
                        <a:t>當顧客遭遇困難時，能主動表現出關心並提供協助。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7. </a:t>
                      </a:r>
                      <a:r>
                        <a:rPr lang="zh-TW" sz="800" kern="100">
                          <a:effectLst/>
                        </a:rPr>
                        <a:t>公司能於第一時間提供完善的服務。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8. </a:t>
                      </a:r>
                      <a:r>
                        <a:rPr lang="zh-TW" sz="800" kern="100">
                          <a:effectLst/>
                        </a:rPr>
                        <a:t>公司會於承諾時間內提供適當的服務。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9. </a:t>
                      </a:r>
                      <a:r>
                        <a:rPr lang="zh-TW" sz="800" kern="100">
                          <a:effectLst/>
                        </a:rPr>
                        <a:t>公司能保持紀錄的準確性。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33353"/>
                  </a:ext>
                </a:extLst>
              </a:tr>
              <a:tr h="5803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反應性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(responsiveness)</a:t>
                      </a:r>
                      <a:endParaRPr lang="zh-TW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溝通性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(communication)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反應性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(responsiveness)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10. </a:t>
                      </a:r>
                      <a:r>
                        <a:rPr lang="zh-TW" sz="800" kern="100">
                          <a:effectLst/>
                        </a:rPr>
                        <a:t>在何時提供服務並不會告知顧客。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11.</a:t>
                      </a:r>
                      <a:r>
                        <a:rPr lang="zh-TW" sz="800" kern="100">
                          <a:effectLst/>
                        </a:rPr>
                        <a:t>顧客無法迅速地從員工那裡得到服務。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12.</a:t>
                      </a:r>
                      <a:r>
                        <a:rPr lang="zh-TW" sz="800" kern="100">
                          <a:effectLst/>
                        </a:rPr>
                        <a:t>員工並不總是願意幫助顧客。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13.</a:t>
                      </a:r>
                      <a:r>
                        <a:rPr lang="zh-TW" sz="800" kern="100">
                          <a:effectLst/>
                        </a:rPr>
                        <a:t>員工因為太忙以至於無法立即提供服務滿足顧客需求。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681577"/>
                  </a:ext>
                </a:extLst>
              </a:tr>
              <a:tr h="9221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勝任性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(competence)</a:t>
                      </a:r>
                      <a:endParaRPr lang="zh-TW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禮貌性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(courtesy)</a:t>
                      </a:r>
                      <a:endParaRPr lang="zh-TW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可信性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(credibility)</a:t>
                      </a:r>
                      <a:endParaRPr lang="zh-TW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安全性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(security)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保證性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(assurance)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14. </a:t>
                      </a:r>
                      <a:r>
                        <a:rPr lang="zh-TW" sz="800" kern="100">
                          <a:effectLst/>
                        </a:rPr>
                        <a:t>員工的行為能讓顧客感到信賴。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15. </a:t>
                      </a:r>
                      <a:r>
                        <a:rPr lang="zh-TW" sz="800" kern="100">
                          <a:effectLst/>
                        </a:rPr>
                        <a:t>顧客對於與公司的交易感到安心。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16. </a:t>
                      </a:r>
                      <a:r>
                        <a:rPr lang="zh-TW" sz="800" kern="100">
                          <a:effectLst/>
                        </a:rPr>
                        <a:t>公司的員工很有禮貌。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17. </a:t>
                      </a:r>
                      <a:r>
                        <a:rPr lang="zh-TW" sz="800" kern="100">
                          <a:effectLst/>
                        </a:rPr>
                        <a:t>員工在回答問題時有專業知識。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264810"/>
                  </a:ext>
                </a:extLst>
              </a:tr>
              <a:tr h="6915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可及性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(access)</a:t>
                      </a:r>
                      <a:endParaRPr lang="zh-TW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>
                          <a:effectLst/>
                        </a:rPr>
                        <a:t>瞭解性</a:t>
                      </a:r>
                      <a:br>
                        <a:rPr lang="en-US" sz="800" kern="100">
                          <a:effectLst/>
                        </a:rPr>
                      </a:br>
                      <a:r>
                        <a:rPr lang="en-US" sz="800" kern="100">
                          <a:effectLst/>
                        </a:rPr>
                        <a:t>(understanding)</a:t>
                      </a:r>
                      <a:endParaRPr lang="zh-TW" sz="800" kern="1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800" kern="100" dirty="0">
                          <a:effectLst/>
                        </a:rPr>
                        <a:t>關懷性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effectLst/>
                        </a:rPr>
                        <a:t>(empathy)</a:t>
                      </a:r>
                      <a:endParaRPr lang="zh-TW" sz="8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effectLst/>
                        </a:rPr>
                        <a:t>18. </a:t>
                      </a:r>
                      <a:r>
                        <a:rPr lang="zh-TW" sz="800" kern="100" dirty="0">
                          <a:effectLst/>
                        </a:rPr>
                        <a:t>公司不會對不同的顧客提供個別服務。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effectLst/>
                        </a:rPr>
                        <a:t>19. </a:t>
                      </a:r>
                      <a:r>
                        <a:rPr lang="zh-TW" sz="800" kern="100" dirty="0">
                          <a:effectLst/>
                        </a:rPr>
                        <a:t>員工不會給予顧客個別的關懷。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effectLst/>
                        </a:rPr>
                        <a:t>20. </a:t>
                      </a:r>
                      <a:r>
                        <a:rPr lang="zh-TW" sz="800" kern="100" dirty="0">
                          <a:effectLst/>
                        </a:rPr>
                        <a:t>不能期望員工會瞭解顧客的需求。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effectLst/>
                        </a:rPr>
                        <a:t>21. </a:t>
                      </a:r>
                      <a:r>
                        <a:rPr lang="zh-TW" sz="800" kern="100" dirty="0">
                          <a:effectLst/>
                        </a:rPr>
                        <a:t>公司沒有把顧客的利益列為優先考量。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effectLst/>
                        </a:rPr>
                        <a:t>22. </a:t>
                      </a:r>
                      <a:r>
                        <a:rPr lang="zh-TW" sz="800" kern="100" dirty="0">
                          <a:effectLst/>
                        </a:rPr>
                        <a:t>公司提供的服務時間並不能符合所有顧客的需求。</a:t>
                      </a:r>
                      <a:endParaRPr lang="zh-TW" sz="800" kern="1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39478" marR="394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988687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369235" y="5159952"/>
            <a:ext cx="1702710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825" kern="0" dirty="0">
                <a:ea typeface="新細明體" panose="02020500000000000000" pitchFamily="18" charset="-120"/>
                <a:cs typeface="新細明體" panose="02020500000000000000" pitchFamily="18" charset="-120"/>
              </a:rPr>
              <a:t>應用SERVQUAL構面</a:t>
            </a:r>
            <a:r>
              <a:rPr lang="zh-TW" altLang="en-US" sz="825" kern="0" dirty="0">
                <a:ea typeface="新細明體" panose="02020500000000000000" pitchFamily="18" charset="-120"/>
                <a:cs typeface="新細明體" panose="02020500000000000000" pitchFamily="18" charset="-120"/>
              </a:rPr>
              <a:t>整理在本文裡</a:t>
            </a:r>
            <a:endParaRPr lang="zh-TW" altLang="en-US" sz="825" dirty="0"/>
          </a:p>
        </p:txBody>
      </p:sp>
    </p:spTree>
    <p:extLst>
      <p:ext uri="{BB962C8B-B14F-4D97-AF65-F5344CB8AC3E}">
        <p14:creationId xmlns:p14="http://schemas.microsoft.com/office/powerpoint/2010/main" val="34355640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26"/>
          <p:cNvSpPr>
            <a:spLocks noGrp="1"/>
          </p:cNvSpPr>
          <p:nvPr>
            <p:ph type="body" sz="quarter" idx="10"/>
          </p:nvPr>
        </p:nvSpPr>
        <p:spPr>
          <a:xfrm>
            <a:off x="412607" y="356570"/>
            <a:ext cx="3232760" cy="466281"/>
          </a:xfrm>
        </p:spPr>
        <p:txBody>
          <a:bodyPr/>
          <a:lstStyle/>
          <a:p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SERVPERF model</a:t>
            </a:r>
            <a:endParaRPr lang="zh-CN" altLang="en-US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6055" y="3948892"/>
            <a:ext cx="8820978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/>
            <a:r>
              <a:rPr lang="zh-TW" altLang="en-US" sz="14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◼︎ </a:t>
            </a:r>
            <a:r>
              <a:rPr lang="en-US" altLang="zh-TW" sz="1350" dirty="0"/>
              <a:t>SERVQUAL</a:t>
            </a:r>
            <a:r>
              <a:rPr lang="zh-TW" altLang="zh-TW" sz="1350" dirty="0"/>
              <a:t>是指消費者對服務的實務認知與期望水準間的差異</a:t>
            </a:r>
            <a:endParaRPr lang="en-US" altLang="zh-TW" sz="1350" dirty="0"/>
          </a:p>
          <a:p>
            <a:pPr algn="just" hangingPunct="0"/>
            <a:endParaRPr lang="zh-TW" altLang="zh-TW" sz="1350" dirty="0"/>
          </a:p>
          <a:p>
            <a:pPr algn="just" hangingPunct="0"/>
            <a:r>
              <a:rPr lang="zh-TW" altLang="en-US" sz="14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◼︎ </a:t>
            </a:r>
            <a:r>
              <a:rPr lang="zh-TW" altLang="zh-TW" sz="1350" dirty="0"/>
              <a:t>SERVPERF最大的優點是它的簡易性與強調服務結果之績效評估的特性，此量表僅衡量服務績效，沒有去跟消費者的期望服務水準來做比較，也不經過加權程序所以比較簡單易懂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558602"/>
              </p:ext>
            </p:extLst>
          </p:nvPr>
        </p:nvGraphicFramePr>
        <p:xfrm>
          <a:off x="291577" y="942946"/>
          <a:ext cx="8490506" cy="2916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2419">
                  <a:extLst>
                    <a:ext uri="{9D8B030D-6E8A-4147-A177-3AD203B41FA5}">
                      <a16:colId xmlns:a16="http://schemas.microsoft.com/office/drawing/2014/main" val="1232309123"/>
                    </a:ext>
                  </a:extLst>
                </a:gridCol>
                <a:gridCol w="2359030">
                  <a:extLst>
                    <a:ext uri="{9D8B030D-6E8A-4147-A177-3AD203B41FA5}">
                      <a16:colId xmlns:a16="http://schemas.microsoft.com/office/drawing/2014/main" val="1699714500"/>
                    </a:ext>
                  </a:extLst>
                </a:gridCol>
                <a:gridCol w="2359030">
                  <a:extLst>
                    <a:ext uri="{9D8B030D-6E8A-4147-A177-3AD203B41FA5}">
                      <a16:colId xmlns:a16="http://schemas.microsoft.com/office/drawing/2014/main" val="107396659"/>
                    </a:ext>
                  </a:extLst>
                </a:gridCol>
                <a:gridCol w="2360027">
                  <a:extLst>
                    <a:ext uri="{9D8B030D-6E8A-4147-A177-3AD203B41FA5}">
                      <a16:colId xmlns:a16="http://schemas.microsoft.com/office/drawing/2014/main" val="2942174395"/>
                    </a:ext>
                  </a:extLst>
                </a:gridCol>
              </a:tblGrid>
              <a:tr h="270052"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SERVQUAL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修正</a:t>
                      </a:r>
                      <a:r>
                        <a:rPr lang="en-US" sz="1100" kern="100" dirty="0">
                          <a:effectLst/>
                        </a:rPr>
                        <a:t>SERVQUAL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SERVPERF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extLst>
                  <a:ext uri="{0D108BD9-81ED-4DB2-BD59-A6C34878D82A}">
                    <a16:rowId xmlns:a16="http://schemas.microsoft.com/office/drawing/2014/main" val="174769854"/>
                  </a:ext>
                </a:extLst>
              </a:tr>
              <a:tr h="470827"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服務品質的定義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對服務的期望和實際認知的差異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對服務的期望和實際認知的差異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業者執行服務的績效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extLst>
                  <a:ext uri="{0D108BD9-81ED-4DB2-BD59-A6C34878D82A}">
                    <a16:rowId xmlns:a16="http://schemas.microsoft.com/office/drawing/2014/main" val="1712811612"/>
                  </a:ext>
                </a:extLst>
              </a:tr>
              <a:tr h="270052"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表達方法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問卷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問卷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問卷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extLst>
                  <a:ext uri="{0D108BD9-81ED-4DB2-BD59-A6C34878D82A}">
                    <a16:rowId xmlns:a16="http://schemas.microsoft.com/office/drawing/2014/main" val="1527820155"/>
                  </a:ext>
                </a:extLst>
              </a:tr>
              <a:tr h="270052"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基本問項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22項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22項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22項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extLst>
                  <a:ext uri="{0D108BD9-81ED-4DB2-BD59-A6C34878D82A}">
                    <a16:rowId xmlns:a16="http://schemas.microsoft.com/office/drawing/2014/main" val="1384210097"/>
                  </a:ext>
                </a:extLst>
              </a:tr>
              <a:tr h="270052"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跨業運用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是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是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是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extLst>
                  <a:ext uri="{0D108BD9-81ED-4DB2-BD59-A6C34878D82A}">
                    <a16:rowId xmlns:a16="http://schemas.microsoft.com/office/drawing/2014/main" val="4236813893"/>
                  </a:ext>
                </a:extLst>
              </a:tr>
              <a:tr h="448181"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問項字句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正面問項60%</a:t>
                      </a:r>
                      <a:r>
                        <a:rPr lang="en-US" altLang="zh-TW" sz="1100" kern="100" dirty="0">
                          <a:effectLst/>
                        </a:rPr>
                        <a:t>    </a:t>
                      </a:r>
                      <a:r>
                        <a:rPr lang="zh-TW" sz="1100" kern="100" dirty="0">
                          <a:effectLst/>
                        </a:rPr>
                        <a:t>負面問項40%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全部皆為正面問項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正面問項60%</a:t>
                      </a:r>
                      <a:r>
                        <a:rPr lang="en-US" altLang="zh-TW" sz="1100" kern="100" dirty="0">
                          <a:effectLst/>
                        </a:rPr>
                        <a:t>   </a:t>
                      </a:r>
                      <a:r>
                        <a:rPr lang="zh-TW" sz="1100" kern="100" dirty="0">
                          <a:effectLst/>
                        </a:rPr>
                        <a:t>負面問項40%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extLst>
                  <a:ext uri="{0D108BD9-81ED-4DB2-BD59-A6C34878D82A}">
                    <a16:rowId xmlns:a16="http://schemas.microsoft.com/office/drawing/2014/main" val="735879701"/>
                  </a:ext>
                </a:extLst>
              </a:tr>
              <a:tr h="646733"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變數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Va：顧客對某一服務的期望知覺</a:t>
                      </a:r>
                    </a:p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Va：顧客對某一服務的實體知覺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Va：顧客對某一服務的期望知覺</a:t>
                      </a:r>
                    </a:p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Va：顧客對某一服務的實體知覺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Va：業者執行服務的績效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extLst>
                  <a:ext uri="{0D108BD9-81ED-4DB2-BD59-A6C34878D82A}">
                    <a16:rowId xmlns:a16="http://schemas.microsoft.com/office/drawing/2014/main" val="672337315"/>
                  </a:ext>
                </a:extLst>
              </a:tr>
              <a:tr h="270052"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問卷尺度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七點尺度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>
                          <a:effectLst/>
                        </a:rPr>
                        <a:t>七點尺度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tc>
                  <a:txBody>
                    <a:bodyPr/>
                    <a:lstStyle/>
                    <a:p>
                      <a:pPr indent="304800" algn="ctr" hangingPunc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100" kern="100" dirty="0">
                          <a:effectLst/>
                        </a:rPr>
                        <a:t>七點尺度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</a:txBody>
                  <a:tcPr marL="33995" marR="33995" marT="0" marB="0" anchor="ctr"/>
                </a:tc>
                <a:extLst>
                  <a:ext uri="{0D108BD9-81ED-4DB2-BD59-A6C34878D82A}">
                    <a16:rowId xmlns:a16="http://schemas.microsoft.com/office/drawing/2014/main" val="2971724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4677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26"/>
          <p:cNvSpPr>
            <a:spLocks noGrp="1"/>
          </p:cNvSpPr>
          <p:nvPr>
            <p:ph type="body" sz="quarter" idx="10"/>
          </p:nvPr>
        </p:nvSpPr>
        <p:spPr>
          <a:xfrm>
            <a:off x="393146" y="360704"/>
            <a:ext cx="4290471" cy="466281"/>
          </a:xfrm>
        </p:spPr>
        <p:txBody>
          <a:bodyPr/>
          <a:lstStyle/>
          <a:p>
            <a:r>
              <a:rPr lang="zh-TW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服務品質構面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資料庫圖表 3"/>
          <p:cNvGraphicFramePr/>
          <p:nvPr>
            <p:extLst>
              <p:ext uri="{D42A27DB-BD31-4B8C-83A1-F6EECF244321}">
                <p14:modId xmlns:p14="http://schemas.microsoft.com/office/powerpoint/2010/main" val="3719032388"/>
              </p:ext>
            </p:extLst>
          </p:nvPr>
        </p:nvGraphicFramePr>
        <p:xfrm>
          <a:off x="520055" y="1263717"/>
          <a:ext cx="7957931" cy="2430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70217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19A8F93-437F-482F-A7B6-C4669BD9A0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9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78D29BF-F21A-4EC9-8F47-7FE60369543F}"/>
              </a:ext>
            </a:extLst>
          </p:cNvPr>
          <p:cNvGraphicFramePr>
            <a:graphicFrameLocks noGrp="1"/>
          </p:cNvGraphicFramePr>
          <p:nvPr/>
        </p:nvGraphicFramePr>
        <p:xfrm>
          <a:off x="420020" y="1014870"/>
          <a:ext cx="3669222" cy="4180135"/>
        </p:xfrm>
        <a:graphic>
          <a:graphicData uri="http://schemas.openxmlformats.org/drawingml/2006/table">
            <a:tbl>
              <a:tblPr/>
              <a:tblGrid>
                <a:gridCol w="1127972">
                  <a:extLst>
                    <a:ext uri="{9D8B030D-6E8A-4147-A177-3AD203B41FA5}">
                      <a16:colId xmlns:a16="http://schemas.microsoft.com/office/drawing/2014/main" val="3499318684"/>
                    </a:ext>
                  </a:extLst>
                </a:gridCol>
                <a:gridCol w="252133">
                  <a:extLst>
                    <a:ext uri="{9D8B030D-6E8A-4147-A177-3AD203B41FA5}">
                      <a16:colId xmlns:a16="http://schemas.microsoft.com/office/drawing/2014/main" val="96971654"/>
                    </a:ext>
                  </a:extLst>
                </a:gridCol>
                <a:gridCol w="2289117">
                  <a:extLst>
                    <a:ext uri="{9D8B030D-6E8A-4147-A177-3AD203B41FA5}">
                      <a16:colId xmlns:a16="http://schemas.microsoft.com/office/drawing/2014/main" val="897027316"/>
                    </a:ext>
                  </a:extLst>
                </a:gridCol>
              </a:tblGrid>
              <a:tr h="16127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構面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編號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問項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566451"/>
                  </a:ext>
                </a:extLst>
              </a:tr>
              <a:tr h="167031">
                <a:tc rowSpan="8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Tangibility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front desk was visually appealing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918167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employees had clean, neat uniforms</a:t>
                      </a:r>
                      <a:endParaRPr lang="en-US" sz="500" dirty="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758404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restaurant's atmosphere was inviting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406463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shops were pleasant and attractive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040745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outdoor surroundings were visually attractive</a:t>
                      </a:r>
                      <a:endParaRPr lang="en-US" sz="500" dirty="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910528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hotel was bright and well lighted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152880"/>
                  </a:ext>
                </a:extLst>
              </a:tr>
              <a:tr h="11051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hotel's interior and exterior were well maintained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494617"/>
                  </a:ext>
                </a:extLst>
              </a:tr>
              <a:tr h="9831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hotel was clean</a:t>
                      </a:r>
                      <a:endParaRPr lang="en-US" sz="500" dirty="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593474"/>
                  </a:ext>
                </a:extLst>
              </a:tr>
              <a:tr h="167031">
                <a:tc row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Reliability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(includes original reliability and credibility dimensions)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My reservation was handled efficiently</a:t>
                      </a:r>
                      <a:endParaRPr lang="en-US" sz="500" dirty="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824016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My guestroom was ready as promised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36569"/>
                  </a:ext>
                </a:extLst>
              </a:tr>
              <a:tr h="23326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TV, radio, A/C, lights, and other mechanical equipment worked properly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358175"/>
                  </a:ext>
                </a:extLst>
              </a:tr>
              <a:tr h="10079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 got what I paid for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7563147"/>
                  </a:ext>
                </a:extLst>
              </a:tr>
              <a:tr h="167031">
                <a:tc rowSpan="5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Responsiveness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Employees responded promptly to my requests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805172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Informative literature about the hotel was provided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57535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Employees were willing to answer my questions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708717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Employees responded quickly to solve my problems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404620"/>
                  </a:ext>
                </a:extLst>
              </a:tr>
              <a:tr h="10079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Room service was prompt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826513"/>
                  </a:ext>
                </a:extLst>
              </a:tr>
              <a:tr h="167031">
                <a:tc rowSpan="5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Confidence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(includes original competence, courtesy, security, and access dimensions)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Employees knew about local places of interest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632243"/>
                  </a:ext>
                </a:extLst>
              </a:tr>
              <a:tr h="10079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Employees treated me with respect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943645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Employees were polite when answering my questions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89814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hotel provided a safe environment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72883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facilities were conveniently located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749491"/>
                  </a:ext>
                </a:extLst>
              </a:tr>
              <a:tr h="167031">
                <a:tc row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Communication </a:t>
                      </a:r>
                      <a:endParaRPr lang="en-US" sz="500">
                        <a:effectLst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(includes original communication and understanding dimensions)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Charges on my account were clearly explained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051374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 received undivided attention at the front desk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48102"/>
                  </a:ext>
                </a:extLst>
              </a:tr>
              <a:tr h="1670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Reservationists tried to find out my particular needs</a:t>
                      </a:r>
                      <a:endParaRPr lang="en-US" sz="50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418951"/>
                  </a:ext>
                </a:extLst>
              </a:tr>
              <a:tr h="10079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  <a:endParaRPr lang="zh-TW" altLang="en-US" sz="500">
                        <a:effectLst/>
                      </a:endParaRPr>
                    </a:p>
                  </a:txBody>
                  <a:tcPr marL="6424" marR="6424" marT="16520" marB="165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Employees anticipated my needs</a:t>
                      </a:r>
                      <a:endParaRPr lang="en-US" sz="500" dirty="0">
                        <a:effectLst/>
                      </a:endParaRPr>
                    </a:p>
                  </a:txBody>
                  <a:tcPr marL="6424" marR="6424" marT="16520" marB="165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09956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BC6FB1D-A4CD-4A41-8637-B2B565094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867" y="814085"/>
            <a:ext cx="104067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LQI的26項問項</a:t>
            </a:r>
            <a:endParaRPr kumimoji="0" lang="zh-TW" altLang="zh-TW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F6846196-4186-4D57-972A-83AC40D8E017}"/>
              </a:ext>
            </a:extLst>
          </p:cNvPr>
          <p:cNvSpPr txBox="1">
            <a:spLocks/>
          </p:cNvSpPr>
          <p:nvPr/>
        </p:nvSpPr>
        <p:spPr>
          <a:xfrm>
            <a:off x="464574" y="282831"/>
            <a:ext cx="7386406" cy="5458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服務品質構面  </a:t>
            </a:r>
            <a:r>
              <a:rPr lang="en-US" altLang="zh-TW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LQI</a:t>
            </a:r>
            <a:endParaRPr lang="zh-TW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4670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8A38226-2365-468B-B9BB-DE73A1A56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10</a:t>
            </a:fld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36ADCE6-7E26-4EF3-9CC6-8CEB2E6FD4FB}"/>
              </a:ext>
            </a:extLst>
          </p:cNvPr>
          <p:cNvGrpSpPr/>
          <p:nvPr/>
        </p:nvGrpSpPr>
        <p:grpSpPr>
          <a:xfrm>
            <a:off x="254634" y="893237"/>
            <a:ext cx="2551042" cy="2792761"/>
            <a:chOff x="254633" y="893237"/>
            <a:chExt cx="4534133" cy="4337273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AE71949D-015F-4EDD-A649-4E51C0C85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4633" y="893237"/>
              <a:ext cx="4534133" cy="3156112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B195252-E343-4023-9F08-A3B26FA32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559" y="4049349"/>
              <a:ext cx="4464279" cy="1181161"/>
            </a:xfrm>
            <a:prstGeom prst="rect">
              <a:avLst/>
            </a:prstGeom>
          </p:spPr>
        </p:pic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1985C1DC-7DA9-490F-B1BA-A72BF6AE7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833" y="1009802"/>
            <a:ext cx="3005893" cy="14455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5B1EEE5-57D6-4478-A20E-D5E437D2C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0012" y="2455352"/>
            <a:ext cx="2785451" cy="237907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AD3D21A-F519-41F7-AD89-41FC7C9E1B1F}"/>
              </a:ext>
            </a:extLst>
          </p:cNvPr>
          <p:cNvSpPr txBox="1"/>
          <p:nvPr/>
        </p:nvSpPr>
        <p:spPr>
          <a:xfrm>
            <a:off x="406085" y="41974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服務品質構面  </a:t>
            </a:r>
            <a:r>
              <a:rPr lang="en-US" altLang="zh-TW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LibQual</a:t>
            </a:r>
            <a:endParaRPr lang="zh-TW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327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5">
            <a:extLst>
              <a:ext uri="{FF2B5EF4-FFF2-40B4-BE49-F238E27FC236}">
                <a16:creationId xmlns:a16="http://schemas.microsoft.com/office/drawing/2014/main" id="{D70000C5-04E7-45DB-AB4B-1A755C423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911" y="428778"/>
            <a:ext cx="585865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IPA </a:t>
            </a:r>
            <a:r>
              <a:rPr lang="zh-TW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重要性</a:t>
            </a:r>
            <a: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-</a:t>
            </a:r>
            <a:r>
              <a:rPr lang="zh-TW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績效分析法 </a:t>
            </a:r>
            <a:r>
              <a:rPr lang="en-US" altLang="zh-TW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(Importance-Performance Analysis)</a:t>
            </a:r>
          </a:p>
        </p:txBody>
      </p:sp>
      <p:sp>
        <p:nvSpPr>
          <p:cNvPr id="79" name="矩形 78"/>
          <p:cNvSpPr/>
          <p:nvPr/>
        </p:nvSpPr>
        <p:spPr>
          <a:xfrm>
            <a:off x="248413" y="888813"/>
            <a:ext cx="782349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TW" sz="2000" b="1" dirty="0">
              <a:latin typeface="+mn-ea"/>
            </a:endParaRPr>
          </a:p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重要性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績效分析法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(IPA ; Importance-Performance Analysis),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是一種藉由 重要（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Importance,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消費者所認為的重要性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 績效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(Performance,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消費者對於表現情形的測度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的表現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是評估服務品質的方法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Martilla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and James, 1977)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 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800" b="1" dirty="0">
              <a:latin typeface="+mn-ea"/>
            </a:endParaRPr>
          </a:p>
        </p:txBody>
      </p:sp>
      <p:sp>
        <p:nvSpPr>
          <p:cNvPr id="6" name="圆角矩形 100"/>
          <p:cNvSpPr/>
          <p:nvPr/>
        </p:nvSpPr>
        <p:spPr>
          <a:xfrm>
            <a:off x="4367827" y="5054033"/>
            <a:ext cx="391745" cy="232189"/>
          </a:xfrm>
          <a:prstGeom prst="roundRect">
            <a:avLst/>
          </a:prstGeom>
          <a:solidFill>
            <a:srgbClr val="27506E"/>
          </a:solidFill>
          <a:ln w="25400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400">
              <a:defRPr/>
            </a:pPr>
            <a:r>
              <a:rPr lang="en-US" altLang="zh-CN" sz="1200" kern="0" dirty="0">
                <a:solidFill>
                  <a:prstClr val="white"/>
                </a:solidFill>
                <a:latin typeface="+mn-ea"/>
                <a:cs typeface="Calibri" panose="020F0502020204030204" pitchFamily="34" charset="0"/>
              </a:rPr>
              <a:t>10</a:t>
            </a:r>
            <a:endParaRPr lang="zh-CN" altLang="en-US" sz="1200" kern="0" dirty="0">
              <a:solidFill>
                <a:prstClr val="white"/>
              </a:solidFill>
              <a:latin typeface="+mn-ea"/>
              <a:cs typeface="Calibri" panose="020F0502020204030204" pitchFamily="34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0D5A65F9-B451-432B-9D02-253C979348CC}"/>
              </a:ext>
            </a:extLst>
          </p:cNvPr>
          <p:cNvGrpSpPr/>
          <p:nvPr/>
        </p:nvGrpSpPr>
        <p:grpSpPr>
          <a:xfrm>
            <a:off x="5310388" y="2191270"/>
            <a:ext cx="3471847" cy="2930734"/>
            <a:chOff x="6004476" y="1071054"/>
            <a:chExt cx="2892826" cy="323371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8800D39-F087-4A6D-824B-ED9553C57826}"/>
                </a:ext>
              </a:extLst>
            </p:cNvPr>
            <p:cNvSpPr/>
            <p:nvPr/>
          </p:nvSpPr>
          <p:spPr>
            <a:xfrm>
              <a:off x="6004476" y="3932864"/>
              <a:ext cx="2885090" cy="3719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000" kern="1800" dirty="0">
                  <a:solidFill>
                    <a:schemeClr val="bg1">
                      <a:lumMod val="75000"/>
                    </a:schemeClr>
                  </a:solidFill>
                  <a:latin typeface="+mn-ea"/>
                  <a:cs typeface="新細明體" panose="02020500000000000000" pitchFamily="18" charset="-120"/>
                </a:rPr>
                <a:t>Importance-Performance Matrix (Adapted from </a:t>
              </a:r>
              <a:r>
                <a:rPr lang="en-US" altLang="zh-TW" sz="1000" kern="1800" dirty="0" err="1">
                  <a:solidFill>
                    <a:schemeClr val="bg1">
                      <a:lumMod val="75000"/>
                    </a:schemeClr>
                  </a:solidFill>
                  <a:latin typeface="+mn-ea"/>
                  <a:cs typeface="新細明體" panose="02020500000000000000" pitchFamily="18" charset="-120"/>
                </a:rPr>
                <a:t>Martilla</a:t>
              </a:r>
              <a:r>
                <a:rPr lang="en-US" altLang="zh-TW" sz="1000" kern="1800" dirty="0">
                  <a:solidFill>
                    <a:schemeClr val="bg1">
                      <a:lumMod val="75000"/>
                    </a:schemeClr>
                  </a:solidFill>
                  <a:latin typeface="+mn-ea"/>
                  <a:cs typeface="新細明體" panose="02020500000000000000" pitchFamily="18" charset="-120"/>
                </a:rPr>
                <a:t> &amp; James, 1977, p. 78). </a:t>
              </a:r>
              <a:endParaRPr lang="zh-TW" altLang="zh-TW" sz="1000" kern="100" dirty="0">
                <a:solidFill>
                  <a:schemeClr val="bg1">
                    <a:lumMod val="75000"/>
                  </a:schemeClr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63B9C213-AF94-4653-BCF3-CA7DB3BD2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3959" y="1071054"/>
              <a:ext cx="2843343" cy="2787151"/>
            </a:xfrm>
            <a:prstGeom prst="rect">
              <a:avLst/>
            </a:prstGeom>
          </p:spPr>
        </p:pic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7D31DA7-C2A9-4AB1-B0E1-FB6A97958094}"/>
              </a:ext>
            </a:extLst>
          </p:cNvPr>
          <p:cNvSpPr/>
          <p:nvPr/>
        </p:nvSpPr>
        <p:spPr>
          <a:xfrm>
            <a:off x="361764" y="2182179"/>
            <a:ext cx="522723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◼︎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繼續保持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(Keep Up the Good Work)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企業的主要競爭力來源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所以其服務品質應該繼續保持。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◼︎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過度努力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(Possible Overkill)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其服務品質有供給過度之慮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企業應該節省資源不必過份強調與投入。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◼︎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次要改善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(Low Priority)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其服務品質較不重要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優先順序較低。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◼︎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優先改善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(Concentrate Here)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  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企業的主要劣勢來源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所以其服務品質具有企業未來發展的決定性 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關鍵因素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因此為優先改善之重點項目。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8A38226-2365-468B-B9BB-DE73A1A56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12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AD3D21A-F519-41F7-AD89-41FC7C9E1B1F}"/>
              </a:ext>
            </a:extLst>
          </p:cNvPr>
          <p:cNvSpPr txBox="1"/>
          <p:nvPr/>
        </p:nvSpPr>
        <p:spPr>
          <a:xfrm>
            <a:off x="406085" y="4197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IPA Excel</a:t>
            </a:r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實作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D37409-060D-4C1C-9526-ED3F7B993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40" y="926905"/>
            <a:ext cx="6168559" cy="401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08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D36B1B7-EEE2-49C3-9001-0CF41A658E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2B2C90-54B7-4791-86D2-0E41511BEADC}"/>
              </a:ext>
            </a:extLst>
          </p:cNvPr>
          <p:cNvSpPr txBox="1"/>
          <p:nvPr/>
        </p:nvSpPr>
        <p:spPr>
          <a:xfrm>
            <a:off x="406085" y="4197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IPA R</a:t>
            </a:r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實作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08B1649-56D1-4048-8C7A-DBB567E4A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19" y="1045390"/>
            <a:ext cx="6254893" cy="419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11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942FC77-131B-E706-7DCD-F4986BB70E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AED2EC2-477B-D0E1-7B8D-46141D0718BE}"/>
              </a:ext>
            </a:extLst>
          </p:cNvPr>
          <p:cNvSpPr txBox="1"/>
          <p:nvPr/>
        </p:nvSpPr>
        <p:spPr>
          <a:xfrm>
            <a:off x="406085" y="4197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生成式</a:t>
            </a:r>
            <a:r>
              <a:rPr lang="en-US" altLang="zh-TW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協作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C15B26-9A17-3E8A-15C8-BAB21E58F6A3}"/>
              </a:ext>
            </a:extLst>
          </p:cNvPr>
          <p:cNvSpPr txBox="1"/>
          <p:nvPr/>
        </p:nvSpPr>
        <p:spPr>
          <a:xfrm>
            <a:off x="335756" y="108692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effectLst/>
                <a:ea typeface="微軟正黑體" panose="020B0604030504040204" pitchFamily="34" charset="-120"/>
                <a:cs typeface="微軟正黑體" panose="020B0604030504040204" pitchFamily="34" charset="-120"/>
              </a:rPr>
              <a:t>問卷生成(</a:t>
            </a:r>
            <a:r>
              <a:rPr lang="zh-TW" altLang="zh-TW" sz="1800" b="1" dirty="0">
                <a:solidFill>
                  <a:srgbClr val="3C4043"/>
                </a:solidFill>
                <a:effectLst/>
                <a:highlight>
                  <a:srgbClr val="FFFFFF"/>
                </a:highlight>
                <a:ea typeface="Arial Unicode MS"/>
                <a:cs typeface="Arial Unicode MS"/>
              </a:rPr>
              <a:t>截圖包括: Prompt及生成結果</a:t>
            </a:r>
            <a:r>
              <a:rPr lang="zh-TW" altLang="zh-TW" sz="1800" b="1" dirty="0">
                <a:effectLst/>
                <a:ea typeface="微軟正黑體" panose="020B0604030504040204" pitchFamily="34" charset="-120"/>
                <a:cs typeface="微軟正黑體" panose="020B0604030504040204" pitchFamily="34" charset="-120"/>
              </a:rPr>
              <a:t>)</a:t>
            </a:r>
            <a:endParaRPr lang="zh-TW" altLang="en-US" dirty="0"/>
          </a:p>
        </p:txBody>
      </p:sp>
      <p:pic>
        <p:nvPicPr>
          <p:cNvPr id="6" name="image4.png">
            <a:extLst>
              <a:ext uri="{FF2B5EF4-FFF2-40B4-BE49-F238E27FC236}">
                <a16:creationId xmlns:a16="http://schemas.microsoft.com/office/drawing/2014/main" id="{228B450A-FD07-38BC-28D6-E4F93500750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27785" y="1598930"/>
            <a:ext cx="5002530" cy="1258570"/>
          </a:xfrm>
          <a:prstGeom prst="rect">
            <a:avLst/>
          </a:prstGeom>
          <a:ln/>
        </p:spPr>
      </p:pic>
      <p:pic>
        <p:nvPicPr>
          <p:cNvPr id="7" name="image6.png">
            <a:extLst>
              <a:ext uri="{FF2B5EF4-FFF2-40B4-BE49-F238E27FC236}">
                <a16:creationId xmlns:a16="http://schemas.microsoft.com/office/drawing/2014/main" id="{5173DDED-03D8-1291-654E-300E52D43EB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90155" y="3145154"/>
            <a:ext cx="4975860" cy="156781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242577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036A836-50C9-4219-D53A-B64159BA99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15</a:t>
            </a:fld>
            <a:endParaRPr lang="zh-TW" altLang="en-US"/>
          </a:p>
        </p:txBody>
      </p:sp>
      <p:pic>
        <p:nvPicPr>
          <p:cNvPr id="3" name="image9.png">
            <a:extLst>
              <a:ext uri="{FF2B5EF4-FFF2-40B4-BE49-F238E27FC236}">
                <a16:creationId xmlns:a16="http://schemas.microsoft.com/office/drawing/2014/main" id="{585372F1-DE59-6F83-6EBB-238C08DF110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65627" y="984884"/>
            <a:ext cx="4769485" cy="2287905"/>
          </a:xfrm>
          <a:prstGeom prst="rect">
            <a:avLst/>
          </a:prstGeom>
          <a:ln/>
        </p:spPr>
      </p:pic>
      <p:pic>
        <p:nvPicPr>
          <p:cNvPr id="4" name="image8.png">
            <a:extLst>
              <a:ext uri="{FF2B5EF4-FFF2-40B4-BE49-F238E27FC236}">
                <a16:creationId xmlns:a16="http://schemas.microsoft.com/office/drawing/2014/main" id="{A528A67D-380F-419F-54E7-5BA23B2357C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836160" y="3143886"/>
            <a:ext cx="4015105" cy="209804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26641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EEBECA-C118-966B-548E-A040EB7DD7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16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2887574-E538-76A3-6136-038A1F83B211}"/>
              </a:ext>
            </a:extLst>
          </p:cNvPr>
          <p:cNvSpPr txBox="1"/>
          <p:nvPr/>
        </p:nvSpPr>
        <p:spPr>
          <a:xfrm>
            <a:off x="421481" y="1055973"/>
            <a:ext cx="4572000" cy="38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zh-TW" altLang="zh-TW" sz="1800" b="1" u="none" strike="noStrike" dirty="0">
                <a:effectLst/>
                <a:latin typeface="Arial" panose="020B0604020202020204" pitchFamily="34" charset="0"/>
                <a:ea typeface="微軟正黑體" panose="020B0604030504040204" pitchFamily="34" charset="-120"/>
                <a:cs typeface="微軟正黑體" panose="020B0604030504040204" pitchFamily="34" charset="-120"/>
              </a:rPr>
              <a:t>IPA分析圖(</a:t>
            </a:r>
            <a:r>
              <a:rPr lang="zh-TW" altLang="zh-TW" sz="1800" b="1" u="none" strike="noStrike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 Unicode MS"/>
                <a:cs typeface="Arial Unicode MS"/>
              </a:rPr>
              <a:t>截圖包括: Prompt及生成結果</a:t>
            </a:r>
            <a:r>
              <a:rPr lang="zh-TW" altLang="zh-TW" sz="1800" b="1" u="none" strike="noStrike" dirty="0">
                <a:effectLst/>
                <a:latin typeface="Arial" panose="020B0604020202020204" pitchFamily="34" charset="0"/>
                <a:ea typeface="微軟正黑體" panose="020B0604030504040204" pitchFamily="34" charset="-120"/>
                <a:cs typeface="微軟正黑體" panose="020B0604030504040204" pitchFamily="34" charset="-120"/>
              </a:rPr>
              <a:t>)</a:t>
            </a:r>
            <a:endParaRPr lang="zh-TW" altLang="zh-TW" sz="1600" u="none" strike="noStrike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B7477C6F-FC04-ACFE-7E36-2FE5D8B49EA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85031" y="1577657"/>
            <a:ext cx="5730875" cy="1902460"/>
          </a:xfrm>
          <a:prstGeom prst="rect">
            <a:avLst/>
          </a:prstGeom>
          <a:ln/>
        </p:spPr>
      </p:pic>
      <p:pic>
        <p:nvPicPr>
          <p:cNvPr id="6" name="image11.png">
            <a:extLst>
              <a:ext uri="{FF2B5EF4-FFF2-40B4-BE49-F238E27FC236}">
                <a16:creationId xmlns:a16="http://schemas.microsoft.com/office/drawing/2014/main" id="{0CC03CB7-5042-67EC-5835-8B15C89E19C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706562" y="3617657"/>
            <a:ext cx="5730875" cy="145351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69294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29FCB24-C23B-A57A-5808-C6C66BB1D6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17</a:t>
            </a:fld>
            <a:endParaRPr lang="zh-TW" altLang="en-US"/>
          </a:p>
        </p:txBody>
      </p:sp>
      <p:pic>
        <p:nvPicPr>
          <p:cNvPr id="3" name="image3.png">
            <a:extLst>
              <a:ext uri="{FF2B5EF4-FFF2-40B4-BE49-F238E27FC236}">
                <a16:creationId xmlns:a16="http://schemas.microsoft.com/office/drawing/2014/main" id="{F67D196F-01DC-DDA1-765B-7E0A0F2C077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0675" y="993616"/>
            <a:ext cx="5730875" cy="1084580"/>
          </a:xfrm>
          <a:prstGeom prst="rect">
            <a:avLst/>
          </a:prstGeom>
          <a:ln/>
        </p:spPr>
      </p:pic>
      <p:pic>
        <p:nvPicPr>
          <p:cNvPr id="4" name="image7.png">
            <a:extLst>
              <a:ext uri="{FF2B5EF4-FFF2-40B4-BE49-F238E27FC236}">
                <a16:creationId xmlns:a16="http://schemas.microsoft.com/office/drawing/2014/main" id="{2CA12ADF-3741-0F78-0880-8675231A700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60705" y="2690813"/>
            <a:ext cx="4011295" cy="2190750"/>
          </a:xfrm>
          <a:prstGeom prst="rect">
            <a:avLst/>
          </a:prstGeom>
          <a:ln/>
        </p:spPr>
      </p:pic>
      <p:pic>
        <p:nvPicPr>
          <p:cNvPr id="5" name="image5.png">
            <a:extLst>
              <a:ext uri="{FF2B5EF4-FFF2-40B4-BE49-F238E27FC236}">
                <a16:creationId xmlns:a16="http://schemas.microsoft.com/office/drawing/2014/main" id="{2CD49046-D611-FCD1-8DF8-7D577D90A362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043488" y="2857500"/>
            <a:ext cx="3705862" cy="2357169"/>
          </a:xfrm>
          <a:prstGeom prst="rect">
            <a:avLst/>
          </a:prstGeom>
          <a:ln/>
        </p:spPr>
      </p:pic>
      <p:pic>
        <p:nvPicPr>
          <p:cNvPr id="6" name="image1.png">
            <a:extLst>
              <a:ext uri="{FF2B5EF4-FFF2-40B4-BE49-F238E27FC236}">
                <a16:creationId xmlns:a16="http://schemas.microsoft.com/office/drawing/2014/main" id="{18FBCE4A-87FF-EF1F-C8CB-A3F20E0DBA78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6372224" y="1093838"/>
            <a:ext cx="2228852" cy="142017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405581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993DCFB3-FBB8-924F-AEFC-3BD0C5C38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756" y="0"/>
            <a:ext cx="9200756" cy="5715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259778-47DC-2046-BEE0-ACD3AAB2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D0EBA-4DE1-D94C-802B-785F08D2B2C6}" type="slidenum">
              <a:rPr kumimoji="1" lang="zh-TW" altLang="en-US" smtClean="0"/>
              <a:pPr/>
              <a:t>18</a:t>
            </a:fld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F8020A3-0B86-B942-9A11-5B2F774D27B9}"/>
              </a:ext>
            </a:extLst>
          </p:cNvPr>
          <p:cNvSpPr txBox="1"/>
          <p:nvPr/>
        </p:nvSpPr>
        <p:spPr>
          <a:xfrm>
            <a:off x="2805184" y="4732267"/>
            <a:ext cx="36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9FB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The  End</a:t>
            </a:r>
            <a:endParaRPr lang="zh-TW" altLang="en-US" sz="2400" dirty="0">
              <a:solidFill>
                <a:srgbClr val="009FB9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121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anchor="b">
        <a:spAutoFit/>
      </a:bodyPr>
      <a:lstStyle>
        <a:defPPr algn="r">
          <a:lnSpc>
            <a:spcPct val="140000"/>
          </a:lnSpc>
          <a:defRPr sz="1400" dirty="0" smtClean="0">
            <a:solidFill>
              <a:srgbClr val="009FB9"/>
            </a:solidFill>
            <a:latin typeface="Microsoft JhengHei" panose="020B0604030504040204" pitchFamily="34" charset="-120"/>
            <a:ea typeface="Microsoft JhengHei" panose="020B0604030504040204" pitchFamily="34" charset="-12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5078</TotalTime>
  <Words>2568</Words>
  <Application>Microsoft Office PowerPoint</Application>
  <PresentationFormat>如螢幕大小 (16:10)</PresentationFormat>
  <Paragraphs>334</Paragraphs>
  <Slides>19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8" baseType="lpstr">
      <vt:lpstr>anthropicSans</vt:lpstr>
      <vt:lpstr>Arial Unicode MS</vt:lpstr>
      <vt:lpstr>微軟正黑體</vt:lpstr>
      <vt:lpstr>微軟正黑體</vt:lpstr>
      <vt:lpstr>新細明體</vt:lpstr>
      <vt:lpstr>Arial</vt:lpstr>
      <vt:lpstr>Calibri</vt:lpstr>
      <vt:lpstr>Times New Roman</vt:lpstr>
      <vt:lpstr>Office 佈景主題</vt:lpstr>
      <vt:lpstr>PowerPoint 簡報</vt:lpstr>
      <vt:lpstr>〈曹修源  教授〉簡介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曹修源</cp:lastModifiedBy>
  <cp:revision>373</cp:revision>
  <dcterms:created xsi:type="dcterms:W3CDTF">2021-11-07T01:17:09Z</dcterms:created>
  <dcterms:modified xsi:type="dcterms:W3CDTF">2026-03-04T00:30:04Z</dcterms:modified>
</cp:coreProperties>
</file>