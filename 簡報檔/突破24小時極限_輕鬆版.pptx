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65760"/>
            <a:ext cx="3108960" cy="3108960"/>
          </a:xfrm>
          <a:prstGeom prst="ellipse">
            <a:avLst/>
          </a:prstGeom>
          <a:solidFill>
            <a:srgbClr val="D4622A">
              <a:alpha val="85000"/>
            </a:srgbClr>
          </a:solidFill>
          <a:ln w="381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640080"/>
            <a:ext cx="2560320" cy="2560320"/>
          </a:xfrm>
          <a:prstGeom prst="ellipse">
            <a:avLst/>
          </a:prstGeom>
          <a:solidFill>
            <a:srgbClr val="D4622A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每人一天只有 24 小時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突破 24 小時的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物理極限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如何用 AI 打造「數位分身」，成為 1% 的超級人才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根據簡立峰【2026 AI 人才年會】核心觀點精粹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137160" cy="137160"/>
          </a:xfrm>
          <a:prstGeom prst="ellipse">
            <a:avLst/>
          </a:prstGeom>
          <a:solidFill>
            <a:srgbClr val="D4622A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206240"/>
            <a:ext cx="137160" cy="137160"/>
          </a:xfrm>
          <a:prstGeom prst="ellipse">
            <a:avLst/>
          </a:prstGeom>
          <a:solidFill>
            <a:srgbClr val="D4622A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4206240"/>
            <a:ext cx="137160" cy="137160"/>
          </a:xfrm>
          <a:prstGeom prst="ellipse">
            <a:avLst/>
          </a:prstGeom>
          <a:solidFill>
            <a:srgbClr val="D4622A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4206240"/>
            <a:ext cx="137160" cy="137160"/>
          </a:xfrm>
          <a:prstGeom prst="ellipse">
            <a:avLst/>
          </a:prstGeom>
          <a:solidFill>
            <a:srgbClr val="D4622A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4206240"/>
            <a:ext cx="137160" cy="137160"/>
          </a:xfrm>
          <a:prstGeom prst="ellipse">
            <a:avLst/>
          </a:prstGeom>
          <a:solidFill>
            <a:srgbClr val="D4622A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提問得再好，也只是「80 分的單兵」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關鍵差距不在於「會不會用 AI」，而在於「怎麼用 AI」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EDF2FA"/>
          </a:solidFill>
          <a:ln w="1905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161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😓  80 分的優秀人才（被時間困住）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行為模式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親自操作、向 AI 提問（問 GPT）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3566160" cy="0"/>
          </a:xfrm>
          <a:prstGeom prst="line">
            <a:avLst/>
          </a:prstGeom>
          <a:noFill/>
          <a:ln w="12700">
            <a:solidFill>
              <a:srgbClr val="C5D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致命限制 ⚠️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即使不吃不喝，一天最多只有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小時的產出極限。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3474720"/>
          </a:xfrm>
          <a:prstGeom prst="rect">
            <a:avLst/>
          </a:prstGeom>
          <a:solidFill>
            <a:srgbClr val="FFF4ED"/>
          </a:solidFill>
          <a:ln w="19050">
            <a:solidFill>
              <a:srgbClr val="F0C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023360" cy="50292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161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1% 的超級人才（突破天花板）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行為模式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762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打造多個「數位分身」（AI Agents）同步工作。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697480"/>
            <a:ext cx="3566160" cy="0"/>
          </a:xfrm>
          <a:prstGeom prst="line">
            <a:avLst/>
          </a:prstGeom>
          <a:noFill/>
          <a:ln w="12700">
            <a:solidFill>
              <a:srgbClr val="F0C4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88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A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無窮潛力 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09067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產出不受肉身時間限制，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達到指數級擴張。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2194560"/>
            <a:ext cx="731520" cy="731520"/>
          </a:xfrm>
          <a:prstGeom prst="ellipse">
            <a:avLst/>
          </a:prstGeom>
          <a:solidFill>
            <a:srgbClr val="E8A8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「數位分身」的時代已經發生 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不是科幻片——這些事情現在正在真實發生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37160" cy="3383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1：七個分身共管企業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來源：Anthropic Co-founder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2103120"/>
            <a:ext cx="914400" cy="914400"/>
          </a:xfrm>
          <a:prstGeom prst="ellipse">
            <a:avLst/>
          </a:prstGeom>
          <a:solidFill>
            <a:srgbClr val="D462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5029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011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920240"/>
            <a:ext cx="5029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1920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029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834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2834640"/>
            <a:ext cx="5029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34640" y="2834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3520440"/>
            <a:ext cx="5029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3520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3520440"/>
            <a:ext cx="5029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0" y="3520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2651760"/>
            <a:ext cx="5029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017520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每天早上進辦公室的第一件事，是打開他的 7 個 AI 代理人。這 7 個分身正在協助他管理整家公司。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188720"/>
            <a:ext cx="137160" cy="338328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2：1 小時抵過 1 整年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1691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來源：Google 傑出工程師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2103120"/>
            <a:ext cx="731520" cy="457200"/>
          </a:xfrm>
          <a:prstGeom prst="rect">
            <a:avLst/>
          </a:prstGeom>
          <a:solidFill>
            <a:srgbClr val="D4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小時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20640" y="2743200"/>
            <a:ext cx="32004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2788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整年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383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AI（如 Claude）在 1 小時內生成的程式碼，竟等同於過去他整個團隊 1 年的工作產出！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走向 1% 的進化階梯 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你現在在哪一階？下一階的門票是什麼？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3474720"/>
            <a:ext cx="2011680" cy="914400"/>
          </a:xfrm>
          <a:prstGeom prst="rect">
            <a:avLst/>
          </a:prstGeom>
          <a:solidFill>
            <a:srgbClr val="EDF2FA"/>
          </a:solidFill>
          <a:ln w="25400">
            <a:solidFill>
              <a:srgbClr val="5B8A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3474720"/>
            <a:ext cx="2011680" cy="411480"/>
          </a:xfrm>
          <a:prstGeom prst="rect">
            <a:avLst/>
          </a:prstGeom>
          <a:solidFill>
            <a:srgbClr val="5B8AC4"/>
          </a:solidFill>
          <a:ln w="12700">
            <a:solidFill>
              <a:srgbClr val="5B8A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問 (Ask)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3931920"/>
            <a:ext cx="1883664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用關鍵字搜尋解答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（線性產出）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3017520"/>
            <a:ext cx="2011680" cy="1371600"/>
          </a:xfrm>
          <a:prstGeom prst="rect">
            <a:avLst/>
          </a:prstGeom>
          <a:solidFill>
            <a:srgbClr val="E2EEF9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3017520"/>
            <a:ext cx="201168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用 (Use)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96312" y="3474720"/>
            <a:ext cx="1883664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加速既有任務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（線性產出）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2560320"/>
            <a:ext cx="2011680" cy="1828800"/>
          </a:xfrm>
          <a:prstGeom prst="rect">
            <a:avLst/>
          </a:prstGeom>
          <a:solidFill>
            <a:srgbClr val="FFF0E8"/>
          </a:solidFill>
          <a:ln w="254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2560320"/>
            <a:ext cx="2011680" cy="41148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管 (Manage)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53712" y="3017520"/>
            <a:ext cx="1883664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指揮多個 AI 工具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（指數產出）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37960" y="2103120"/>
            <a:ext cx="2011680" cy="2286000"/>
          </a:xfrm>
          <a:prstGeom prst="rect">
            <a:avLst/>
          </a:prstGeom>
          <a:solidFill>
            <a:srgbClr val="FFE6D6"/>
          </a:solidFill>
          <a:ln w="254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2103120"/>
            <a:ext cx="2011680" cy="41148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造 (Create)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11112" y="2560320"/>
            <a:ext cx="1883664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打造「數位分身」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自動化工作流程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（指數產出）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E8A838">
              <a:alpha val="8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44568"/>
            <a:ext cx="79552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🐒  「孫悟空拔毛變出分身的時代已來臨。你必須擁有造出分身的能力。」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從「加速舊工作」到「實現不可能」🛤️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3474720"/>
            <a:ext cx="8229600" cy="73152"/>
          </a:xfrm>
          <a:prstGeom prst="rect">
            <a:avLst/>
          </a:prstGeom>
          <a:solidFill>
            <a:srgbClr val="BBCFE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下層路徑（過去的 AI）：Work Faster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把「原本就做得到」的事做快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337560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3136392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935224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734056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532888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331720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2130552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929384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728216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1527048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上層路徑（現在的 AI）：Work Smarter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幫我們做到「以前做不到」的事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822960"/>
            <a:ext cx="3657600" cy="2331720"/>
          </a:xfrm>
          <a:prstGeom prst="rect">
            <a:avLst/>
          </a:prstGeom>
          <a:solidFill>
            <a:srgbClr val="FFF4ED"/>
          </a:solidFill>
          <a:ln w="1905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914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的震撼宣示 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298448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每一項能力都是博士級：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等同於隨時能呼叫兩三千位台大教授，24 小時待命。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夢想成真：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完全不會寫程式的總經理，現在能親手打造專屬的自動化工作環境。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讓時間「縮水」的程度，超乎你的想像 ⏱️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跨領域的時間壓縮效應——這些都已是真實發生的案例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3566160"/>
          </a:xfrm>
          <a:prstGeom prst="rect">
            <a:avLst/>
          </a:prstGeom>
          <a:solidFill>
            <a:srgbClr val="E6F7F3"/>
          </a:solidFill>
          <a:ln w="19050">
            <a:solidFill>
              <a:srgbClr val="3BA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A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醫療與生技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罕見疾病預警提前 1-2 年；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新藥開發時程大幅壓縮至 50%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97480" cy="3566160"/>
          </a:xfrm>
          <a:prstGeom prst="rect">
            <a:avLst/>
          </a:prstGeom>
          <a:solidFill>
            <a:srgbClr val="E8F2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80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小時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9184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建築與設計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30632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原本需要 2 週的建築設計流程，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直接縮短至 6 小時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97480" cy="3566160"/>
          </a:xfrm>
          <a:prstGeom prst="rect">
            <a:avLst/>
          </a:prstGeom>
          <a:solidFill>
            <a:srgbClr val="FFF0E8"/>
          </a:solidFill>
          <a:ln w="1905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280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瞬間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全球化市場模擬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30632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過去漫長市調，現在可直接透過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瞬間取得印尼、韓國、台灣人反饋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找回兩歲時的「提問學習法」👶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教育制度讓我們習慣「解題」；但 AI 時代最核心的技能是「問問題」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2560320"/>
          </a:xfrm>
          <a:prstGeom prst="ellipse">
            <a:avLst/>
          </a:prstGeom>
          <a:solidFill>
            <a:srgbClr val="FFF4ED"/>
          </a:solidFill>
          <a:ln w="3175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155448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比起花長時間學不會的跨領域知識，不如讓 AI 成為專屬家教，直接從問題中學習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64592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645920"/>
            <a:ext cx="256032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好奇觸發 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0391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像兩歲小孩一樣，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面對未知不斷問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「為什麼？」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645920"/>
            <a:ext cx="256032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直接對話 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0391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不依賴搜尋閱讀，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直接請「AI 教授」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用你聽得懂的方式教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93192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A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3931920"/>
            <a:ext cx="2560320" cy="347472"/>
          </a:xfrm>
          <a:prstGeom prst="rect">
            <a:avLst/>
          </a:prstGeom>
          <a:solidFill>
            <a:srgbClr val="3BAA8E"/>
          </a:solidFill>
          <a:ln w="12700">
            <a:solidFill>
              <a:srgbClr val="3BAA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框架收斂 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43251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建立思想體系，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從亂問轉向有策略的深究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淘汰你的不是 AI，而是「超級人類」⚡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3474720" cy="3200400"/>
          </a:xfrm>
          <a:prstGeom prst="ellipse">
            <a:avLst/>
          </a:prstGeom>
          <a:solidFill>
            <a:srgbClr val="253D5C"/>
          </a:solidFill>
          <a:ln w="12700">
            <a:solidFill>
              <a:srgbClr val="3A58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645920"/>
            <a:ext cx="1828800" cy="2286000"/>
          </a:xfrm>
          <a:prstGeom prst="ellipse">
            <a:avLst/>
          </a:prstGeom>
          <a:solidFill>
            <a:srgbClr val="2D4B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868680"/>
            <a:ext cx="1097280" cy="1097280"/>
          </a:xfrm>
          <a:prstGeom prst="ellipse">
            <a:avLst/>
          </a:prstGeom>
          <a:solidFill>
            <a:srgbClr val="D4622A"/>
          </a:solidFill>
          <a:ln w="381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114800" y="1097280"/>
            <a:ext cx="4572000" cy="1188720"/>
          </a:xfrm>
          <a:prstGeom prst="rect">
            <a:avLst/>
          </a:prstGeom>
          <a:solidFill>
            <a:srgbClr val="253D5C"/>
          </a:solidFill>
          <a:ln w="12700">
            <a:solidFill>
              <a:srgbClr val="3A58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188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 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15087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本身不會直接取代我們。是那些善用 AI 的「超級人類」正在取代無法適應的人。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2423160"/>
            <a:ext cx="4572000" cy="1325880"/>
          </a:xfrm>
          <a:prstGeom prst="rect">
            <a:avLst/>
          </a:prstGeom>
          <a:solidFill>
            <a:srgbClr val="253D5C"/>
          </a:solidFill>
          <a:ln w="12700">
            <a:solidFill>
              <a:srgbClr val="3A58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急迫的機會之窗 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2834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當下一代「AI 原生孩子」帶著全新教育體制進入職場，我們這代「AI 移民」的過渡期優勢將徹底消失。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0" y="3886200"/>
            <a:ext cx="4572000" cy="914400"/>
          </a:xfrm>
          <a:prstGeom prst="rect">
            <a:avLst/>
          </a:prstGeom>
          <a:solidFill>
            <a:srgbClr val="D4622A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9319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第一步行動：從今天起，強制將每天工作流中 30% 的無聊庶務（如整理資料）高度自動化，交給 AI 處理，把大腦留給真正重要的事。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勞動力板塊重組：你的工作落在哪區？ 🗺️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（根據 McKinsey 勞動力報告重新檢視）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834640" cy="3657600"/>
          </a:xfrm>
          <a:prstGeom prst="rect">
            <a:avLst/>
          </a:prstGeom>
          <a:solidFill>
            <a:srgbClr val="E8EDF5"/>
          </a:solidFill>
          <a:ln w="254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83464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實體勞動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(Physical Work)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20240"/>
            <a:ext cx="26151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相對安全 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6517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需要身體力行、環境適應的實體工作（如：水電師傅、健康護理師）。AI 目前無法介入物理世界。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834640" cy="3657600"/>
          </a:xfrm>
          <a:prstGeom prst="rect">
            <a:avLst/>
          </a:prstGeom>
          <a:solidFill>
            <a:srgbClr val="FFF0EE"/>
          </a:solidFill>
          <a:ln w="25400">
            <a:solidFill>
              <a:srgbClr val="D953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834640" cy="6858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認知鍵盤工作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(Non-Physical Work)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901952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920240"/>
            <a:ext cx="26151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高危險 40% 將被取代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26517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不需身體勞動、純粹動腦打鍵盤的流程工作（如：傳統財務、資料處理）。這部分最容易被完全自動化。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834640" cy="3657600"/>
          </a:xfrm>
          <a:prstGeom prst="rect">
            <a:avLst/>
          </a:prstGeom>
          <a:solidFill>
            <a:srgbClr val="FFF0E8"/>
          </a:solidFill>
          <a:ln w="254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43000"/>
            <a:ext cx="2834640" cy="6858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白色地帶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White Zone)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901952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920240"/>
            <a:ext cx="26151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護城河 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331720"/>
            <a:ext cx="26517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人類的 EQ 與軟實力。機器無法擁有的獨特價值。這是你的不可替代區域。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無法觸及的「白色地帶」🛡️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AI 學不會？AI 沒有肉身，無法感知物理世界的常識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474720" cy="3200400"/>
          </a:xfrm>
          <a:prstGeom prst="ellipse">
            <a:avLst/>
          </a:prstGeom>
          <a:solidFill>
            <a:srgbClr val="FFF0E2"/>
          </a:solidFill>
          <a:ln w="25400">
            <a:solidFill>
              <a:srgbClr val="D46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645920"/>
            <a:ext cx="1828800" cy="2286000"/>
          </a:xfrm>
          <a:prstGeom prst="ellipse">
            <a:avLst/>
          </a:prstGeom>
          <a:solidFill>
            <a:srgbClr val="D4622A">
              <a:alpha val="80000"/>
            </a:srgbClr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你的絕對優勢（不可替代的軟實力）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1600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1600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談判與協商 (Negotiation)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874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如律師的核心，不是背法條，而是組織、分析與人際談判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0" y="22402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240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同理心 (Empathy)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514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對「人」有特殊感覺的能力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0" y="28803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880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提問與表達 (Questioning)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3154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引導方向的靈魂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0" y="35204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26280" y="3520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思辨能力 (Critical Thinking)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3794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 AI 輸出的真偽與價值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0" y="41605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4160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團隊合作 (Collaboration)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4434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建立信任的物理世界連結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全新機會：一年內爆發的 AI 新職缺 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別只盯著消失的工作，全新的高階職位正在大量招募（具備先行者優勢）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3520440"/>
          </a:xfrm>
          <a:prstGeom prst="rect">
            <a:avLst/>
          </a:prstGeom>
          <a:solidFill>
            <a:srgbClr val="1B2A4A"/>
          </a:solidFill>
          <a:ln w="2540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AI Officer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（AI 長）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主導企業 AI 戰略與轉型，各大企業最熱門的新設高管。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1143000"/>
            <a:ext cx="2926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0" y="12801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（AI 治理專家）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2057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專注於法規、資訊安全與治安防護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926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03720" y="12801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Workflow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AI 觀點重新改造企業安全工作流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2834640"/>
            <a:ext cx="2926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840480" y="29718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Creator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（數據創造者）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3749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專門為 AI 創造與合成高品質訓練數據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2926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29718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749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AI 深度導入投資決策領域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百萬美金級的「一人帝國」👑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當你具備打造分身的能力，一個人就能完成過去一個團隊、甚至百萬美金規模的專案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0" y="1691640"/>
            <a:ext cx="2194560" cy="2194560"/>
          </a:xfrm>
          <a:prstGeom prst="ellipse">
            <a:avLst/>
          </a:prstGeom>
          <a:solidFill>
            <a:srgbClr val="D4622A"/>
          </a:solidFill>
          <a:ln w="3810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6916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超級人類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（策略大腦）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286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544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分身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專職文案發想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(Copywriter)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75120" y="1417320"/>
            <a:ext cx="2286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15544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分身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廣告素材生成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 Creator)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2286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337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分身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數據洞察分析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Analyst)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3200400"/>
            <a:ext cx="2286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3337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分身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精準媒體投放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 Buyer)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617720"/>
            <a:ext cx="832104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附註案例：在 IT 領域，現在一名超級人才已能獨自將整個電商後台從 A 雲端完美轉移到 B 雲端（過去需要 10 人團隊耗時半年）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終極身份：成為「AI 神奇寶貝訓練家」🎮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未來的超級人才，不再是親自下場肉搏的戰士，而是運籌帷幄的指揮家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2560320"/>
          </a:xfrm>
          <a:prstGeom prst="rect">
            <a:avLst/>
          </a:prstGeom>
          <a:solidFill>
            <a:srgbClr val="E8F2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收服與訓練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你要有能力尋找最新的 AI 工具，並將其訓練成專屬你的「神奇寶貝」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2560320"/>
          </a:xfrm>
          <a:prstGeom prst="rect">
            <a:avLst/>
          </a:prstGeom>
          <a:solidFill>
            <a:srgbClr val="FFF0E8"/>
          </a:solidFill>
          <a:ln w="254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指揮與協作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將複雜任務拆解，精準指派給不同的 AI 分身執行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743200" cy="2560320"/>
          </a:xfrm>
          <a:prstGeom prst="rect">
            <a:avLst/>
          </a:prstGeom>
          <a:solidFill>
            <a:srgbClr val="E6F7F3"/>
          </a:solidFill>
          <a:ln w="25400">
            <a:solidFill>
              <a:srgbClr val="3BA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A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回歸人類本質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2331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專注於目標設定、道德判斷與最終決策——這是唯有人類能做的事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3210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你的新角色：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不是親自完成每件事的「執行者」，而是打造 AI 軍團、讓分身們不眠不休為你工作的「指揮官」。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57200"/>
            <a:ext cx="4114800" cy="4114800"/>
          </a:xfrm>
          <a:prstGeom prst="ellipse">
            <a:avLst/>
          </a:prstGeom>
          <a:solidFill>
            <a:srgbClr val="D4622A">
              <a:alpha val="70000"/>
            </a:srgbClr>
          </a:solidFill>
          <a:ln w="381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14400"/>
            <a:ext cx="3200400" cy="3200400"/>
          </a:xfrm>
          <a:prstGeom prst="ellipse">
            <a:avLst/>
          </a:prstGeom>
          <a:solidFill>
            <a:srgbClr val="D4622A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突破天花板，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釋放無限潛能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0" y="21945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未來，我們將無法估算任何一個個人或組織的極限能力。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28803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因為只要你成為那 1% 的超級人才，你的產出將不再受限於人類軀體的時空與體力。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3703320"/>
            <a:ext cx="4206240" cy="777240"/>
          </a:xfrm>
          <a:prstGeom prst="rect">
            <a:avLst/>
          </a:prstGeom>
          <a:solidFill>
            <a:srgbClr val="D4622A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3749040"/>
            <a:ext cx="4023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停止恐懼，開始打造你的第一個數位分身。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突破24小時極限 — 輕鬆版</dc:title>
  <dc:subject>PptxGenJS Presentation</dc:subject>
  <dc:creator>PptxGenJS</dc:creator>
  <cp:lastModifiedBy>PptxGenJS</cp:lastModifiedBy>
  <cp:revision>1</cp:revision>
  <dcterms:created xsi:type="dcterms:W3CDTF">2026-05-19T12:56:40Z</dcterms:created>
  <dcterms:modified xsi:type="dcterms:W3CDTF">2026-05-19T12:56:40Z</dcterms:modified>
</cp:coreProperties>
</file>