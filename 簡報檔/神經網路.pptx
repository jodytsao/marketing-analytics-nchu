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9" r:id="rId2"/>
    <p:sldId id="271" r:id="rId3"/>
    <p:sldId id="272" r:id="rId4"/>
    <p:sldId id="279" r:id="rId5"/>
    <p:sldId id="280" r:id="rId6"/>
    <p:sldId id="281" r:id="rId7"/>
    <p:sldId id="282" r:id="rId8"/>
    <p:sldId id="283" r:id="rId9"/>
    <p:sldId id="267" r:id="rId10"/>
    <p:sldId id="268" r:id="rId11"/>
    <p:sldId id="261" r:id="rId12"/>
    <p:sldId id="263" r:id="rId13"/>
    <p:sldId id="264" r:id="rId14"/>
    <p:sldId id="262" r:id="rId15"/>
    <p:sldId id="265" r:id="rId16"/>
    <p:sldId id="256" r:id="rId17"/>
    <p:sldId id="257" r:id="rId18"/>
    <p:sldId id="25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41"/>
  </p:normalViewPr>
  <p:slideViewPr>
    <p:cSldViewPr snapToGrid="0" snapToObjects="1" showGuides="1">
      <p:cViewPr varScale="1">
        <p:scale>
          <a:sx n="87" d="100"/>
          <a:sy n="87" d="100"/>
        </p:scale>
        <p:origin x="51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修源" userId="cd4dc3a9-fcfc-4557-b60c-6ceb710917d0" providerId="ADAL" clId="{71297F49-2CAE-4594-B63B-4A19240BC034}"/>
    <pc:docChg chg="custSel addSld delSld modSld">
      <pc:chgData name="曹修源" userId="cd4dc3a9-fcfc-4557-b60c-6ceb710917d0" providerId="ADAL" clId="{71297F49-2CAE-4594-B63B-4A19240BC034}" dt="2026-05-05T06:21:17.285" v="33" actId="1076"/>
      <pc:docMkLst>
        <pc:docMk/>
      </pc:docMkLst>
      <pc:sldChg chg="modSp mod">
        <pc:chgData name="曹修源" userId="cd4dc3a9-fcfc-4557-b60c-6ceb710917d0" providerId="ADAL" clId="{71297F49-2CAE-4594-B63B-4A19240BC034}" dt="2026-05-05T06:21:17.285" v="33" actId="1076"/>
        <pc:sldMkLst>
          <pc:docMk/>
          <pc:sldMk cId="1396766054" sldId="261"/>
        </pc:sldMkLst>
        <pc:grpChg chg="mod">
          <ac:chgData name="曹修源" userId="cd4dc3a9-fcfc-4557-b60c-6ceb710917d0" providerId="ADAL" clId="{71297F49-2CAE-4594-B63B-4A19240BC034}" dt="2026-05-05T06:21:17.285" v="33" actId="1076"/>
          <ac:grpSpMkLst>
            <pc:docMk/>
            <pc:sldMk cId="1396766054" sldId="261"/>
            <ac:grpSpMk id="8" creationId="{D56F0D11-0B6F-4D5F-B521-F16FCF83BE62}"/>
          </ac:grpSpMkLst>
        </pc:grpChg>
      </pc:sldChg>
      <pc:sldChg chg="del">
        <pc:chgData name="曹修源" userId="cd4dc3a9-fcfc-4557-b60c-6ceb710917d0" providerId="ADAL" clId="{71297F49-2CAE-4594-B63B-4A19240BC034}" dt="2026-05-05T06:03:33.644" v="1"/>
        <pc:sldMkLst>
          <pc:docMk/>
          <pc:sldMk cId="143513129" sldId="266"/>
        </pc:sldMkLst>
      </pc:sldChg>
      <pc:sldChg chg="delSp del mod">
        <pc:chgData name="曹修源" userId="cd4dc3a9-fcfc-4557-b60c-6ceb710917d0" providerId="ADAL" clId="{71297F49-2CAE-4594-B63B-4A19240BC034}" dt="2026-05-05T06:09:00.091" v="6"/>
        <pc:sldMkLst>
          <pc:docMk/>
          <pc:sldMk cId="2695046323" sldId="269"/>
        </pc:sldMkLst>
        <pc:picChg chg="del">
          <ac:chgData name="曹修源" userId="cd4dc3a9-fcfc-4557-b60c-6ceb710917d0" providerId="ADAL" clId="{71297F49-2CAE-4594-B63B-4A19240BC034}" dt="2026-05-05T06:07:35.022" v="4"/>
          <ac:picMkLst>
            <pc:docMk/>
            <pc:sldMk cId="2695046323" sldId="269"/>
            <ac:picMk id="5" creationId="{492ABB80-3047-4370-9272-24278806485C}"/>
          </ac:picMkLst>
        </pc:picChg>
      </pc:sldChg>
      <pc:sldChg chg="add del">
        <pc:chgData name="曹修源" userId="cd4dc3a9-fcfc-4557-b60c-6ceb710917d0" providerId="ADAL" clId="{71297F49-2CAE-4594-B63B-4A19240BC034}" dt="2026-05-05T06:04:50.273" v="3"/>
        <pc:sldMkLst>
          <pc:docMk/>
          <pc:sldMk cId="3582324786" sldId="270"/>
        </pc:sldMkLst>
      </pc:sldChg>
      <pc:sldChg chg="add">
        <pc:chgData name="曹修源" userId="cd4dc3a9-fcfc-4557-b60c-6ceb710917d0" providerId="ADAL" clId="{71297F49-2CAE-4594-B63B-4A19240BC034}" dt="2026-05-05T06:04:50.273" v="2"/>
        <pc:sldMkLst>
          <pc:docMk/>
          <pc:sldMk cId="2331397562" sldId="271"/>
        </pc:sldMkLst>
      </pc:sldChg>
      <pc:sldChg chg="add">
        <pc:chgData name="曹修源" userId="cd4dc3a9-fcfc-4557-b60c-6ceb710917d0" providerId="ADAL" clId="{71297F49-2CAE-4594-B63B-4A19240BC034}" dt="2026-05-05T06:09:00.074" v="5"/>
        <pc:sldMkLst>
          <pc:docMk/>
          <pc:sldMk cId="850315041" sldId="272"/>
        </pc:sldMkLst>
      </pc:sldChg>
      <pc:sldChg chg="addSp delSp modSp new del mod">
        <pc:chgData name="曹修源" userId="cd4dc3a9-fcfc-4557-b60c-6ceb710917d0" providerId="ADAL" clId="{71297F49-2CAE-4594-B63B-4A19240BC034}" dt="2026-05-05T06:20:40.936" v="27" actId="47"/>
        <pc:sldMkLst>
          <pc:docMk/>
          <pc:sldMk cId="834988473" sldId="273"/>
        </pc:sldMkLst>
        <pc:spChg chg="del">
          <ac:chgData name="曹修源" userId="cd4dc3a9-fcfc-4557-b60c-6ceb710917d0" providerId="ADAL" clId="{71297F49-2CAE-4594-B63B-4A19240BC034}" dt="2026-05-05T06:13:58.609" v="8" actId="478"/>
          <ac:spMkLst>
            <pc:docMk/>
            <pc:sldMk cId="834988473" sldId="273"/>
            <ac:spMk id="2" creationId="{3B7E4CA5-FE53-027E-67AE-14BD0EB1DC2F}"/>
          </ac:spMkLst>
        </pc:spChg>
        <pc:spChg chg="del">
          <ac:chgData name="曹修源" userId="cd4dc3a9-fcfc-4557-b60c-6ceb710917d0" providerId="ADAL" clId="{71297F49-2CAE-4594-B63B-4A19240BC034}" dt="2026-05-05T06:14:00.813" v="9" actId="478"/>
          <ac:spMkLst>
            <pc:docMk/>
            <pc:sldMk cId="834988473" sldId="273"/>
            <ac:spMk id="3" creationId="{B9344243-0CE7-4DA0-1AF2-9021F3F81CBA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4" creationId="{21B7F497-1817-7755-5AA6-09C176150BD6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5" creationId="{5A0004D6-C8A7-73DE-6519-B4E328FFED2E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6" creationId="{5849BCBB-9BF1-71D9-EA8B-7C4D30306417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7" creationId="{C4B4F485-F923-2A57-78EC-97A51E5B77D8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8" creationId="{803E2955-2746-F40C-35F2-8D9E7E11829E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9" creationId="{48C48B32-D139-3E7A-050F-6ABBD19896A0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10" creationId="{F26D239E-8421-C89B-DB2F-91DF4D141B6A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11" creationId="{E5B12AAB-B8ED-2E2F-105C-79ABBEE981F9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18" creationId="{421F46B0-B3EE-8731-679F-5972F6A0F356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20" creationId="{6849ED90-8FCA-0EB0-15FC-9DF310CA07F2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21" creationId="{BFC78875-2339-DDFB-F656-C3326A36CB60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22" creationId="{72B30FB3-F25A-29FF-1FC9-F1A47D82BC74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25" creationId="{E99BF699-FFF4-C767-436D-0C0CB6E6943C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34" creationId="{824ADE53-ABA9-2DA9-CB8B-D12C08CC47F0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35" creationId="{681317A3-F459-1DED-7FB3-BA945F4B0C76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36" creationId="{04841416-5527-5D53-20E1-F9BE936528BF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38" creationId="{D56ABA6E-5954-2D74-FD04-DDF65D9F2CD8}"/>
          </ac:spMkLst>
        </pc:spChg>
        <pc:spChg chg="add mod">
          <ac:chgData name="曹修源" userId="cd4dc3a9-fcfc-4557-b60c-6ceb710917d0" providerId="ADAL" clId="{71297F49-2CAE-4594-B63B-4A19240BC034}" dt="2026-05-05T06:14:04.649" v="11" actId="1076"/>
          <ac:spMkLst>
            <pc:docMk/>
            <pc:sldMk cId="834988473" sldId="273"/>
            <ac:spMk id="39" creationId="{524F0654-9DB0-075E-B717-7BBDE7D79413}"/>
          </ac:spMkLst>
        </pc:sp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12" creationId="{8695BF7F-EDEF-0865-9DB3-38D44FA88D80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13" creationId="{8088AABF-04DB-B51D-D49B-0D8D4067EAC2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14" creationId="{24E44DF5-6934-B1B6-6BA9-9011ECE253F9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15" creationId="{9FACDA6D-1C60-7C6F-912F-F590FCADA8BC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16" creationId="{01B2FD4A-6030-8235-1592-608E33DBDA86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17" creationId="{E9667907-B7B7-0F4B-4520-7898F1FB4148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19" creationId="{2F431BDA-F5FB-7BFE-2946-49CABB4DB8F6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23" creationId="{F40A827C-D900-09C4-DBC7-C90207C56B82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24" creationId="{800FFEBA-D124-EF9A-F638-A1EC1C3A9B1E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26" creationId="{D911F1FE-2F3C-2C9C-7E1A-EFC2ED36DF23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27" creationId="{9C0DF138-8A2A-CE86-B8C2-86F421850A76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28" creationId="{98989F9B-7398-491E-AD82-049348055683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29" creationId="{82FA67DB-4851-1146-7E53-DC98DC37D3FF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30" creationId="{C7792C60-B739-59EF-3069-80CEE885372C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31" creationId="{DF16F316-A6D9-5E3F-85F0-FBA12C31934B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32" creationId="{62524350-7547-C72E-EB5F-8192D93612BE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33" creationId="{1172B790-8538-EA44-BAB1-1B2DA0A5A07F}"/>
          </ac:cxnSpMkLst>
        </pc:cxnChg>
        <pc:cxnChg chg="add mod">
          <ac:chgData name="曹修源" userId="cd4dc3a9-fcfc-4557-b60c-6ceb710917d0" providerId="ADAL" clId="{71297F49-2CAE-4594-B63B-4A19240BC034}" dt="2026-05-05T06:14:04.649" v="11" actId="1076"/>
          <ac:cxnSpMkLst>
            <pc:docMk/>
            <pc:sldMk cId="834988473" sldId="273"/>
            <ac:cxnSpMk id="37" creationId="{5DC7E110-DAFA-3C24-06D2-A6068B69E98C}"/>
          </ac:cxnSpMkLst>
        </pc:cxnChg>
      </pc:sldChg>
      <pc:sldChg chg="add del">
        <pc:chgData name="曹修源" userId="cd4dc3a9-fcfc-4557-b60c-6ceb710917d0" providerId="ADAL" clId="{71297F49-2CAE-4594-B63B-4A19240BC034}" dt="2026-05-05T06:18:11.031" v="26"/>
        <pc:sldMkLst>
          <pc:docMk/>
          <pc:sldMk cId="1092707347" sldId="274"/>
        </pc:sldMkLst>
      </pc:sldChg>
      <pc:sldChg chg="add del">
        <pc:chgData name="曹修源" userId="cd4dc3a9-fcfc-4557-b60c-6ceb710917d0" providerId="ADAL" clId="{71297F49-2CAE-4594-B63B-4A19240BC034}" dt="2026-05-05T06:17:38.497" v="24"/>
        <pc:sldMkLst>
          <pc:docMk/>
          <pc:sldMk cId="1092844900" sldId="275"/>
        </pc:sldMkLst>
      </pc:sldChg>
      <pc:sldChg chg="add del">
        <pc:chgData name="曹修源" userId="cd4dc3a9-fcfc-4557-b60c-6ceb710917d0" providerId="ADAL" clId="{71297F49-2CAE-4594-B63B-4A19240BC034}" dt="2026-05-05T06:17:11.133" v="22"/>
        <pc:sldMkLst>
          <pc:docMk/>
          <pc:sldMk cId="356815410" sldId="276"/>
        </pc:sldMkLst>
      </pc:sldChg>
      <pc:sldChg chg="add del">
        <pc:chgData name="曹修源" userId="cd4dc3a9-fcfc-4557-b60c-6ceb710917d0" providerId="ADAL" clId="{71297F49-2CAE-4594-B63B-4A19240BC034}" dt="2026-05-05T06:16:35.161" v="20"/>
        <pc:sldMkLst>
          <pc:docMk/>
          <pc:sldMk cId="891660723" sldId="277"/>
        </pc:sldMkLst>
      </pc:sldChg>
      <pc:sldChg chg="add del">
        <pc:chgData name="曹修源" userId="cd4dc3a9-fcfc-4557-b60c-6ceb710917d0" providerId="ADAL" clId="{71297F49-2CAE-4594-B63B-4A19240BC034}" dt="2026-05-05T06:15:55.955" v="18"/>
        <pc:sldMkLst>
          <pc:docMk/>
          <pc:sldMk cId="3192803208" sldId="278"/>
        </pc:sldMkLst>
      </pc:sldChg>
      <pc:sldChg chg="add">
        <pc:chgData name="曹修源" userId="cd4dc3a9-fcfc-4557-b60c-6ceb710917d0" providerId="ADAL" clId="{71297F49-2CAE-4594-B63B-4A19240BC034}" dt="2026-05-05T06:15:55.952" v="17"/>
        <pc:sldMkLst>
          <pc:docMk/>
          <pc:sldMk cId="300436271" sldId="279"/>
        </pc:sldMkLst>
      </pc:sldChg>
      <pc:sldChg chg="add">
        <pc:chgData name="曹修源" userId="cd4dc3a9-fcfc-4557-b60c-6ceb710917d0" providerId="ADAL" clId="{71297F49-2CAE-4594-B63B-4A19240BC034}" dt="2026-05-05T06:16:35.154" v="19"/>
        <pc:sldMkLst>
          <pc:docMk/>
          <pc:sldMk cId="266199271" sldId="280"/>
        </pc:sldMkLst>
      </pc:sldChg>
      <pc:sldChg chg="add">
        <pc:chgData name="曹修源" userId="cd4dc3a9-fcfc-4557-b60c-6ceb710917d0" providerId="ADAL" clId="{71297F49-2CAE-4594-B63B-4A19240BC034}" dt="2026-05-05T06:17:11.130" v="21"/>
        <pc:sldMkLst>
          <pc:docMk/>
          <pc:sldMk cId="260457930" sldId="281"/>
        </pc:sldMkLst>
      </pc:sldChg>
      <pc:sldChg chg="add">
        <pc:chgData name="曹修源" userId="cd4dc3a9-fcfc-4557-b60c-6ceb710917d0" providerId="ADAL" clId="{71297F49-2CAE-4594-B63B-4A19240BC034}" dt="2026-05-05T06:17:38.495" v="23"/>
        <pc:sldMkLst>
          <pc:docMk/>
          <pc:sldMk cId="717902300" sldId="282"/>
        </pc:sldMkLst>
      </pc:sldChg>
      <pc:sldChg chg="add">
        <pc:chgData name="曹修源" userId="cd4dc3a9-fcfc-4557-b60c-6ceb710917d0" providerId="ADAL" clId="{71297F49-2CAE-4594-B63B-4A19240BC034}" dt="2026-05-05T06:18:11.029" v="25"/>
        <pc:sldMkLst>
          <pc:docMk/>
          <pc:sldMk cId="111813503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50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1956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43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208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390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435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408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18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371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9429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6219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202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573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7658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040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1687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40704-DD35-CD47-A325-B42C05FBD16E}" type="datetimeFigureOut">
              <a:rPr kumimoji="1" lang="zh-TW" altLang="en-US" smtClean="0"/>
              <a:t>2026/5/5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4214011-9548-B94D-838D-298FDED12F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544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eplearningwizard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9FE771-E305-DC4D-B95D-75209D94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169" y="2344844"/>
            <a:ext cx="8911687" cy="1280890"/>
          </a:xfrm>
        </p:spPr>
        <p:txBody>
          <a:bodyPr/>
          <a:lstStyle/>
          <a:p>
            <a:r>
              <a:rPr kumimoji="1" lang="en-US" altLang="zh-TW" dirty="0"/>
              <a:t>IBM SPSS </a:t>
            </a:r>
            <a:r>
              <a:rPr kumimoji="1" lang="zh-CN" altLang="en-US" dirty="0"/>
              <a:t>神經網路</a:t>
            </a:r>
            <a:r>
              <a:rPr kumimoji="1" lang="en-US" altLang="zh-CN" dirty="0"/>
              <a:t>-</a:t>
            </a:r>
            <a:r>
              <a:rPr kumimoji="1" lang="zh-CN" altLang="en-US" dirty="0"/>
              <a:t>多層感知分析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930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08000" y="101600"/>
            <a:ext cx="11176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 dirty="0">
                <a:solidFill>
                  <a:srgbClr val="A53010"/>
                </a:solidFill>
              </a:rPr>
              <a:t>Multilayer Perceptron (MLP) Architecture</a:t>
            </a:r>
          </a:p>
        </p:txBody>
      </p:sp>
      <p:cxnSp>
        <p:nvCxnSpPr>
          <p:cNvPr id="101" name="Conn 101"/>
          <p:cNvCxnSpPr/>
          <p:nvPr/>
        </p:nvCxnSpPr>
        <p:spPr>
          <a:xfrm flipV="1">
            <a:off x="2286000" y="1816100"/>
            <a:ext cx="2709333" cy="24765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02" name="Conn 102"/>
          <p:cNvCxnSpPr/>
          <p:nvPr/>
        </p:nvCxnSpPr>
        <p:spPr>
          <a:xfrm>
            <a:off x="2286000" y="2063750"/>
            <a:ext cx="2709333" cy="74295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03" name="Conn 103"/>
          <p:cNvCxnSpPr/>
          <p:nvPr/>
        </p:nvCxnSpPr>
        <p:spPr>
          <a:xfrm>
            <a:off x="2286000" y="2063750"/>
            <a:ext cx="2709333" cy="173355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04" name="Conn 104"/>
          <p:cNvCxnSpPr/>
          <p:nvPr/>
        </p:nvCxnSpPr>
        <p:spPr>
          <a:xfrm>
            <a:off x="2286000" y="2063750"/>
            <a:ext cx="2709333" cy="272415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05" name="Conn 105"/>
          <p:cNvCxnSpPr/>
          <p:nvPr/>
        </p:nvCxnSpPr>
        <p:spPr>
          <a:xfrm flipV="1">
            <a:off x="2286000" y="1816100"/>
            <a:ext cx="2709333" cy="14859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06" name="Conn 106"/>
          <p:cNvCxnSpPr/>
          <p:nvPr/>
        </p:nvCxnSpPr>
        <p:spPr>
          <a:xfrm flipV="1">
            <a:off x="2286000" y="2806700"/>
            <a:ext cx="2709333" cy="4953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07" name="Conn 107"/>
          <p:cNvCxnSpPr/>
          <p:nvPr/>
        </p:nvCxnSpPr>
        <p:spPr>
          <a:xfrm>
            <a:off x="2286000" y="3302000"/>
            <a:ext cx="2709333" cy="4953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08" name="Conn 108"/>
          <p:cNvCxnSpPr/>
          <p:nvPr/>
        </p:nvCxnSpPr>
        <p:spPr>
          <a:xfrm>
            <a:off x="2286000" y="3302000"/>
            <a:ext cx="2709333" cy="14859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09" name="Conn 109"/>
          <p:cNvCxnSpPr/>
          <p:nvPr/>
        </p:nvCxnSpPr>
        <p:spPr>
          <a:xfrm flipV="1">
            <a:off x="2286000" y="1816100"/>
            <a:ext cx="2709333" cy="272415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0" name="Conn 110"/>
          <p:cNvCxnSpPr/>
          <p:nvPr/>
        </p:nvCxnSpPr>
        <p:spPr>
          <a:xfrm flipV="1">
            <a:off x="2286000" y="2806700"/>
            <a:ext cx="2709333" cy="173355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1" name="Conn 111"/>
          <p:cNvCxnSpPr/>
          <p:nvPr/>
        </p:nvCxnSpPr>
        <p:spPr>
          <a:xfrm flipV="1">
            <a:off x="2286000" y="3797300"/>
            <a:ext cx="2709333" cy="74295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2" name="Conn 112"/>
          <p:cNvCxnSpPr/>
          <p:nvPr/>
        </p:nvCxnSpPr>
        <p:spPr>
          <a:xfrm>
            <a:off x="2286000" y="4540250"/>
            <a:ext cx="2709333" cy="24765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3" name="Conn 113"/>
          <p:cNvCxnSpPr/>
          <p:nvPr/>
        </p:nvCxnSpPr>
        <p:spPr>
          <a:xfrm>
            <a:off x="4995333" y="1816100"/>
            <a:ext cx="2709333" cy="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4" name="Conn 114"/>
          <p:cNvCxnSpPr/>
          <p:nvPr/>
        </p:nvCxnSpPr>
        <p:spPr>
          <a:xfrm>
            <a:off x="4995333" y="1816100"/>
            <a:ext cx="2709333" cy="9906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5" name="Conn 115"/>
          <p:cNvCxnSpPr/>
          <p:nvPr/>
        </p:nvCxnSpPr>
        <p:spPr>
          <a:xfrm>
            <a:off x="4995333" y="1816100"/>
            <a:ext cx="2709333" cy="19812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6" name="Conn 116"/>
          <p:cNvCxnSpPr/>
          <p:nvPr/>
        </p:nvCxnSpPr>
        <p:spPr>
          <a:xfrm>
            <a:off x="4995333" y="1816100"/>
            <a:ext cx="2709333" cy="29718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7" name="Conn 117"/>
          <p:cNvCxnSpPr/>
          <p:nvPr/>
        </p:nvCxnSpPr>
        <p:spPr>
          <a:xfrm flipV="1">
            <a:off x="4995333" y="1816100"/>
            <a:ext cx="2709333" cy="9906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8" name="Conn 118"/>
          <p:cNvCxnSpPr/>
          <p:nvPr/>
        </p:nvCxnSpPr>
        <p:spPr>
          <a:xfrm>
            <a:off x="4995333" y="2806700"/>
            <a:ext cx="2709333" cy="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19" name="Conn 119"/>
          <p:cNvCxnSpPr/>
          <p:nvPr/>
        </p:nvCxnSpPr>
        <p:spPr>
          <a:xfrm>
            <a:off x="4995333" y="2806700"/>
            <a:ext cx="2709333" cy="9906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0" name="Conn 120"/>
          <p:cNvCxnSpPr/>
          <p:nvPr/>
        </p:nvCxnSpPr>
        <p:spPr>
          <a:xfrm>
            <a:off x="4995333" y="2806700"/>
            <a:ext cx="2709333" cy="19812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1" name="Conn 121"/>
          <p:cNvCxnSpPr/>
          <p:nvPr/>
        </p:nvCxnSpPr>
        <p:spPr>
          <a:xfrm flipV="1">
            <a:off x="4995333" y="1816100"/>
            <a:ext cx="2709333" cy="19812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2" name="Conn 122"/>
          <p:cNvCxnSpPr/>
          <p:nvPr/>
        </p:nvCxnSpPr>
        <p:spPr>
          <a:xfrm flipV="1">
            <a:off x="4995333" y="2806700"/>
            <a:ext cx="2709333" cy="9906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3" name="Conn 123"/>
          <p:cNvCxnSpPr/>
          <p:nvPr/>
        </p:nvCxnSpPr>
        <p:spPr>
          <a:xfrm>
            <a:off x="4995333" y="3797300"/>
            <a:ext cx="2709333" cy="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4" name="Conn 124"/>
          <p:cNvCxnSpPr/>
          <p:nvPr/>
        </p:nvCxnSpPr>
        <p:spPr>
          <a:xfrm>
            <a:off x="4995333" y="3797300"/>
            <a:ext cx="2709333" cy="9906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5" name="Conn 125"/>
          <p:cNvCxnSpPr/>
          <p:nvPr/>
        </p:nvCxnSpPr>
        <p:spPr>
          <a:xfrm flipV="1">
            <a:off x="4995333" y="1816100"/>
            <a:ext cx="2709333" cy="29718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6" name="Conn 126"/>
          <p:cNvCxnSpPr/>
          <p:nvPr/>
        </p:nvCxnSpPr>
        <p:spPr>
          <a:xfrm flipV="1">
            <a:off x="4995333" y="2806700"/>
            <a:ext cx="2709333" cy="19812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7" name="Conn 127"/>
          <p:cNvCxnSpPr/>
          <p:nvPr/>
        </p:nvCxnSpPr>
        <p:spPr>
          <a:xfrm flipV="1">
            <a:off x="4995333" y="3797300"/>
            <a:ext cx="2709333" cy="9906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8" name="Conn 128"/>
          <p:cNvCxnSpPr/>
          <p:nvPr/>
        </p:nvCxnSpPr>
        <p:spPr>
          <a:xfrm>
            <a:off x="4995333" y="4787900"/>
            <a:ext cx="2709333" cy="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29" name="Conn 129"/>
          <p:cNvCxnSpPr/>
          <p:nvPr/>
        </p:nvCxnSpPr>
        <p:spPr>
          <a:xfrm>
            <a:off x="7704667" y="1816100"/>
            <a:ext cx="2709333" cy="6604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30" name="Conn 130"/>
          <p:cNvCxnSpPr/>
          <p:nvPr/>
        </p:nvCxnSpPr>
        <p:spPr>
          <a:xfrm>
            <a:off x="7704667" y="1816100"/>
            <a:ext cx="2709333" cy="23114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31" name="Conn 131"/>
          <p:cNvCxnSpPr/>
          <p:nvPr/>
        </p:nvCxnSpPr>
        <p:spPr>
          <a:xfrm flipV="1">
            <a:off x="7704667" y="2476500"/>
            <a:ext cx="2709333" cy="3302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32" name="Conn 132"/>
          <p:cNvCxnSpPr/>
          <p:nvPr/>
        </p:nvCxnSpPr>
        <p:spPr>
          <a:xfrm>
            <a:off x="7704667" y="2806700"/>
            <a:ext cx="2709333" cy="13208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33" name="Conn 133"/>
          <p:cNvCxnSpPr/>
          <p:nvPr/>
        </p:nvCxnSpPr>
        <p:spPr>
          <a:xfrm flipV="1">
            <a:off x="7704667" y="2476500"/>
            <a:ext cx="2709333" cy="13208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34" name="Conn 134"/>
          <p:cNvCxnSpPr/>
          <p:nvPr/>
        </p:nvCxnSpPr>
        <p:spPr>
          <a:xfrm>
            <a:off x="7704667" y="3797300"/>
            <a:ext cx="2709333" cy="3302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35" name="Conn 135"/>
          <p:cNvCxnSpPr/>
          <p:nvPr/>
        </p:nvCxnSpPr>
        <p:spPr>
          <a:xfrm flipV="1">
            <a:off x="7704667" y="2476500"/>
            <a:ext cx="2709333" cy="23114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cxnSp>
        <p:nvCxnSpPr>
          <p:cNvPr id="136" name="Conn 136"/>
          <p:cNvCxnSpPr/>
          <p:nvPr/>
        </p:nvCxnSpPr>
        <p:spPr>
          <a:xfrm flipV="1">
            <a:off x="7704667" y="4127500"/>
            <a:ext cx="2709333" cy="660400"/>
          </a:xfrm>
          <a:prstGeom prst="line">
            <a:avLst/>
          </a:prstGeom>
          <a:ln w="6350">
            <a:solidFill>
              <a:srgbClr val="766F54">
                <a:alpha val="35000"/>
              </a:srgbClr>
            </a:solidFill>
          </a:ln>
        </p:spPr>
      </p:cxnSp>
      <p:sp>
        <p:nvSpPr>
          <p:cNvPr id="137" name="Node 137"/>
          <p:cNvSpPr/>
          <p:nvPr/>
        </p:nvSpPr>
        <p:spPr>
          <a:xfrm>
            <a:off x="2006600" y="1784350"/>
            <a:ext cx="558800" cy="558800"/>
          </a:xfrm>
          <a:prstGeom prst="ellipse">
            <a:avLst/>
          </a:prstGeom>
          <a:solidFill>
            <a:srgbClr val="92AA4C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8" name="Node 138"/>
          <p:cNvSpPr/>
          <p:nvPr/>
        </p:nvSpPr>
        <p:spPr>
          <a:xfrm>
            <a:off x="2006600" y="3022600"/>
            <a:ext cx="558800" cy="558800"/>
          </a:xfrm>
          <a:prstGeom prst="ellipse">
            <a:avLst/>
          </a:prstGeom>
          <a:solidFill>
            <a:srgbClr val="92AA4C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9" name="Node 139"/>
          <p:cNvSpPr/>
          <p:nvPr/>
        </p:nvSpPr>
        <p:spPr>
          <a:xfrm>
            <a:off x="2006600" y="4260850"/>
            <a:ext cx="558800" cy="558800"/>
          </a:xfrm>
          <a:prstGeom prst="ellipse">
            <a:avLst/>
          </a:prstGeom>
          <a:solidFill>
            <a:srgbClr val="92AA4C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0" name="Node 140"/>
          <p:cNvSpPr/>
          <p:nvPr/>
        </p:nvSpPr>
        <p:spPr>
          <a:xfrm>
            <a:off x="4715933" y="1536700"/>
            <a:ext cx="558800" cy="558800"/>
          </a:xfrm>
          <a:prstGeom prst="ellipse">
            <a:avLst/>
          </a:prstGeom>
          <a:solidFill>
            <a:srgbClr val="A53010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1" name="Node 141"/>
          <p:cNvSpPr/>
          <p:nvPr/>
        </p:nvSpPr>
        <p:spPr>
          <a:xfrm>
            <a:off x="4715933" y="2527300"/>
            <a:ext cx="558800" cy="558800"/>
          </a:xfrm>
          <a:prstGeom prst="ellipse">
            <a:avLst/>
          </a:prstGeom>
          <a:solidFill>
            <a:srgbClr val="A53010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" name="Node 142"/>
          <p:cNvSpPr/>
          <p:nvPr/>
        </p:nvSpPr>
        <p:spPr>
          <a:xfrm>
            <a:off x="4715933" y="3517900"/>
            <a:ext cx="558800" cy="558800"/>
          </a:xfrm>
          <a:prstGeom prst="ellipse">
            <a:avLst/>
          </a:prstGeom>
          <a:solidFill>
            <a:srgbClr val="A53010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3" name="Node 143"/>
          <p:cNvSpPr/>
          <p:nvPr/>
        </p:nvSpPr>
        <p:spPr>
          <a:xfrm>
            <a:off x="4715933" y="4508500"/>
            <a:ext cx="558800" cy="558800"/>
          </a:xfrm>
          <a:prstGeom prst="ellipse">
            <a:avLst/>
          </a:prstGeom>
          <a:solidFill>
            <a:srgbClr val="A53010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4" name="Node 144"/>
          <p:cNvSpPr/>
          <p:nvPr/>
        </p:nvSpPr>
        <p:spPr>
          <a:xfrm>
            <a:off x="7425267" y="1536700"/>
            <a:ext cx="558800" cy="558800"/>
          </a:xfrm>
          <a:prstGeom prst="ellipse">
            <a:avLst/>
          </a:prstGeom>
          <a:solidFill>
            <a:srgbClr val="DE7E18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5" name="Node 145"/>
          <p:cNvSpPr/>
          <p:nvPr/>
        </p:nvSpPr>
        <p:spPr>
          <a:xfrm>
            <a:off x="7425267" y="2527300"/>
            <a:ext cx="558800" cy="558800"/>
          </a:xfrm>
          <a:prstGeom prst="ellipse">
            <a:avLst/>
          </a:prstGeom>
          <a:solidFill>
            <a:srgbClr val="DE7E18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6" name="Node 146"/>
          <p:cNvSpPr/>
          <p:nvPr/>
        </p:nvSpPr>
        <p:spPr>
          <a:xfrm>
            <a:off x="7425267" y="3517900"/>
            <a:ext cx="558800" cy="558800"/>
          </a:xfrm>
          <a:prstGeom prst="ellipse">
            <a:avLst/>
          </a:prstGeom>
          <a:solidFill>
            <a:srgbClr val="DE7E18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7" name="Node 147"/>
          <p:cNvSpPr/>
          <p:nvPr/>
        </p:nvSpPr>
        <p:spPr>
          <a:xfrm>
            <a:off x="7425267" y="4508500"/>
            <a:ext cx="558800" cy="558800"/>
          </a:xfrm>
          <a:prstGeom prst="ellipse">
            <a:avLst/>
          </a:prstGeom>
          <a:solidFill>
            <a:srgbClr val="DE7E18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8" name="Node 148"/>
          <p:cNvSpPr/>
          <p:nvPr/>
        </p:nvSpPr>
        <p:spPr>
          <a:xfrm>
            <a:off x="10134600" y="2197100"/>
            <a:ext cx="558800" cy="558800"/>
          </a:xfrm>
          <a:prstGeom prst="ellipse">
            <a:avLst/>
          </a:prstGeom>
          <a:solidFill>
            <a:srgbClr val="728653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9" name="Node 149"/>
          <p:cNvSpPr/>
          <p:nvPr/>
        </p:nvSpPr>
        <p:spPr>
          <a:xfrm>
            <a:off x="10134600" y="3848100"/>
            <a:ext cx="558800" cy="558800"/>
          </a:xfrm>
          <a:prstGeom prst="ellipse">
            <a:avLst/>
          </a:prstGeom>
          <a:solidFill>
            <a:srgbClr val="728653"/>
          </a:solidFill>
          <a:ln w="0">
            <a:noFill/>
          </a:ln>
          <a:effectLst>
            <a:outerShdw blurRad="40000" dist="20000" dir="5400000" algn="t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0" name="LayerLabel 150"/>
          <p:cNvSpPr txBox="1"/>
          <p:nvPr/>
        </p:nvSpPr>
        <p:spPr>
          <a:xfrm>
            <a:off x="1270000" y="5048250"/>
            <a:ext cx="203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92AA4C"/>
                </a:solidFill>
              </a:rPr>
              <a:t>Input Layer</a:t>
            </a:r>
          </a:p>
        </p:txBody>
      </p:sp>
      <p:sp>
        <p:nvSpPr>
          <p:cNvPr id="151" name="LayerLabel 151"/>
          <p:cNvSpPr txBox="1"/>
          <p:nvPr/>
        </p:nvSpPr>
        <p:spPr>
          <a:xfrm>
            <a:off x="3979333" y="5295900"/>
            <a:ext cx="203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A53010"/>
                </a:solidFill>
              </a:rPr>
              <a:t>Hidden Layer 1</a:t>
            </a:r>
          </a:p>
        </p:txBody>
      </p:sp>
      <p:sp>
        <p:nvSpPr>
          <p:cNvPr id="152" name="LayerLabel 152"/>
          <p:cNvSpPr txBox="1"/>
          <p:nvPr/>
        </p:nvSpPr>
        <p:spPr>
          <a:xfrm>
            <a:off x="6688667" y="5295900"/>
            <a:ext cx="203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DE7E18"/>
                </a:solidFill>
              </a:rPr>
              <a:t>Hidden Layer 2</a:t>
            </a:r>
          </a:p>
        </p:txBody>
      </p:sp>
      <p:sp>
        <p:nvSpPr>
          <p:cNvPr id="153" name="LayerLabel 153"/>
          <p:cNvSpPr txBox="1"/>
          <p:nvPr/>
        </p:nvSpPr>
        <p:spPr>
          <a:xfrm>
            <a:off x="9398000" y="4635500"/>
            <a:ext cx="203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728653"/>
                </a:solidFill>
              </a:rPr>
              <a:t>Output Layer</a:t>
            </a:r>
          </a:p>
        </p:txBody>
      </p:sp>
      <p:sp>
        <p:nvSpPr>
          <p:cNvPr id="154" name="XLabel 154"/>
          <p:cNvSpPr txBox="1"/>
          <p:nvPr/>
        </p:nvSpPr>
        <p:spPr>
          <a:xfrm>
            <a:off x="1371600" y="1936750"/>
            <a:ext cx="508000" cy="254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 i="1" dirty="0">
                <a:solidFill>
                  <a:srgbClr val="766F54"/>
                </a:solidFill>
                <a:latin typeface="Cambria Math"/>
              </a:rPr>
              <a:t>x</a:t>
            </a:r>
            <a:r>
              <a:rPr lang="en-US" sz="1400" baseline="-25000" dirty="0">
                <a:solidFill>
                  <a:srgbClr val="766F54"/>
                </a:solidFill>
              </a:rPr>
              <a:t>1</a:t>
            </a:r>
          </a:p>
        </p:txBody>
      </p:sp>
      <p:sp>
        <p:nvSpPr>
          <p:cNvPr id="155" name="XLabel 155"/>
          <p:cNvSpPr txBox="1"/>
          <p:nvPr/>
        </p:nvSpPr>
        <p:spPr>
          <a:xfrm>
            <a:off x="1371600" y="31750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 i="1" dirty="0">
                <a:solidFill>
                  <a:srgbClr val="766F54"/>
                </a:solidFill>
                <a:latin typeface="Cambria Math"/>
              </a:rPr>
              <a:t>x</a:t>
            </a:r>
            <a:r>
              <a:rPr lang="en-US" sz="1400" baseline="-25000" dirty="0">
                <a:solidFill>
                  <a:srgbClr val="766F54"/>
                </a:solidFill>
              </a:rPr>
              <a:t>2</a:t>
            </a:r>
          </a:p>
        </p:txBody>
      </p:sp>
      <p:sp>
        <p:nvSpPr>
          <p:cNvPr id="156" name="XLabel 156"/>
          <p:cNvSpPr txBox="1"/>
          <p:nvPr/>
        </p:nvSpPr>
        <p:spPr>
          <a:xfrm>
            <a:off x="1371600" y="4413250"/>
            <a:ext cx="508000" cy="254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 i="1" dirty="0">
                <a:solidFill>
                  <a:srgbClr val="766F54"/>
                </a:solidFill>
                <a:latin typeface="Cambria Math"/>
              </a:rPr>
              <a:t>x</a:t>
            </a:r>
            <a:r>
              <a:rPr lang="en-US" sz="1400" baseline="-25000" dirty="0">
                <a:solidFill>
                  <a:srgbClr val="766F54"/>
                </a:solidFill>
              </a:rPr>
              <a:t>3</a:t>
            </a:r>
          </a:p>
        </p:txBody>
      </p:sp>
      <p:sp>
        <p:nvSpPr>
          <p:cNvPr id="157" name="YLabel 157"/>
          <p:cNvSpPr txBox="1"/>
          <p:nvPr/>
        </p:nvSpPr>
        <p:spPr>
          <a:xfrm>
            <a:off x="10820400" y="23495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i="1" dirty="0">
                <a:solidFill>
                  <a:srgbClr val="766F54"/>
                </a:solidFill>
                <a:latin typeface="Cambria Math"/>
              </a:rPr>
              <a:t>y</a:t>
            </a:r>
            <a:r>
              <a:rPr lang="en-US" sz="1400" baseline="-25000" dirty="0">
                <a:solidFill>
                  <a:srgbClr val="766F54"/>
                </a:solidFill>
              </a:rPr>
              <a:t>1</a:t>
            </a:r>
          </a:p>
        </p:txBody>
      </p:sp>
      <p:sp>
        <p:nvSpPr>
          <p:cNvPr id="158" name="YLabel 158"/>
          <p:cNvSpPr txBox="1"/>
          <p:nvPr/>
        </p:nvSpPr>
        <p:spPr>
          <a:xfrm>
            <a:off x="10820400" y="4000500"/>
            <a:ext cx="508000" cy="254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i="1" dirty="0">
                <a:solidFill>
                  <a:srgbClr val="766F54"/>
                </a:solidFill>
                <a:latin typeface="Cambria Math"/>
              </a:rPr>
              <a:t>y</a:t>
            </a:r>
            <a:r>
              <a:rPr lang="en-US" sz="1400" baseline="-25000" dirty="0">
                <a:solidFill>
                  <a:srgbClr val="766F54"/>
                </a:solidFill>
              </a:rPr>
              <a:t>2</a:t>
            </a:r>
          </a:p>
        </p:txBody>
      </p:sp>
      <p:sp>
        <p:nvSpPr>
          <p:cNvPr id="159" name="ArrowIn"/>
          <p:cNvSpPr/>
          <p:nvPr/>
        </p:nvSpPr>
        <p:spPr>
          <a:xfrm>
            <a:off x="889000" y="3276600"/>
            <a:ext cx="571500" cy="304800"/>
          </a:xfrm>
          <a:prstGeom prst="rightArrow">
            <a:avLst/>
          </a:prstGeom>
          <a:solidFill>
            <a:srgbClr val="92AA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ArrowOut"/>
          <p:cNvSpPr/>
          <p:nvPr/>
        </p:nvSpPr>
        <p:spPr>
          <a:xfrm>
            <a:off x="10858500" y="3276600"/>
            <a:ext cx="571500" cy="304800"/>
          </a:xfrm>
          <a:prstGeom prst="rightArrow">
            <a:avLst/>
          </a:prstGeom>
          <a:solidFill>
            <a:srgbClr val="7286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InputTxt"/>
          <p:cNvSpPr txBox="1"/>
          <p:nvPr/>
        </p:nvSpPr>
        <p:spPr>
          <a:xfrm>
            <a:off x="508000" y="29845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92AA4C"/>
                </a:solidFill>
              </a:rPr>
              <a:t>Input</a:t>
            </a:r>
          </a:p>
        </p:txBody>
      </p:sp>
      <p:sp>
        <p:nvSpPr>
          <p:cNvPr id="162" name="OutputTxt"/>
          <p:cNvSpPr txBox="1"/>
          <p:nvPr/>
        </p:nvSpPr>
        <p:spPr>
          <a:xfrm>
            <a:off x="10541000" y="29845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728653"/>
                </a:solidFill>
              </a:rPr>
              <a:t>Output</a:t>
            </a:r>
          </a:p>
        </p:txBody>
      </p:sp>
      <p:sp>
        <p:nvSpPr>
          <p:cNvPr id="163" name="Subtitle"/>
          <p:cNvSpPr txBox="1"/>
          <p:nvPr/>
        </p:nvSpPr>
        <p:spPr>
          <a:xfrm>
            <a:off x="1270000" y="6375400"/>
            <a:ext cx="9652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400" dirty="0">
                <a:solidFill>
                  <a:srgbClr val="9F8351"/>
                </a:solidFill>
              </a:rPr>
              <a:t>Fully connected feed-forward neural network with multiple hidden layers</a:t>
            </a:r>
          </a:p>
        </p:txBody>
      </p:sp>
    </p:spTree>
    <p:extLst>
      <p:ext uri="{BB962C8B-B14F-4D97-AF65-F5344CB8AC3E}">
        <p14:creationId xmlns:p14="http://schemas.microsoft.com/office/powerpoint/2010/main" val="233139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5EFAB-A7E9-41DA-A438-12BFFA1E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3992"/>
          </a:xfrm>
        </p:spPr>
        <p:txBody>
          <a:bodyPr/>
          <a:lstStyle/>
          <a:p>
            <a:r>
              <a:rPr lang="zh-TW" altLang="en-US" dirty="0"/>
              <a:t>神經元運作模式</a:t>
            </a:r>
          </a:p>
        </p:txBody>
      </p:sp>
      <p:sp>
        <p:nvSpPr>
          <p:cNvPr id="200" name="Box200"/>
          <p:cNvSpPr/>
          <p:nvPr/>
        </p:nvSpPr>
        <p:spPr>
          <a:xfrm>
            <a:off x="1143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1" name="Box201"/>
          <p:cNvSpPr/>
          <p:nvPr/>
        </p:nvSpPr>
        <p:spPr>
          <a:xfrm>
            <a:off x="1143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A53010"/>
          </a:solidFill>
          <a:ln w="12700">
            <a:solidFill>
              <a:srgbClr val="A5301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2" name="Box202"/>
          <p:cNvSpPr/>
          <p:nvPr/>
        </p:nvSpPr>
        <p:spPr>
          <a:xfrm>
            <a:off x="1143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Lbl203"/>
          <p:cNvSpPr txBox="1"/>
          <p:nvPr/>
        </p:nvSpPr>
        <p:spPr>
          <a:xfrm>
            <a:off x="482600" y="3492500"/>
            <a:ext cx="571500" cy="1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766F54"/>
                </a:solidFill>
              </a:rPr>
              <a:t>神經元
輸入</a:t>
            </a:r>
          </a:p>
        </p:txBody>
      </p:sp>
      <p:sp>
        <p:nvSpPr>
          <p:cNvPr id="204" name="Box204"/>
          <p:cNvSpPr/>
          <p:nvPr/>
        </p:nvSpPr>
        <p:spPr>
          <a:xfrm>
            <a:off x="2286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5" name="Box205"/>
          <p:cNvSpPr/>
          <p:nvPr/>
        </p:nvSpPr>
        <p:spPr>
          <a:xfrm>
            <a:off x="2286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-2</a:t>
            </a:r>
          </a:p>
        </p:txBody>
      </p:sp>
      <p:sp>
        <p:nvSpPr>
          <p:cNvPr id="206" name="Box206"/>
          <p:cNvSpPr/>
          <p:nvPr/>
        </p:nvSpPr>
        <p:spPr>
          <a:xfrm>
            <a:off x="2286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7" name="Lbl207"/>
          <p:cNvSpPr txBox="1"/>
          <p:nvPr/>
        </p:nvSpPr>
        <p:spPr>
          <a:xfrm>
            <a:off x="2222500" y="53721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9F8351"/>
                </a:solidFill>
              </a:rPr>
              <a:t>權重</a:t>
            </a:r>
          </a:p>
        </p:txBody>
      </p:sp>
      <p:cxnSp>
        <p:nvCxnSpPr>
          <p:cNvPr id="208" name="Line208"/>
          <p:cNvCxnSpPr/>
          <p:nvPr/>
        </p:nvCxnSpPr>
        <p:spPr>
          <a:xfrm>
            <a:off x="1752600" y="3238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09" name="Line209"/>
          <p:cNvCxnSpPr/>
          <p:nvPr/>
        </p:nvCxnSpPr>
        <p:spPr>
          <a:xfrm>
            <a:off x="1752600" y="4127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0" name="Line210"/>
          <p:cNvCxnSpPr/>
          <p:nvPr/>
        </p:nvCxnSpPr>
        <p:spPr>
          <a:xfrm>
            <a:off x="1752600" y="5016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1" name="Line211"/>
          <p:cNvCxnSpPr/>
          <p:nvPr/>
        </p:nvCxnSpPr>
        <p:spPr>
          <a:xfrm>
            <a:off x="2895600" y="3238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2" name="Line212"/>
          <p:cNvCxnSpPr/>
          <p:nvPr/>
        </p:nvCxnSpPr>
        <p:spPr>
          <a:xfrm>
            <a:off x="2895600" y="4127500"/>
            <a:ext cx="9779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3" name="Line213"/>
          <p:cNvCxnSpPr/>
          <p:nvPr/>
        </p:nvCxnSpPr>
        <p:spPr>
          <a:xfrm flipV="1">
            <a:off x="2895600" y="4127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sp>
        <p:nvSpPr>
          <p:cNvPr id="214" name="Sigma"/>
          <p:cNvSpPr/>
          <p:nvPr/>
        </p:nvSpPr>
        <p:spPr>
          <a:xfrm>
            <a:off x="3835400" y="3771900"/>
            <a:ext cx="711200" cy="711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DE7E18"/>
                </a:solidFill>
              </a:rPr>
              <a:t>+</a:t>
            </a:r>
          </a:p>
        </p:txBody>
      </p:sp>
      <p:cxnSp>
        <p:nvCxnSpPr>
          <p:cNvPr id="215" name="Arrow215"/>
          <p:cNvCxnSpPr/>
          <p:nvPr/>
        </p:nvCxnSpPr>
        <p:spPr>
          <a:xfrm>
            <a:off x="4546600" y="4127500"/>
            <a:ext cx="4699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16" name="Box216"/>
          <p:cNvSpPr/>
          <p:nvPr/>
        </p:nvSpPr>
        <p:spPr>
          <a:xfrm>
            <a:off x="5016500" y="3848100"/>
            <a:ext cx="558800" cy="558800"/>
          </a:xfrm>
          <a:prstGeom prst="roundRect">
            <a:avLst>
              <a:gd name="adj" fmla="val 10000"/>
            </a:avLst>
          </a:prstGeom>
          <a:solidFill>
            <a:srgbClr val="DE7E18"/>
          </a:solidFill>
          <a:ln w="1270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7" name="Box217"/>
          <p:cNvSpPr/>
          <p:nvPr/>
        </p:nvSpPr>
        <p:spPr>
          <a:xfrm>
            <a:off x="4064000" y="5372100"/>
            <a:ext cx="558800" cy="457200"/>
          </a:xfrm>
          <a:prstGeom prst="roundRect">
            <a:avLst>
              <a:gd name="adj" fmla="val 10000"/>
            </a:avLst>
          </a:prstGeom>
          <a:solidFill>
            <a:srgbClr val="728653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8" name="Lbl218"/>
          <p:cNvSpPr txBox="1"/>
          <p:nvPr/>
        </p:nvSpPr>
        <p:spPr>
          <a:xfrm>
            <a:off x="4000500" y="5854700"/>
            <a:ext cx="698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728653"/>
                </a:solidFill>
              </a:rPr>
              <a:t>閾值</a:t>
            </a:r>
          </a:p>
        </p:txBody>
      </p:sp>
      <p:cxnSp>
        <p:nvCxnSpPr>
          <p:cNvPr id="219" name="ThreshLine"/>
          <p:cNvCxnSpPr/>
          <p:nvPr/>
        </p:nvCxnSpPr>
        <p:spPr>
          <a:xfrm flipV="1">
            <a:off x="4343400" y="4483100"/>
            <a:ext cx="6350" cy="889000"/>
          </a:xfrm>
          <a:prstGeom prst="line">
            <a:avLst/>
          </a:prstGeom>
          <a:ln w="12700">
            <a:solidFill>
              <a:srgbClr val="728653"/>
            </a:solidFill>
            <a:prstDash val="dash"/>
            <a:tailEnd type="triangle" w="sm" len="sm"/>
          </a:ln>
        </p:spPr>
      </p:cxnSp>
      <p:cxnSp>
        <p:nvCxnSpPr>
          <p:cNvPr id="220" name="Arrow220"/>
          <p:cNvCxnSpPr/>
          <p:nvPr/>
        </p:nvCxnSpPr>
        <p:spPr>
          <a:xfrm>
            <a:off x="5575300" y="4127500"/>
            <a:ext cx="4572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21" name="ActEllipse"/>
          <p:cNvSpPr/>
          <p:nvPr/>
        </p:nvSpPr>
        <p:spPr>
          <a:xfrm>
            <a:off x="6032500" y="3048000"/>
            <a:ext cx="2413000" cy="2159000"/>
          </a:xfrm>
          <a:prstGeom prst="ellipse">
            <a:avLst/>
          </a:prstGeom>
          <a:solidFill>
            <a:srgbClr val="D4EAF5"/>
          </a:solidFill>
          <a:ln w="12700">
            <a:solidFill>
              <a:srgbClr val="9ECBE0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2" name="Arrow222"/>
          <p:cNvCxnSpPr/>
          <p:nvPr/>
        </p:nvCxnSpPr>
        <p:spPr>
          <a:xfrm>
            <a:off x="6413500" y="4127500"/>
            <a:ext cx="1651000" cy="6350"/>
          </a:xfrm>
          <a:prstGeom prst="line">
            <a:avLst/>
          </a:prstGeom>
          <a:ln w="9525">
            <a:solidFill>
              <a:srgbClr val="5BA0C0"/>
            </a:solidFill>
            <a:tailEnd type="triangle" w="med" len="med"/>
          </a:ln>
        </p:spPr>
      </p:cxnSp>
      <p:cxnSp>
        <p:nvCxnSpPr>
          <p:cNvPr id="223" name="Arrow223"/>
          <p:cNvCxnSpPr/>
          <p:nvPr/>
        </p:nvCxnSpPr>
        <p:spPr>
          <a:xfrm flipV="1">
            <a:off x="7239000" y="3429000"/>
            <a:ext cx="6350" cy="1397000"/>
          </a:xfrm>
          <a:prstGeom prst="line">
            <a:avLst/>
          </a:prstGeom>
          <a:ln w="9525">
            <a:solidFill>
              <a:srgbClr val="5BA0C0"/>
            </a:solidFill>
            <a:tailEnd type="triangle" w="med" len="med"/>
          </a:ln>
        </p:spPr>
      </p:cxnSp>
      <p:cxnSp>
        <p:nvCxnSpPr>
          <p:cNvPr id="224" name="Line224"/>
          <p:cNvCxnSpPr/>
          <p:nvPr/>
        </p:nvCxnSpPr>
        <p:spPr>
          <a:xfrm flipV="1">
            <a:off x="6540500" y="4572000"/>
            <a:ext cx="254000" cy="63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5" name="Line225"/>
          <p:cNvCxnSpPr/>
          <p:nvPr/>
        </p:nvCxnSpPr>
        <p:spPr>
          <a:xfrm flipV="1">
            <a:off x="6794500" y="4381500"/>
            <a:ext cx="254000" cy="190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6" name="Line226"/>
          <p:cNvCxnSpPr/>
          <p:nvPr/>
        </p:nvCxnSpPr>
        <p:spPr>
          <a:xfrm flipV="1">
            <a:off x="7048500" y="4127500"/>
            <a:ext cx="190500" cy="2540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7" name="Line227"/>
          <p:cNvCxnSpPr/>
          <p:nvPr/>
        </p:nvCxnSpPr>
        <p:spPr>
          <a:xfrm flipV="1">
            <a:off x="7239000" y="3873500"/>
            <a:ext cx="190500" cy="2540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8" name="Line228"/>
          <p:cNvCxnSpPr/>
          <p:nvPr/>
        </p:nvCxnSpPr>
        <p:spPr>
          <a:xfrm flipV="1">
            <a:off x="7429500" y="3683000"/>
            <a:ext cx="254000" cy="190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9" name="Line229"/>
          <p:cNvCxnSpPr/>
          <p:nvPr/>
        </p:nvCxnSpPr>
        <p:spPr>
          <a:xfrm flipV="1">
            <a:off x="7683500" y="3619500"/>
            <a:ext cx="254000" cy="63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sp>
        <p:nvSpPr>
          <p:cNvPr id="230" name="Lbl230"/>
          <p:cNvSpPr txBox="1"/>
          <p:nvPr/>
        </p:nvSpPr>
        <p:spPr>
          <a:xfrm>
            <a:off x="6985000" y="3022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5BA0C0"/>
                </a:solidFill>
              </a:rPr>
              <a:t>輸出</a:t>
            </a:r>
          </a:p>
        </p:txBody>
      </p:sp>
      <p:sp>
        <p:nvSpPr>
          <p:cNvPr id="231" name="Lbl231"/>
          <p:cNvSpPr txBox="1"/>
          <p:nvPr/>
        </p:nvSpPr>
        <p:spPr>
          <a:xfrm>
            <a:off x="7683500" y="4165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5BA0C0"/>
                </a:solidFill>
              </a:rPr>
              <a:t>輸入</a:t>
            </a:r>
          </a:p>
        </p:txBody>
      </p:sp>
      <p:sp>
        <p:nvSpPr>
          <p:cNvPr id="232" name="Lbl232"/>
          <p:cNvSpPr txBox="1"/>
          <p:nvPr/>
        </p:nvSpPr>
        <p:spPr>
          <a:xfrm>
            <a:off x="6731000" y="52705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5BA0C0"/>
                </a:solidFill>
              </a:rPr>
              <a:t>激活函數</a:t>
            </a:r>
          </a:p>
        </p:txBody>
      </p:sp>
      <p:cxnSp>
        <p:nvCxnSpPr>
          <p:cNvPr id="233" name="Arrow233"/>
          <p:cNvCxnSpPr/>
          <p:nvPr/>
        </p:nvCxnSpPr>
        <p:spPr>
          <a:xfrm>
            <a:off x="8445500" y="4127500"/>
            <a:ext cx="8890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34" name="Box234"/>
          <p:cNvSpPr/>
          <p:nvPr/>
        </p:nvSpPr>
        <p:spPr>
          <a:xfrm>
            <a:off x="9334500" y="3810000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728653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5" name="Lbl235"/>
          <p:cNvSpPr txBox="1"/>
          <p:nvPr/>
        </p:nvSpPr>
        <p:spPr>
          <a:xfrm>
            <a:off x="10033000" y="3746500"/>
            <a:ext cx="635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766F54"/>
                </a:solidFill>
              </a:rPr>
              <a:t>神經元
輸出</a:t>
            </a:r>
          </a:p>
        </p:txBody>
      </p:sp>
      <p:sp>
        <p:nvSpPr>
          <p:cNvPr id="236" name="Desc"/>
          <p:cNvSpPr txBox="1"/>
          <p:nvPr/>
        </p:nvSpPr>
        <p:spPr>
          <a:xfrm>
            <a:off x="1333500" y="1524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92AA4C"/>
                </a:solidFill>
              </a:rPr>
              <a:t>▌ </a:t>
            </a:r>
            <a:r>
              <a:rPr lang="zh-TW" altLang="en-US" sz="1400" dirty="0">
                <a:solidFill>
                  <a:srgbClr val="766F54"/>
                </a:solidFill>
              </a:rPr>
              <a:t>類神經網路中單一神經元及其運作方式</a:t>
            </a:r>
          </a:p>
        </p:txBody>
      </p:sp>
    </p:spTree>
    <p:extLst>
      <p:ext uri="{BB962C8B-B14F-4D97-AF65-F5344CB8AC3E}">
        <p14:creationId xmlns:p14="http://schemas.microsoft.com/office/powerpoint/2010/main" val="85031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5EFAB-A7E9-41DA-A438-12BFFA1E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3992"/>
          </a:xfrm>
        </p:spPr>
        <p:txBody>
          <a:bodyPr/>
          <a:lstStyle/>
          <a:p>
            <a:r>
              <a:rPr lang="zh-TW" altLang="en-US" dirty="0"/>
              <a:t>神經元運作模式</a:t>
            </a:r>
          </a:p>
        </p:txBody>
      </p:sp>
      <p:sp>
        <p:nvSpPr>
          <p:cNvPr id="200" name="Box200"/>
          <p:cNvSpPr/>
          <p:nvPr/>
        </p:nvSpPr>
        <p:spPr>
          <a:xfrm>
            <a:off x="1143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1" name="Box201"/>
          <p:cNvSpPr/>
          <p:nvPr/>
        </p:nvSpPr>
        <p:spPr>
          <a:xfrm>
            <a:off x="1143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A53010"/>
          </a:solidFill>
          <a:ln w="12700">
            <a:solidFill>
              <a:srgbClr val="A5301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2" name="Box202"/>
          <p:cNvSpPr/>
          <p:nvPr/>
        </p:nvSpPr>
        <p:spPr>
          <a:xfrm>
            <a:off x="1143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Lbl203"/>
          <p:cNvSpPr txBox="1"/>
          <p:nvPr/>
        </p:nvSpPr>
        <p:spPr>
          <a:xfrm>
            <a:off x="482600" y="3492500"/>
            <a:ext cx="571500" cy="1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766F54"/>
                </a:solidFill>
              </a:rPr>
              <a:t>神經元
輸入</a:t>
            </a:r>
          </a:p>
        </p:txBody>
      </p:sp>
      <p:sp>
        <p:nvSpPr>
          <p:cNvPr id="204" name="Box204"/>
          <p:cNvSpPr/>
          <p:nvPr/>
        </p:nvSpPr>
        <p:spPr>
          <a:xfrm>
            <a:off x="2286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C8C8C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5" name="Box205"/>
          <p:cNvSpPr/>
          <p:nvPr/>
        </p:nvSpPr>
        <p:spPr>
          <a:xfrm>
            <a:off x="2286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C8C8C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-2</a:t>
            </a:r>
          </a:p>
        </p:txBody>
      </p:sp>
      <p:sp>
        <p:nvSpPr>
          <p:cNvPr id="206" name="Box206"/>
          <p:cNvSpPr/>
          <p:nvPr/>
        </p:nvSpPr>
        <p:spPr>
          <a:xfrm>
            <a:off x="2286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C8C8C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7" name="Lbl207"/>
          <p:cNvSpPr txBox="1"/>
          <p:nvPr/>
        </p:nvSpPr>
        <p:spPr>
          <a:xfrm>
            <a:off x="2222500" y="53721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C8C8C8"/>
                </a:solidFill>
              </a:rPr>
              <a:t>權重</a:t>
            </a:r>
          </a:p>
        </p:txBody>
      </p:sp>
      <p:cxnSp>
        <p:nvCxnSpPr>
          <p:cNvPr id="208" name="Line208"/>
          <p:cNvCxnSpPr/>
          <p:nvPr/>
        </p:nvCxnSpPr>
        <p:spPr>
          <a:xfrm>
            <a:off x="1752600" y="3238500"/>
            <a:ext cx="533400" cy="6350"/>
          </a:xfrm>
          <a:prstGeom prst="line">
            <a:avLst/>
          </a:prstGeom>
          <a:ln w="12700">
            <a:solidFill>
              <a:srgbClr val="C8C8C8"/>
            </a:solidFill>
          </a:ln>
        </p:spPr>
      </p:cxnSp>
      <p:cxnSp>
        <p:nvCxnSpPr>
          <p:cNvPr id="209" name="Line209"/>
          <p:cNvCxnSpPr/>
          <p:nvPr/>
        </p:nvCxnSpPr>
        <p:spPr>
          <a:xfrm>
            <a:off x="1752600" y="4127500"/>
            <a:ext cx="533400" cy="6350"/>
          </a:xfrm>
          <a:prstGeom prst="line">
            <a:avLst/>
          </a:prstGeom>
          <a:ln w="12700">
            <a:solidFill>
              <a:srgbClr val="C8C8C8"/>
            </a:solidFill>
          </a:ln>
        </p:spPr>
      </p:cxnSp>
      <p:cxnSp>
        <p:nvCxnSpPr>
          <p:cNvPr id="210" name="Line210"/>
          <p:cNvCxnSpPr/>
          <p:nvPr/>
        </p:nvCxnSpPr>
        <p:spPr>
          <a:xfrm>
            <a:off x="1752600" y="5016500"/>
            <a:ext cx="533400" cy="6350"/>
          </a:xfrm>
          <a:prstGeom prst="line">
            <a:avLst/>
          </a:prstGeom>
          <a:ln w="12700">
            <a:solidFill>
              <a:srgbClr val="C8C8C8"/>
            </a:solidFill>
          </a:ln>
        </p:spPr>
      </p:cxnSp>
      <p:cxnSp>
        <p:nvCxnSpPr>
          <p:cNvPr id="211" name="Line211"/>
          <p:cNvCxnSpPr/>
          <p:nvPr/>
        </p:nvCxnSpPr>
        <p:spPr>
          <a:xfrm>
            <a:off x="2895600" y="3238500"/>
            <a:ext cx="977900" cy="889000"/>
          </a:xfrm>
          <a:prstGeom prst="line">
            <a:avLst/>
          </a:prstGeom>
          <a:ln w="12700">
            <a:solidFill>
              <a:srgbClr val="C8C8C8"/>
            </a:solidFill>
          </a:ln>
        </p:spPr>
      </p:cxnSp>
      <p:cxnSp>
        <p:nvCxnSpPr>
          <p:cNvPr id="212" name="Line212"/>
          <p:cNvCxnSpPr/>
          <p:nvPr/>
        </p:nvCxnSpPr>
        <p:spPr>
          <a:xfrm>
            <a:off x="2895600" y="4127500"/>
            <a:ext cx="977900" cy="6350"/>
          </a:xfrm>
          <a:prstGeom prst="line">
            <a:avLst/>
          </a:prstGeom>
          <a:ln w="12700">
            <a:solidFill>
              <a:srgbClr val="C8C8C8"/>
            </a:solidFill>
          </a:ln>
        </p:spPr>
      </p:cxnSp>
      <p:cxnSp>
        <p:nvCxnSpPr>
          <p:cNvPr id="213" name="Line213"/>
          <p:cNvCxnSpPr/>
          <p:nvPr/>
        </p:nvCxnSpPr>
        <p:spPr>
          <a:xfrm flipV="1">
            <a:off x="2895600" y="4127500"/>
            <a:ext cx="977900" cy="889000"/>
          </a:xfrm>
          <a:prstGeom prst="line">
            <a:avLst/>
          </a:prstGeom>
          <a:ln w="12700">
            <a:solidFill>
              <a:srgbClr val="C8C8C8"/>
            </a:solidFill>
          </a:ln>
        </p:spPr>
      </p:cxnSp>
      <p:sp>
        <p:nvSpPr>
          <p:cNvPr id="214" name="Sigma"/>
          <p:cNvSpPr/>
          <p:nvPr/>
        </p:nvSpPr>
        <p:spPr>
          <a:xfrm>
            <a:off x="3835400" y="3771900"/>
            <a:ext cx="711200" cy="711200"/>
          </a:xfrm>
          <a:prstGeom prst="ellipse">
            <a:avLst/>
          </a:prstGeom>
          <a:solidFill>
            <a:srgbClr val="E0E0E0"/>
          </a:solidFill>
          <a:ln w="19050">
            <a:solidFill>
              <a:srgbClr val="C8C8C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C8C8C8"/>
                </a:solidFill>
              </a:rPr>
              <a:t>+</a:t>
            </a:r>
          </a:p>
        </p:txBody>
      </p:sp>
      <p:cxnSp>
        <p:nvCxnSpPr>
          <p:cNvPr id="215" name="Arrow215"/>
          <p:cNvCxnSpPr/>
          <p:nvPr/>
        </p:nvCxnSpPr>
        <p:spPr>
          <a:xfrm>
            <a:off x="4546600" y="4127500"/>
            <a:ext cx="4699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16" name="Box216"/>
          <p:cNvSpPr/>
          <p:nvPr/>
        </p:nvSpPr>
        <p:spPr>
          <a:xfrm>
            <a:off x="5016500" y="3848100"/>
            <a:ext cx="558800" cy="5588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7" name="Box217"/>
          <p:cNvSpPr/>
          <p:nvPr/>
        </p:nvSpPr>
        <p:spPr>
          <a:xfrm>
            <a:off x="4064000" y="5372100"/>
            <a:ext cx="558800" cy="4572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8" name="Lbl218"/>
          <p:cNvSpPr txBox="1"/>
          <p:nvPr/>
        </p:nvSpPr>
        <p:spPr>
          <a:xfrm>
            <a:off x="4000500" y="5854700"/>
            <a:ext cx="698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C8C8C8"/>
                </a:solidFill>
              </a:rPr>
              <a:t>閾值</a:t>
            </a:r>
          </a:p>
        </p:txBody>
      </p:sp>
      <p:cxnSp>
        <p:nvCxnSpPr>
          <p:cNvPr id="219" name="ThreshLine"/>
          <p:cNvCxnSpPr/>
          <p:nvPr/>
        </p:nvCxnSpPr>
        <p:spPr>
          <a:xfrm flipV="1">
            <a:off x="4343400" y="4483100"/>
            <a:ext cx="6350" cy="889000"/>
          </a:xfrm>
          <a:prstGeom prst="line">
            <a:avLst/>
          </a:prstGeom>
          <a:ln w="12700">
            <a:solidFill>
              <a:srgbClr val="C8C8C8"/>
            </a:solidFill>
            <a:prstDash val="dash"/>
            <a:tailEnd type="triangle" w="sm" len="sm"/>
          </a:ln>
        </p:spPr>
      </p:cxnSp>
      <p:cxnSp>
        <p:nvCxnSpPr>
          <p:cNvPr id="220" name="Arrow220"/>
          <p:cNvCxnSpPr/>
          <p:nvPr/>
        </p:nvCxnSpPr>
        <p:spPr>
          <a:xfrm>
            <a:off x="5575300" y="4127500"/>
            <a:ext cx="4572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21" name="ActEllipse"/>
          <p:cNvSpPr/>
          <p:nvPr/>
        </p:nvSpPr>
        <p:spPr>
          <a:xfrm>
            <a:off x="6032500" y="3048000"/>
            <a:ext cx="2413000" cy="215900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8C8C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2" name="Arrow222"/>
          <p:cNvCxnSpPr/>
          <p:nvPr/>
        </p:nvCxnSpPr>
        <p:spPr>
          <a:xfrm>
            <a:off x="6413500" y="4127500"/>
            <a:ext cx="1651000" cy="6350"/>
          </a:xfrm>
          <a:prstGeom prst="line">
            <a:avLst/>
          </a:prstGeom>
          <a:ln w="9525">
            <a:solidFill>
              <a:srgbClr val="C8C8C8"/>
            </a:solidFill>
            <a:tailEnd type="triangle" w="med" len="med"/>
          </a:ln>
        </p:spPr>
      </p:cxnSp>
      <p:cxnSp>
        <p:nvCxnSpPr>
          <p:cNvPr id="223" name="Arrow223"/>
          <p:cNvCxnSpPr/>
          <p:nvPr/>
        </p:nvCxnSpPr>
        <p:spPr>
          <a:xfrm flipV="1">
            <a:off x="7239000" y="3429000"/>
            <a:ext cx="6350" cy="1397000"/>
          </a:xfrm>
          <a:prstGeom prst="line">
            <a:avLst/>
          </a:prstGeom>
          <a:ln w="9525">
            <a:solidFill>
              <a:srgbClr val="C8C8C8"/>
            </a:solidFill>
            <a:tailEnd type="triangle" w="med" len="med"/>
          </a:ln>
        </p:spPr>
      </p:cxnSp>
      <p:cxnSp>
        <p:nvCxnSpPr>
          <p:cNvPr id="224" name="Line224"/>
          <p:cNvCxnSpPr/>
          <p:nvPr/>
        </p:nvCxnSpPr>
        <p:spPr>
          <a:xfrm flipV="1">
            <a:off x="6540500" y="4572000"/>
            <a:ext cx="254000" cy="63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5" name="Line225"/>
          <p:cNvCxnSpPr/>
          <p:nvPr/>
        </p:nvCxnSpPr>
        <p:spPr>
          <a:xfrm flipV="1">
            <a:off x="6794500" y="4381500"/>
            <a:ext cx="254000" cy="190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6" name="Line226"/>
          <p:cNvCxnSpPr/>
          <p:nvPr/>
        </p:nvCxnSpPr>
        <p:spPr>
          <a:xfrm flipV="1">
            <a:off x="7048500" y="4127500"/>
            <a:ext cx="190500" cy="2540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7" name="Line227"/>
          <p:cNvCxnSpPr/>
          <p:nvPr/>
        </p:nvCxnSpPr>
        <p:spPr>
          <a:xfrm flipV="1">
            <a:off x="7239000" y="3873500"/>
            <a:ext cx="190500" cy="2540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8" name="Line228"/>
          <p:cNvCxnSpPr/>
          <p:nvPr/>
        </p:nvCxnSpPr>
        <p:spPr>
          <a:xfrm flipV="1">
            <a:off x="7429500" y="3683000"/>
            <a:ext cx="254000" cy="190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9" name="Line229"/>
          <p:cNvCxnSpPr/>
          <p:nvPr/>
        </p:nvCxnSpPr>
        <p:spPr>
          <a:xfrm flipV="1">
            <a:off x="7683500" y="3619500"/>
            <a:ext cx="254000" cy="63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sp>
        <p:nvSpPr>
          <p:cNvPr id="230" name="Lbl230"/>
          <p:cNvSpPr txBox="1"/>
          <p:nvPr/>
        </p:nvSpPr>
        <p:spPr>
          <a:xfrm>
            <a:off x="6985000" y="3022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C8C8C8"/>
                </a:solidFill>
              </a:rPr>
              <a:t>輸出</a:t>
            </a:r>
          </a:p>
        </p:txBody>
      </p:sp>
      <p:sp>
        <p:nvSpPr>
          <p:cNvPr id="231" name="Lbl231"/>
          <p:cNvSpPr txBox="1"/>
          <p:nvPr/>
        </p:nvSpPr>
        <p:spPr>
          <a:xfrm>
            <a:off x="7683500" y="4165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C8C8C8"/>
                </a:solidFill>
              </a:rPr>
              <a:t>輸入</a:t>
            </a:r>
          </a:p>
        </p:txBody>
      </p:sp>
      <p:sp>
        <p:nvSpPr>
          <p:cNvPr id="232" name="Lbl232"/>
          <p:cNvSpPr txBox="1"/>
          <p:nvPr/>
        </p:nvSpPr>
        <p:spPr>
          <a:xfrm>
            <a:off x="6731000" y="52705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C8C8C8"/>
                </a:solidFill>
              </a:rPr>
              <a:t>激活函數</a:t>
            </a:r>
          </a:p>
        </p:txBody>
      </p:sp>
      <p:cxnSp>
        <p:nvCxnSpPr>
          <p:cNvPr id="233" name="Arrow233"/>
          <p:cNvCxnSpPr/>
          <p:nvPr/>
        </p:nvCxnSpPr>
        <p:spPr>
          <a:xfrm>
            <a:off x="8445500" y="4127500"/>
            <a:ext cx="8890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34" name="Box234"/>
          <p:cNvSpPr/>
          <p:nvPr/>
        </p:nvSpPr>
        <p:spPr>
          <a:xfrm>
            <a:off x="9334500" y="3810000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5" name="Lbl235"/>
          <p:cNvSpPr txBox="1"/>
          <p:nvPr/>
        </p:nvSpPr>
        <p:spPr>
          <a:xfrm>
            <a:off x="10033000" y="3746500"/>
            <a:ext cx="635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C8C8C8"/>
                </a:solidFill>
              </a:rPr>
              <a:t>神經元
輸出</a:t>
            </a:r>
          </a:p>
        </p:txBody>
      </p:sp>
      <p:sp>
        <p:nvSpPr>
          <p:cNvPr id="236" name="Desc"/>
          <p:cNvSpPr txBox="1"/>
          <p:nvPr/>
        </p:nvSpPr>
        <p:spPr>
          <a:xfrm>
            <a:off x="1333500" y="1524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766F54"/>
                </a:solidFill>
              </a:rPr>
              <a:t>神經元接收三個輸入信號 x₁=2, x₂=-1, x₃=1，分別代表不同特徵的數據</a:t>
            </a:r>
          </a:p>
        </p:txBody>
      </p:sp>
      <p:sp>
        <p:nvSpPr>
          <p:cNvPr id="300" name="StepBadge"/>
          <p:cNvSpPr/>
          <p:nvPr/>
        </p:nvSpPr>
        <p:spPr>
          <a:xfrm>
            <a:off x="10795000" y="190500"/>
            <a:ext cx="1016000" cy="457200"/>
          </a:xfrm>
          <a:prstGeom prst="roundRect">
            <a:avLst>
              <a:gd name="adj" fmla="val 30000"/>
            </a:avLst>
          </a:prstGeom>
          <a:solidFill>
            <a:srgbClr val="92AA4C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300436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5EFAB-A7E9-41DA-A438-12BFFA1E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3992"/>
          </a:xfrm>
        </p:spPr>
        <p:txBody>
          <a:bodyPr/>
          <a:lstStyle/>
          <a:p>
            <a:r>
              <a:rPr lang="zh-TW" altLang="en-US" dirty="0"/>
              <a:t>神經元運作模式</a:t>
            </a:r>
          </a:p>
        </p:txBody>
      </p:sp>
      <p:sp>
        <p:nvSpPr>
          <p:cNvPr id="200" name="Box200"/>
          <p:cNvSpPr/>
          <p:nvPr/>
        </p:nvSpPr>
        <p:spPr>
          <a:xfrm>
            <a:off x="1143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1" name="Box201"/>
          <p:cNvSpPr/>
          <p:nvPr/>
        </p:nvSpPr>
        <p:spPr>
          <a:xfrm>
            <a:off x="1143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A53010"/>
          </a:solidFill>
          <a:ln w="12700">
            <a:solidFill>
              <a:srgbClr val="A5301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2" name="Box202"/>
          <p:cNvSpPr/>
          <p:nvPr/>
        </p:nvSpPr>
        <p:spPr>
          <a:xfrm>
            <a:off x="1143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Lbl203"/>
          <p:cNvSpPr txBox="1"/>
          <p:nvPr/>
        </p:nvSpPr>
        <p:spPr>
          <a:xfrm>
            <a:off x="482600" y="3492500"/>
            <a:ext cx="571500" cy="1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766F54"/>
                </a:solidFill>
              </a:rPr>
              <a:t>神經元
輸入</a:t>
            </a:r>
          </a:p>
        </p:txBody>
      </p:sp>
      <p:sp>
        <p:nvSpPr>
          <p:cNvPr id="204" name="Box204"/>
          <p:cNvSpPr/>
          <p:nvPr/>
        </p:nvSpPr>
        <p:spPr>
          <a:xfrm>
            <a:off x="2286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5" name="Box205"/>
          <p:cNvSpPr/>
          <p:nvPr/>
        </p:nvSpPr>
        <p:spPr>
          <a:xfrm>
            <a:off x="2286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-2</a:t>
            </a:r>
          </a:p>
        </p:txBody>
      </p:sp>
      <p:sp>
        <p:nvSpPr>
          <p:cNvPr id="206" name="Box206"/>
          <p:cNvSpPr/>
          <p:nvPr/>
        </p:nvSpPr>
        <p:spPr>
          <a:xfrm>
            <a:off x="2286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7" name="Lbl207"/>
          <p:cNvSpPr txBox="1"/>
          <p:nvPr/>
        </p:nvSpPr>
        <p:spPr>
          <a:xfrm>
            <a:off x="2222500" y="53721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9F8351"/>
                </a:solidFill>
              </a:rPr>
              <a:t>權重</a:t>
            </a:r>
          </a:p>
        </p:txBody>
      </p:sp>
      <p:cxnSp>
        <p:nvCxnSpPr>
          <p:cNvPr id="208" name="Line208"/>
          <p:cNvCxnSpPr/>
          <p:nvPr/>
        </p:nvCxnSpPr>
        <p:spPr>
          <a:xfrm>
            <a:off x="1752600" y="3238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09" name="Line209"/>
          <p:cNvCxnSpPr/>
          <p:nvPr/>
        </p:nvCxnSpPr>
        <p:spPr>
          <a:xfrm>
            <a:off x="1752600" y="4127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0" name="Line210"/>
          <p:cNvCxnSpPr/>
          <p:nvPr/>
        </p:nvCxnSpPr>
        <p:spPr>
          <a:xfrm>
            <a:off x="1752600" y="5016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1" name="Line211"/>
          <p:cNvCxnSpPr/>
          <p:nvPr/>
        </p:nvCxnSpPr>
        <p:spPr>
          <a:xfrm>
            <a:off x="2895600" y="3238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2" name="Line212"/>
          <p:cNvCxnSpPr/>
          <p:nvPr/>
        </p:nvCxnSpPr>
        <p:spPr>
          <a:xfrm>
            <a:off x="2895600" y="4127500"/>
            <a:ext cx="9779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3" name="Line213"/>
          <p:cNvCxnSpPr/>
          <p:nvPr/>
        </p:nvCxnSpPr>
        <p:spPr>
          <a:xfrm flipV="1">
            <a:off x="2895600" y="4127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sp>
        <p:nvSpPr>
          <p:cNvPr id="214" name="Sigma"/>
          <p:cNvSpPr/>
          <p:nvPr/>
        </p:nvSpPr>
        <p:spPr>
          <a:xfrm>
            <a:off x="3835400" y="3771900"/>
            <a:ext cx="711200" cy="711200"/>
          </a:xfrm>
          <a:prstGeom prst="ellipse">
            <a:avLst/>
          </a:prstGeom>
          <a:solidFill>
            <a:srgbClr val="E0E0E0"/>
          </a:solidFill>
          <a:ln w="19050">
            <a:solidFill>
              <a:srgbClr val="C8C8C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C8C8C8"/>
                </a:solidFill>
              </a:rPr>
              <a:t>+</a:t>
            </a:r>
          </a:p>
        </p:txBody>
      </p:sp>
      <p:cxnSp>
        <p:nvCxnSpPr>
          <p:cNvPr id="215" name="Arrow215"/>
          <p:cNvCxnSpPr/>
          <p:nvPr/>
        </p:nvCxnSpPr>
        <p:spPr>
          <a:xfrm>
            <a:off x="4546600" y="4127500"/>
            <a:ext cx="4699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16" name="Box216"/>
          <p:cNvSpPr/>
          <p:nvPr/>
        </p:nvSpPr>
        <p:spPr>
          <a:xfrm>
            <a:off x="5016500" y="3848100"/>
            <a:ext cx="558800" cy="5588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200" b="1" dirty="0">
                <a:solidFill>
                  <a:srgbClr val="C8C8C8"/>
                </a:solidFill>
              </a:rPr>
              <a:t>4</a:t>
            </a:r>
          </a:p>
        </p:txBody>
      </p:sp>
      <p:sp>
        <p:nvSpPr>
          <p:cNvPr id="217" name="Box217"/>
          <p:cNvSpPr/>
          <p:nvPr/>
        </p:nvSpPr>
        <p:spPr>
          <a:xfrm>
            <a:off x="4064000" y="5372100"/>
            <a:ext cx="558800" cy="4572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C8C8C8"/>
                </a:solidFill>
              </a:rPr>
              <a:t>1</a:t>
            </a:r>
          </a:p>
        </p:txBody>
      </p:sp>
      <p:sp>
        <p:nvSpPr>
          <p:cNvPr id="218" name="Lbl218"/>
          <p:cNvSpPr txBox="1"/>
          <p:nvPr/>
        </p:nvSpPr>
        <p:spPr>
          <a:xfrm>
            <a:off x="4000500" y="5854700"/>
            <a:ext cx="698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C8C8C8"/>
                </a:solidFill>
              </a:rPr>
              <a:t>閾值</a:t>
            </a:r>
          </a:p>
        </p:txBody>
      </p:sp>
      <p:cxnSp>
        <p:nvCxnSpPr>
          <p:cNvPr id="219" name="ThreshLine"/>
          <p:cNvCxnSpPr/>
          <p:nvPr/>
        </p:nvCxnSpPr>
        <p:spPr>
          <a:xfrm flipV="1">
            <a:off x="4343400" y="4483100"/>
            <a:ext cx="6350" cy="889000"/>
          </a:xfrm>
          <a:prstGeom prst="line">
            <a:avLst/>
          </a:prstGeom>
          <a:ln w="12700">
            <a:solidFill>
              <a:srgbClr val="C8C8C8"/>
            </a:solidFill>
            <a:prstDash val="dash"/>
            <a:tailEnd type="triangle" w="sm" len="sm"/>
          </a:ln>
        </p:spPr>
      </p:cxnSp>
      <p:cxnSp>
        <p:nvCxnSpPr>
          <p:cNvPr id="220" name="Arrow220"/>
          <p:cNvCxnSpPr/>
          <p:nvPr/>
        </p:nvCxnSpPr>
        <p:spPr>
          <a:xfrm>
            <a:off x="5575300" y="4127500"/>
            <a:ext cx="4572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21" name="ActEllipse"/>
          <p:cNvSpPr/>
          <p:nvPr/>
        </p:nvSpPr>
        <p:spPr>
          <a:xfrm>
            <a:off x="6032500" y="3048000"/>
            <a:ext cx="2413000" cy="215900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8C8C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2" name="Arrow222"/>
          <p:cNvCxnSpPr/>
          <p:nvPr/>
        </p:nvCxnSpPr>
        <p:spPr>
          <a:xfrm>
            <a:off x="6413500" y="4127500"/>
            <a:ext cx="1651000" cy="6350"/>
          </a:xfrm>
          <a:prstGeom prst="line">
            <a:avLst/>
          </a:prstGeom>
          <a:ln w="9525">
            <a:solidFill>
              <a:srgbClr val="C8C8C8"/>
            </a:solidFill>
            <a:tailEnd type="triangle" w="med" len="med"/>
          </a:ln>
        </p:spPr>
      </p:cxnSp>
      <p:cxnSp>
        <p:nvCxnSpPr>
          <p:cNvPr id="223" name="Arrow223"/>
          <p:cNvCxnSpPr/>
          <p:nvPr/>
        </p:nvCxnSpPr>
        <p:spPr>
          <a:xfrm flipV="1">
            <a:off x="7239000" y="3429000"/>
            <a:ext cx="6350" cy="1397000"/>
          </a:xfrm>
          <a:prstGeom prst="line">
            <a:avLst/>
          </a:prstGeom>
          <a:ln w="9525">
            <a:solidFill>
              <a:srgbClr val="C8C8C8"/>
            </a:solidFill>
            <a:tailEnd type="triangle" w="med" len="med"/>
          </a:ln>
        </p:spPr>
      </p:cxnSp>
      <p:cxnSp>
        <p:nvCxnSpPr>
          <p:cNvPr id="224" name="Line224"/>
          <p:cNvCxnSpPr/>
          <p:nvPr/>
        </p:nvCxnSpPr>
        <p:spPr>
          <a:xfrm flipV="1">
            <a:off x="6540500" y="4572000"/>
            <a:ext cx="254000" cy="63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5" name="Line225"/>
          <p:cNvCxnSpPr/>
          <p:nvPr/>
        </p:nvCxnSpPr>
        <p:spPr>
          <a:xfrm flipV="1">
            <a:off x="6794500" y="4381500"/>
            <a:ext cx="254000" cy="190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6" name="Line226"/>
          <p:cNvCxnSpPr/>
          <p:nvPr/>
        </p:nvCxnSpPr>
        <p:spPr>
          <a:xfrm flipV="1">
            <a:off x="7048500" y="4127500"/>
            <a:ext cx="190500" cy="2540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7" name="Line227"/>
          <p:cNvCxnSpPr/>
          <p:nvPr/>
        </p:nvCxnSpPr>
        <p:spPr>
          <a:xfrm flipV="1">
            <a:off x="7239000" y="3873500"/>
            <a:ext cx="190500" cy="2540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8" name="Line228"/>
          <p:cNvCxnSpPr/>
          <p:nvPr/>
        </p:nvCxnSpPr>
        <p:spPr>
          <a:xfrm flipV="1">
            <a:off x="7429500" y="3683000"/>
            <a:ext cx="254000" cy="190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9" name="Line229"/>
          <p:cNvCxnSpPr/>
          <p:nvPr/>
        </p:nvCxnSpPr>
        <p:spPr>
          <a:xfrm flipV="1">
            <a:off x="7683500" y="3619500"/>
            <a:ext cx="254000" cy="63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sp>
        <p:nvSpPr>
          <p:cNvPr id="230" name="Lbl230"/>
          <p:cNvSpPr txBox="1"/>
          <p:nvPr/>
        </p:nvSpPr>
        <p:spPr>
          <a:xfrm>
            <a:off x="6985000" y="3022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C8C8C8"/>
                </a:solidFill>
              </a:rPr>
              <a:t>輸出</a:t>
            </a:r>
          </a:p>
        </p:txBody>
      </p:sp>
      <p:sp>
        <p:nvSpPr>
          <p:cNvPr id="231" name="Lbl231"/>
          <p:cNvSpPr txBox="1"/>
          <p:nvPr/>
        </p:nvSpPr>
        <p:spPr>
          <a:xfrm>
            <a:off x="7683500" y="4165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C8C8C8"/>
                </a:solidFill>
              </a:rPr>
              <a:t>輸入</a:t>
            </a:r>
          </a:p>
        </p:txBody>
      </p:sp>
      <p:sp>
        <p:nvSpPr>
          <p:cNvPr id="232" name="Lbl232"/>
          <p:cNvSpPr txBox="1"/>
          <p:nvPr/>
        </p:nvSpPr>
        <p:spPr>
          <a:xfrm>
            <a:off x="6731000" y="52705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C8C8C8"/>
                </a:solidFill>
              </a:rPr>
              <a:t>激活函數</a:t>
            </a:r>
          </a:p>
        </p:txBody>
      </p:sp>
      <p:cxnSp>
        <p:nvCxnSpPr>
          <p:cNvPr id="233" name="Arrow233"/>
          <p:cNvCxnSpPr/>
          <p:nvPr/>
        </p:nvCxnSpPr>
        <p:spPr>
          <a:xfrm>
            <a:off x="8445500" y="4127500"/>
            <a:ext cx="8890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34" name="Box234"/>
          <p:cNvSpPr/>
          <p:nvPr/>
        </p:nvSpPr>
        <p:spPr>
          <a:xfrm>
            <a:off x="9334500" y="3810000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C8C8C8"/>
                </a:solidFill>
              </a:rPr>
              <a:t>4</a:t>
            </a:r>
          </a:p>
        </p:txBody>
      </p:sp>
      <p:sp>
        <p:nvSpPr>
          <p:cNvPr id="235" name="Lbl235"/>
          <p:cNvSpPr txBox="1"/>
          <p:nvPr/>
        </p:nvSpPr>
        <p:spPr>
          <a:xfrm>
            <a:off x="10033000" y="3746500"/>
            <a:ext cx="635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C8C8C8"/>
                </a:solidFill>
              </a:rPr>
              <a:t>神經元
輸出</a:t>
            </a:r>
          </a:p>
        </p:txBody>
      </p:sp>
      <p:sp>
        <p:nvSpPr>
          <p:cNvPr id="236" name="Desc"/>
          <p:cNvSpPr txBox="1"/>
          <p:nvPr/>
        </p:nvSpPr>
        <p:spPr>
          <a:xfrm>
            <a:off x="1333500" y="1524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766F54"/>
                </a:solidFill>
              </a:rPr>
              <a:t>每個輸入乘以對應權重：2×1=2, (-1)×(-2)=2, 1×(-1)=-1，權重越大代表該輸入越重要</a:t>
            </a:r>
          </a:p>
        </p:txBody>
      </p:sp>
      <p:sp>
        <p:nvSpPr>
          <p:cNvPr id="300" name="Calc300"/>
          <p:cNvSpPr txBox="1"/>
          <p:nvPr/>
        </p:nvSpPr>
        <p:spPr>
          <a:xfrm>
            <a:off x="1651000" y="2768600"/>
            <a:ext cx="13335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200" b="1" dirty="0">
                <a:solidFill>
                  <a:srgbClr val="DE7E18"/>
                </a:solidFill>
              </a:rPr>
              <a:t>2×1=2</a:t>
            </a:r>
          </a:p>
        </p:txBody>
      </p:sp>
      <p:sp>
        <p:nvSpPr>
          <p:cNvPr id="301" name="Calc301"/>
          <p:cNvSpPr txBox="1"/>
          <p:nvPr/>
        </p:nvSpPr>
        <p:spPr>
          <a:xfrm>
            <a:off x="1524000" y="3657600"/>
            <a:ext cx="13335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200" b="1" dirty="0">
                <a:solidFill>
                  <a:srgbClr val="DE7E18"/>
                </a:solidFill>
              </a:rPr>
              <a:t>(-1)×(-2)=2</a:t>
            </a:r>
          </a:p>
        </p:txBody>
      </p:sp>
      <p:sp>
        <p:nvSpPr>
          <p:cNvPr id="302" name="Calc302"/>
          <p:cNvSpPr txBox="1"/>
          <p:nvPr/>
        </p:nvSpPr>
        <p:spPr>
          <a:xfrm>
            <a:off x="1587500" y="4546600"/>
            <a:ext cx="13335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200" b="1" dirty="0">
                <a:solidFill>
                  <a:srgbClr val="DE7E18"/>
                </a:solidFill>
              </a:rPr>
              <a:t>1×(-1)=-1</a:t>
            </a:r>
          </a:p>
        </p:txBody>
      </p:sp>
      <p:sp>
        <p:nvSpPr>
          <p:cNvPr id="303" name="StepBadge"/>
          <p:cNvSpPr/>
          <p:nvPr/>
        </p:nvSpPr>
        <p:spPr>
          <a:xfrm>
            <a:off x="10795000" y="190500"/>
            <a:ext cx="1016000" cy="457200"/>
          </a:xfrm>
          <a:prstGeom prst="roundRect">
            <a:avLst>
              <a:gd name="adj" fmla="val 30000"/>
            </a:avLst>
          </a:prstGeom>
          <a:solidFill>
            <a:srgbClr val="DE7E1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26619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5EFAB-A7E9-41DA-A438-12BFFA1E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3992"/>
          </a:xfrm>
        </p:spPr>
        <p:txBody>
          <a:bodyPr/>
          <a:lstStyle/>
          <a:p>
            <a:r>
              <a:rPr lang="zh-TW" altLang="en-US" dirty="0"/>
              <a:t>神經元運作模式</a:t>
            </a:r>
          </a:p>
        </p:txBody>
      </p:sp>
      <p:sp>
        <p:nvSpPr>
          <p:cNvPr id="200" name="Box200"/>
          <p:cNvSpPr/>
          <p:nvPr/>
        </p:nvSpPr>
        <p:spPr>
          <a:xfrm>
            <a:off x="1143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1" name="Box201"/>
          <p:cNvSpPr/>
          <p:nvPr/>
        </p:nvSpPr>
        <p:spPr>
          <a:xfrm>
            <a:off x="1143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A53010"/>
          </a:solidFill>
          <a:ln w="12700">
            <a:solidFill>
              <a:srgbClr val="A5301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2" name="Box202"/>
          <p:cNvSpPr/>
          <p:nvPr/>
        </p:nvSpPr>
        <p:spPr>
          <a:xfrm>
            <a:off x="1143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Lbl203"/>
          <p:cNvSpPr txBox="1"/>
          <p:nvPr/>
        </p:nvSpPr>
        <p:spPr>
          <a:xfrm>
            <a:off x="482600" y="3492500"/>
            <a:ext cx="571500" cy="1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766F54"/>
                </a:solidFill>
              </a:rPr>
              <a:t>神經元
輸入</a:t>
            </a:r>
          </a:p>
        </p:txBody>
      </p:sp>
      <p:sp>
        <p:nvSpPr>
          <p:cNvPr id="204" name="Box204"/>
          <p:cNvSpPr/>
          <p:nvPr/>
        </p:nvSpPr>
        <p:spPr>
          <a:xfrm>
            <a:off x="2286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5" name="Box205"/>
          <p:cNvSpPr/>
          <p:nvPr/>
        </p:nvSpPr>
        <p:spPr>
          <a:xfrm>
            <a:off x="2286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-2</a:t>
            </a:r>
          </a:p>
        </p:txBody>
      </p:sp>
      <p:sp>
        <p:nvSpPr>
          <p:cNvPr id="206" name="Box206"/>
          <p:cNvSpPr/>
          <p:nvPr/>
        </p:nvSpPr>
        <p:spPr>
          <a:xfrm>
            <a:off x="2286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7" name="Lbl207"/>
          <p:cNvSpPr txBox="1"/>
          <p:nvPr/>
        </p:nvSpPr>
        <p:spPr>
          <a:xfrm>
            <a:off x="2222500" y="53721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9F8351"/>
                </a:solidFill>
              </a:rPr>
              <a:t>權重</a:t>
            </a:r>
          </a:p>
        </p:txBody>
      </p:sp>
      <p:cxnSp>
        <p:nvCxnSpPr>
          <p:cNvPr id="208" name="Line208"/>
          <p:cNvCxnSpPr/>
          <p:nvPr/>
        </p:nvCxnSpPr>
        <p:spPr>
          <a:xfrm>
            <a:off x="1752600" y="3238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09" name="Line209"/>
          <p:cNvCxnSpPr/>
          <p:nvPr/>
        </p:nvCxnSpPr>
        <p:spPr>
          <a:xfrm>
            <a:off x="1752600" y="4127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0" name="Line210"/>
          <p:cNvCxnSpPr/>
          <p:nvPr/>
        </p:nvCxnSpPr>
        <p:spPr>
          <a:xfrm>
            <a:off x="1752600" y="5016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1" name="Line211"/>
          <p:cNvCxnSpPr/>
          <p:nvPr/>
        </p:nvCxnSpPr>
        <p:spPr>
          <a:xfrm>
            <a:off x="2895600" y="3238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2" name="Line212"/>
          <p:cNvCxnSpPr/>
          <p:nvPr/>
        </p:nvCxnSpPr>
        <p:spPr>
          <a:xfrm>
            <a:off x="2895600" y="4127500"/>
            <a:ext cx="9779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3" name="Line213"/>
          <p:cNvCxnSpPr/>
          <p:nvPr/>
        </p:nvCxnSpPr>
        <p:spPr>
          <a:xfrm flipV="1">
            <a:off x="2895600" y="4127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sp>
        <p:nvSpPr>
          <p:cNvPr id="214" name="Sigma"/>
          <p:cNvSpPr/>
          <p:nvPr/>
        </p:nvSpPr>
        <p:spPr>
          <a:xfrm>
            <a:off x="3835400" y="3771900"/>
            <a:ext cx="711200" cy="711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DE7E18"/>
                </a:solidFill>
              </a:rPr>
              <a:t>+</a:t>
            </a:r>
          </a:p>
        </p:txBody>
      </p:sp>
      <p:cxnSp>
        <p:nvCxnSpPr>
          <p:cNvPr id="215" name="Arrow215"/>
          <p:cNvCxnSpPr/>
          <p:nvPr/>
        </p:nvCxnSpPr>
        <p:spPr>
          <a:xfrm>
            <a:off x="4546600" y="4127500"/>
            <a:ext cx="4699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16" name="Box216"/>
          <p:cNvSpPr/>
          <p:nvPr/>
        </p:nvSpPr>
        <p:spPr>
          <a:xfrm>
            <a:off x="5016500" y="3848100"/>
            <a:ext cx="558800" cy="558800"/>
          </a:xfrm>
          <a:prstGeom prst="roundRect">
            <a:avLst>
              <a:gd name="adj" fmla="val 10000"/>
            </a:avLst>
          </a:prstGeom>
          <a:solidFill>
            <a:srgbClr val="DE7E18"/>
          </a:solidFill>
          <a:ln w="1270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7" name="Box217"/>
          <p:cNvSpPr/>
          <p:nvPr/>
        </p:nvSpPr>
        <p:spPr>
          <a:xfrm>
            <a:off x="4064000" y="5372100"/>
            <a:ext cx="558800" cy="457200"/>
          </a:xfrm>
          <a:prstGeom prst="roundRect">
            <a:avLst>
              <a:gd name="adj" fmla="val 10000"/>
            </a:avLst>
          </a:prstGeom>
          <a:solidFill>
            <a:srgbClr val="728653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8" name="Lbl218"/>
          <p:cNvSpPr txBox="1"/>
          <p:nvPr/>
        </p:nvSpPr>
        <p:spPr>
          <a:xfrm>
            <a:off x="4000500" y="5854700"/>
            <a:ext cx="698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728653"/>
                </a:solidFill>
              </a:rPr>
              <a:t>閾值</a:t>
            </a:r>
          </a:p>
        </p:txBody>
      </p:sp>
      <p:cxnSp>
        <p:nvCxnSpPr>
          <p:cNvPr id="219" name="ThreshLine"/>
          <p:cNvCxnSpPr/>
          <p:nvPr/>
        </p:nvCxnSpPr>
        <p:spPr>
          <a:xfrm flipV="1">
            <a:off x="4343400" y="4483100"/>
            <a:ext cx="6350" cy="889000"/>
          </a:xfrm>
          <a:prstGeom prst="line">
            <a:avLst/>
          </a:prstGeom>
          <a:ln w="12700">
            <a:solidFill>
              <a:srgbClr val="728653"/>
            </a:solidFill>
            <a:prstDash val="dash"/>
            <a:tailEnd type="triangle" w="sm" len="sm"/>
          </a:ln>
        </p:spPr>
      </p:cxnSp>
      <p:cxnSp>
        <p:nvCxnSpPr>
          <p:cNvPr id="220" name="Arrow220"/>
          <p:cNvCxnSpPr/>
          <p:nvPr/>
        </p:nvCxnSpPr>
        <p:spPr>
          <a:xfrm>
            <a:off x="5575300" y="4127500"/>
            <a:ext cx="4572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21" name="ActEllipse"/>
          <p:cNvSpPr/>
          <p:nvPr/>
        </p:nvSpPr>
        <p:spPr>
          <a:xfrm>
            <a:off x="6032500" y="3048000"/>
            <a:ext cx="2413000" cy="215900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C8C8C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2" name="Arrow222"/>
          <p:cNvCxnSpPr/>
          <p:nvPr/>
        </p:nvCxnSpPr>
        <p:spPr>
          <a:xfrm>
            <a:off x="6413500" y="4127500"/>
            <a:ext cx="1651000" cy="6350"/>
          </a:xfrm>
          <a:prstGeom prst="line">
            <a:avLst/>
          </a:prstGeom>
          <a:ln w="9525">
            <a:solidFill>
              <a:srgbClr val="C8C8C8"/>
            </a:solidFill>
            <a:tailEnd type="triangle" w="med" len="med"/>
          </a:ln>
        </p:spPr>
      </p:cxnSp>
      <p:cxnSp>
        <p:nvCxnSpPr>
          <p:cNvPr id="223" name="Arrow223"/>
          <p:cNvCxnSpPr/>
          <p:nvPr/>
        </p:nvCxnSpPr>
        <p:spPr>
          <a:xfrm flipV="1">
            <a:off x="7239000" y="3429000"/>
            <a:ext cx="6350" cy="1397000"/>
          </a:xfrm>
          <a:prstGeom prst="line">
            <a:avLst/>
          </a:prstGeom>
          <a:ln w="9525">
            <a:solidFill>
              <a:srgbClr val="C8C8C8"/>
            </a:solidFill>
            <a:tailEnd type="triangle" w="med" len="med"/>
          </a:ln>
        </p:spPr>
      </p:cxnSp>
      <p:cxnSp>
        <p:nvCxnSpPr>
          <p:cNvPr id="224" name="Line224"/>
          <p:cNvCxnSpPr/>
          <p:nvPr/>
        </p:nvCxnSpPr>
        <p:spPr>
          <a:xfrm flipV="1">
            <a:off x="6540500" y="4572000"/>
            <a:ext cx="254000" cy="63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5" name="Line225"/>
          <p:cNvCxnSpPr/>
          <p:nvPr/>
        </p:nvCxnSpPr>
        <p:spPr>
          <a:xfrm flipV="1">
            <a:off x="6794500" y="4381500"/>
            <a:ext cx="254000" cy="190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6" name="Line226"/>
          <p:cNvCxnSpPr/>
          <p:nvPr/>
        </p:nvCxnSpPr>
        <p:spPr>
          <a:xfrm flipV="1">
            <a:off x="7048500" y="4127500"/>
            <a:ext cx="190500" cy="2540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7" name="Line227"/>
          <p:cNvCxnSpPr/>
          <p:nvPr/>
        </p:nvCxnSpPr>
        <p:spPr>
          <a:xfrm flipV="1">
            <a:off x="7239000" y="3873500"/>
            <a:ext cx="190500" cy="2540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8" name="Line228"/>
          <p:cNvCxnSpPr/>
          <p:nvPr/>
        </p:nvCxnSpPr>
        <p:spPr>
          <a:xfrm flipV="1">
            <a:off x="7429500" y="3683000"/>
            <a:ext cx="254000" cy="190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cxnSp>
        <p:nvCxnSpPr>
          <p:cNvPr id="229" name="Line229"/>
          <p:cNvCxnSpPr/>
          <p:nvPr/>
        </p:nvCxnSpPr>
        <p:spPr>
          <a:xfrm flipV="1">
            <a:off x="7683500" y="3619500"/>
            <a:ext cx="254000" cy="63500"/>
          </a:xfrm>
          <a:prstGeom prst="line">
            <a:avLst/>
          </a:prstGeom>
          <a:ln w="19050">
            <a:solidFill>
              <a:srgbClr val="C8C8C8"/>
            </a:solidFill>
          </a:ln>
        </p:spPr>
      </p:cxnSp>
      <p:sp>
        <p:nvSpPr>
          <p:cNvPr id="230" name="Lbl230"/>
          <p:cNvSpPr txBox="1"/>
          <p:nvPr/>
        </p:nvSpPr>
        <p:spPr>
          <a:xfrm>
            <a:off x="6985000" y="3022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C8C8C8"/>
                </a:solidFill>
              </a:rPr>
              <a:t>輸出</a:t>
            </a:r>
          </a:p>
        </p:txBody>
      </p:sp>
      <p:sp>
        <p:nvSpPr>
          <p:cNvPr id="231" name="Lbl231"/>
          <p:cNvSpPr txBox="1"/>
          <p:nvPr/>
        </p:nvSpPr>
        <p:spPr>
          <a:xfrm>
            <a:off x="7683500" y="4165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C8C8C8"/>
                </a:solidFill>
              </a:rPr>
              <a:t>輸入</a:t>
            </a:r>
          </a:p>
        </p:txBody>
      </p:sp>
      <p:sp>
        <p:nvSpPr>
          <p:cNvPr id="232" name="Lbl232"/>
          <p:cNvSpPr txBox="1"/>
          <p:nvPr/>
        </p:nvSpPr>
        <p:spPr>
          <a:xfrm>
            <a:off x="6731000" y="52705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C8C8C8"/>
                </a:solidFill>
              </a:rPr>
              <a:t>激活函數</a:t>
            </a:r>
          </a:p>
        </p:txBody>
      </p:sp>
      <p:cxnSp>
        <p:nvCxnSpPr>
          <p:cNvPr id="233" name="Arrow233"/>
          <p:cNvCxnSpPr/>
          <p:nvPr/>
        </p:nvCxnSpPr>
        <p:spPr>
          <a:xfrm>
            <a:off x="8445500" y="4127500"/>
            <a:ext cx="8890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34" name="Box234"/>
          <p:cNvSpPr/>
          <p:nvPr/>
        </p:nvSpPr>
        <p:spPr>
          <a:xfrm>
            <a:off x="9334500" y="3810000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C8C8C8"/>
                </a:solidFill>
              </a:rPr>
              <a:t>4</a:t>
            </a:r>
          </a:p>
        </p:txBody>
      </p:sp>
      <p:sp>
        <p:nvSpPr>
          <p:cNvPr id="235" name="Lbl235"/>
          <p:cNvSpPr txBox="1"/>
          <p:nvPr/>
        </p:nvSpPr>
        <p:spPr>
          <a:xfrm>
            <a:off x="10033000" y="3746500"/>
            <a:ext cx="635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C8C8C8"/>
                </a:solidFill>
              </a:rPr>
              <a:t>神經元
輸出</a:t>
            </a:r>
          </a:p>
        </p:txBody>
      </p:sp>
      <p:sp>
        <p:nvSpPr>
          <p:cNvPr id="236" name="Desc"/>
          <p:cNvSpPr txBox="1"/>
          <p:nvPr/>
        </p:nvSpPr>
        <p:spPr>
          <a:xfrm>
            <a:off x="1333500" y="1524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766F54"/>
                </a:solidFill>
              </a:rPr>
              <a:t>加權總和 Σ = 2+2+(-1) = 3，加上偏置/閾值(1) → 淨輸入 = 3+1 = 4，送入激活函數</a:t>
            </a:r>
          </a:p>
        </p:txBody>
      </p:sp>
      <p:sp>
        <p:nvSpPr>
          <p:cNvPr id="300" name="CalcSum"/>
          <p:cNvSpPr txBox="1"/>
          <p:nvPr/>
        </p:nvSpPr>
        <p:spPr>
          <a:xfrm>
            <a:off x="3429000" y="2286000"/>
            <a:ext cx="2540000" cy="635000"/>
          </a:xfrm>
          <a:prstGeom prst="rect">
            <a:avLst/>
          </a:prstGeom>
          <a:solidFill>
            <a:srgbClr val="FFF3E0"/>
          </a:solidFill>
          <a:ln w="9525">
            <a:solidFill>
              <a:srgbClr val="DE7E18"/>
            </a:solidFill>
            <a:prstDash val="dash"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DE7E18"/>
                </a:solidFill>
              </a:rPr>
              <a:t>Σ = 2+2+(-1) = 3</a:t>
            </a:r>
          </a:p>
          <a:p>
            <a:pPr algn="ctr"/>
            <a:r>
              <a:rPr lang="en-US" sz="1400" b="1" dirty="0">
                <a:solidFill>
                  <a:srgbClr val="728653"/>
                </a:solidFill>
              </a:rPr>
              <a:t>3 + 1(閾值) = 4</a:t>
            </a:r>
          </a:p>
        </p:txBody>
      </p:sp>
      <p:sp>
        <p:nvSpPr>
          <p:cNvPr id="301" name="StepBadge"/>
          <p:cNvSpPr/>
          <p:nvPr/>
        </p:nvSpPr>
        <p:spPr>
          <a:xfrm>
            <a:off x="10795000" y="190500"/>
            <a:ext cx="1016000" cy="457200"/>
          </a:xfrm>
          <a:prstGeom prst="roundRect">
            <a:avLst>
              <a:gd name="adj" fmla="val 30000"/>
            </a:avLst>
          </a:prstGeom>
          <a:solidFill>
            <a:srgbClr val="A5301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26045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5EFAB-A7E9-41DA-A438-12BFFA1E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3992"/>
          </a:xfrm>
        </p:spPr>
        <p:txBody>
          <a:bodyPr/>
          <a:lstStyle/>
          <a:p>
            <a:r>
              <a:rPr lang="zh-TW" altLang="en-US" dirty="0"/>
              <a:t>神經元運作模式</a:t>
            </a:r>
          </a:p>
        </p:txBody>
      </p:sp>
      <p:sp>
        <p:nvSpPr>
          <p:cNvPr id="200" name="Box200"/>
          <p:cNvSpPr/>
          <p:nvPr/>
        </p:nvSpPr>
        <p:spPr>
          <a:xfrm>
            <a:off x="1143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1" name="Box201"/>
          <p:cNvSpPr/>
          <p:nvPr/>
        </p:nvSpPr>
        <p:spPr>
          <a:xfrm>
            <a:off x="1143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A53010"/>
          </a:solidFill>
          <a:ln w="12700">
            <a:solidFill>
              <a:srgbClr val="A5301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2" name="Box202"/>
          <p:cNvSpPr/>
          <p:nvPr/>
        </p:nvSpPr>
        <p:spPr>
          <a:xfrm>
            <a:off x="1143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Lbl203"/>
          <p:cNvSpPr txBox="1"/>
          <p:nvPr/>
        </p:nvSpPr>
        <p:spPr>
          <a:xfrm>
            <a:off x="482600" y="3492500"/>
            <a:ext cx="571500" cy="1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766F54"/>
                </a:solidFill>
              </a:rPr>
              <a:t>神經元
輸入</a:t>
            </a:r>
          </a:p>
        </p:txBody>
      </p:sp>
      <p:sp>
        <p:nvSpPr>
          <p:cNvPr id="204" name="Box204"/>
          <p:cNvSpPr/>
          <p:nvPr/>
        </p:nvSpPr>
        <p:spPr>
          <a:xfrm>
            <a:off x="2286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5" name="Box205"/>
          <p:cNvSpPr/>
          <p:nvPr/>
        </p:nvSpPr>
        <p:spPr>
          <a:xfrm>
            <a:off x="2286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-2</a:t>
            </a:r>
          </a:p>
        </p:txBody>
      </p:sp>
      <p:sp>
        <p:nvSpPr>
          <p:cNvPr id="206" name="Box206"/>
          <p:cNvSpPr/>
          <p:nvPr/>
        </p:nvSpPr>
        <p:spPr>
          <a:xfrm>
            <a:off x="2286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7" name="Lbl207"/>
          <p:cNvSpPr txBox="1"/>
          <p:nvPr/>
        </p:nvSpPr>
        <p:spPr>
          <a:xfrm>
            <a:off x="2222500" y="53721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9F8351"/>
                </a:solidFill>
              </a:rPr>
              <a:t>權重</a:t>
            </a:r>
          </a:p>
        </p:txBody>
      </p:sp>
      <p:cxnSp>
        <p:nvCxnSpPr>
          <p:cNvPr id="208" name="Line208"/>
          <p:cNvCxnSpPr/>
          <p:nvPr/>
        </p:nvCxnSpPr>
        <p:spPr>
          <a:xfrm>
            <a:off x="1752600" y="3238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09" name="Line209"/>
          <p:cNvCxnSpPr/>
          <p:nvPr/>
        </p:nvCxnSpPr>
        <p:spPr>
          <a:xfrm>
            <a:off x="1752600" y="4127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0" name="Line210"/>
          <p:cNvCxnSpPr/>
          <p:nvPr/>
        </p:nvCxnSpPr>
        <p:spPr>
          <a:xfrm>
            <a:off x="1752600" y="5016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1" name="Line211"/>
          <p:cNvCxnSpPr/>
          <p:nvPr/>
        </p:nvCxnSpPr>
        <p:spPr>
          <a:xfrm>
            <a:off x="2895600" y="3238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2" name="Line212"/>
          <p:cNvCxnSpPr/>
          <p:nvPr/>
        </p:nvCxnSpPr>
        <p:spPr>
          <a:xfrm>
            <a:off x="2895600" y="4127500"/>
            <a:ext cx="9779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3" name="Line213"/>
          <p:cNvCxnSpPr/>
          <p:nvPr/>
        </p:nvCxnSpPr>
        <p:spPr>
          <a:xfrm flipV="1">
            <a:off x="2895600" y="4127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sp>
        <p:nvSpPr>
          <p:cNvPr id="214" name="Sigma"/>
          <p:cNvSpPr/>
          <p:nvPr/>
        </p:nvSpPr>
        <p:spPr>
          <a:xfrm>
            <a:off x="3835400" y="3771900"/>
            <a:ext cx="711200" cy="711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DE7E18"/>
                </a:solidFill>
              </a:rPr>
              <a:t>+</a:t>
            </a:r>
          </a:p>
        </p:txBody>
      </p:sp>
      <p:cxnSp>
        <p:nvCxnSpPr>
          <p:cNvPr id="215" name="Arrow215"/>
          <p:cNvCxnSpPr/>
          <p:nvPr/>
        </p:nvCxnSpPr>
        <p:spPr>
          <a:xfrm>
            <a:off x="4546600" y="4127500"/>
            <a:ext cx="4699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16" name="Box216"/>
          <p:cNvSpPr/>
          <p:nvPr/>
        </p:nvSpPr>
        <p:spPr>
          <a:xfrm>
            <a:off x="5016500" y="3848100"/>
            <a:ext cx="558800" cy="558800"/>
          </a:xfrm>
          <a:prstGeom prst="roundRect">
            <a:avLst>
              <a:gd name="adj" fmla="val 10000"/>
            </a:avLst>
          </a:prstGeom>
          <a:solidFill>
            <a:srgbClr val="DE7E18"/>
          </a:solidFill>
          <a:ln w="1270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7" name="Box217"/>
          <p:cNvSpPr/>
          <p:nvPr/>
        </p:nvSpPr>
        <p:spPr>
          <a:xfrm>
            <a:off x="4064000" y="5372100"/>
            <a:ext cx="558800" cy="457200"/>
          </a:xfrm>
          <a:prstGeom prst="roundRect">
            <a:avLst>
              <a:gd name="adj" fmla="val 10000"/>
            </a:avLst>
          </a:prstGeom>
          <a:solidFill>
            <a:srgbClr val="728653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8" name="Lbl218"/>
          <p:cNvSpPr txBox="1"/>
          <p:nvPr/>
        </p:nvSpPr>
        <p:spPr>
          <a:xfrm>
            <a:off x="4000500" y="5854700"/>
            <a:ext cx="698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728653"/>
                </a:solidFill>
              </a:rPr>
              <a:t>閾值</a:t>
            </a:r>
          </a:p>
        </p:txBody>
      </p:sp>
      <p:cxnSp>
        <p:nvCxnSpPr>
          <p:cNvPr id="219" name="ThreshLine"/>
          <p:cNvCxnSpPr/>
          <p:nvPr/>
        </p:nvCxnSpPr>
        <p:spPr>
          <a:xfrm flipV="1">
            <a:off x="4343400" y="4483100"/>
            <a:ext cx="6350" cy="889000"/>
          </a:xfrm>
          <a:prstGeom prst="line">
            <a:avLst/>
          </a:prstGeom>
          <a:ln w="12700">
            <a:solidFill>
              <a:srgbClr val="728653"/>
            </a:solidFill>
            <a:prstDash val="dash"/>
            <a:tailEnd type="triangle" w="sm" len="sm"/>
          </a:ln>
        </p:spPr>
      </p:cxnSp>
      <p:cxnSp>
        <p:nvCxnSpPr>
          <p:cNvPr id="220" name="Arrow220"/>
          <p:cNvCxnSpPr/>
          <p:nvPr/>
        </p:nvCxnSpPr>
        <p:spPr>
          <a:xfrm>
            <a:off x="5575300" y="4127500"/>
            <a:ext cx="4572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21" name="ActEllipse"/>
          <p:cNvSpPr/>
          <p:nvPr/>
        </p:nvSpPr>
        <p:spPr>
          <a:xfrm>
            <a:off x="6032500" y="3048000"/>
            <a:ext cx="2413000" cy="2159000"/>
          </a:xfrm>
          <a:prstGeom prst="ellipse">
            <a:avLst/>
          </a:prstGeom>
          <a:solidFill>
            <a:srgbClr val="D4EAF5"/>
          </a:solidFill>
          <a:ln w="12700">
            <a:solidFill>
              <a:srgbClr val="9ECBE0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2" name="Arrow222"/>
          <p:cNvCxnSpPr/>
          <p:nvPr/>
        </p:nvCxnSpPr>
        <p:spPr>
          <a:xfrm>
            <a:off x="6413500" y="4127500"/>
            <a:ext cx="1651000" cy="6350"/>
          </a:xfrm>
          <a:prstGeom prst="line">
            <a:avLst/>
          </a:prstGeom>
          <a:ln w="9525">
            <a:solidFill>
              <a:srgbClr val="5BA0C0"/>
            </a:solidFill>
            <a:tailEnd type="triangle" w="med" len="med"/>
          </a:ln>
        </p:spPr>
      </p:cxnSp>
      <p:cxnSp>
        <p:nvCxnSpPr>
          <p:cNvPr id="223" name="Arrow223"/>
          <p:cNvCxnSpPr/>
          <p:nvPr/>
        </p:nvCxnSpPr>
        <p:spPr>
          <a:xfrm flipV="1">
            <a:off x="7239000" y="3429000"/>
            <a:ext cx="6350" cy="1397000"/>
          </a:xfrm>
          <a:prstGeom prst="line">
            <a:avLst/>
          </a:prstGeom>
          <a:ln w="9525">
            <a:solidFill>
              <a:srgbClr val="5BA0C0"/>
            </a:solidFill>
            <a:tailEnd type="triangle" w="med" len="med"/>
          </a:ln>
        </p:spPr>
      </p:cxnSp>
      <p:cxnSp>
        <p:nvCxnSpPr>
          <p:cNvPr id="224" name="Line224"/>
          <p:cNvCxnSpPr/>
          <p:nvPr/>
        </p:nvCxnSpPr>
        <p:spPr>
          <a:xfrm flipV="1">
            <a:off x="6540500" y="4572000"/>
            <a:ext cx="254000" cy="63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5" name="Line225"/>
          <p:cNvCxnSpPr/>
          <p:nvPr/>
        </p:nvCxnSpPr>
        <p:spPr>
          <a:xfrm flipV="1">
            <a:off x="6794500" y="4381500"/>
            <a:ext cx="254000" cy="190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6" name="Line226"/>
          <p:cNvCxnSpPr/>
          <p:nvPr/>
        </p:nvCxnSpPr>
        <p:spPr>
          <a:xfrm flipV="1">
            <a:off x="7048500" y="4127500"/>
            <a:ext cx="190500" cy="2540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7" name="Line227"/>
          <p:cNvCxnSpPr/>
          <p:nvPr/>
        </p:nvCxnSpPr>
        <p:spPr>
          <a:xfrm flipV="1">
            <a:off x="7239000" y="3873500"/>
            <a:ext cx="190500" cy="2540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8" name="Line228"/>
          <p:cNvCxnSpPr/>
          <p:nvPr/>
        </p:nvCxnSpPr>
        <p:spPr>
          <a:xfrm flipV="1">
            <a:off x="7429500" y="3683000"/>
            <a:ext cx="254000" cy="190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9" name="Line229"/>
          <p:cNvCxnSpPr/>
          <p:nvPr/>
        </p:nvCxnSpPr>
        <p:spPr>
          <a:xfrm flipV="1">
            <a:off x="7683500" y="3619500"/>
            <a:ext cx="254000" cy="63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sp>
        <p:nvSpPr>
          <p:cNvPr id="230" name="Lbl230"/>
          <p:cNvSpPr txBox="1"/>
          <p:nvPr/>
        </p:nvSpPr>
        <p:spPr>
          <a:xfrm>
            <a:off x="6985000" y="3022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5BA0C0"/>
                </a:solidFill>
              </a:rPr>
              <a:t>輸出</a:t>
            </a:r>
          </a:p>
        </p:txBody>
      </p:sp>
      <p:sp>
        <p:nvSpPr>
          <p:cNvPr id="231" name="Lbl231"/>
          <p:cNvSpPr txBox="1"/>
          <p:nvPr/>
        </p:nvSpPr>
        <p:spPr>
          <a:xfrm>
            <a:off x="7683500" y="4165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5BA0C0"/>
                </a:solidFill>
              </a:rPr>
              <a:t>輸入</a:t>
            </a:r>
          </a:p>
        </p:txBody>
      </p:sp>
      <p:sp>
        <p:nvSpPr>
          <p:cNvPr id="232" name="Lbl232"/>
          <p:cNvSpPr txBox="1"/>
          <p:nvPr/>
        </p:nvSpPr>
        <p:spPr>
          <a:xfrm>
            <a:off x="6731000" y="52705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5BA0C0"/>
                </a:solidFill>
              </a:rPr>
              <a:t>激活函數</a:t>
            </a:r>
          </a:p>
        </p:txBody>
      </p:sp>
      <p:cxnSp>
        <p:nvCxnSpPr>
          <p:cNvPr id="233" name="Arrow233"/>
          <p:cNvCxnSpPr/>
          <p:nvPr/>
        </p:nvCxnSpPr>
        <p:spPr>
          <a:xfrm>
            <a:off x="8445500" y="4127500"/>
            <a:ext cx="889000" cy="6350"/>
          </a:xfrm>
          <a:prstGeom prst="line">
            <a:avLst/>
          </a:prstGeom>
          <a:ln w="12700">
            <a:solidFill>
              <a:srgbClr val="C8C8C8"/>
            </a:solidFill>
            <a:tailEnd type="triangle" w="med" len="med"/>
          </a:ln>
        </p:spPr>
      </p:cxnSp>
      <p:sp>
        <p:nvSpPr>
          <p:cNvPr id="234" name="Box234"/>
          <p:cNvSpPr/>
          <p:nvPr/>
        </p:nvSpPr>
        <p:spPr>
          <a:xfrm>
            <a:off x="9334500" y="3810000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C8C8C8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C8C8C8"/>
                </a:solidFill>
              </a:rPr>
              <a:t>4</a:t>
            </a:r>
          </a:p>
        </p:txBody>
      </p:sp>
      <p:sp>
        <p:nvSpPr>
          <p:cNvPr id="235" name="Lbl235"/>
          <p:cNvSpPr txBox="1"/>
          <p:nvPr/>
        </p:nvSpPr>
        <p:spPr>
          <a:xfrm>
            <a:off x="10033000" y="3746500"/>
            <a:ext cx="635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C8C8C8"/>
                </a:solidFill>
              </a:rPr>
              <a:t>神經元
輸出</a:t>
            </a:r>
          </a:p>
        </p:txBody>
      </p:sp>
      <p:sp>
        <p:nvSpPr>
          <p:cNvPr id="236" name="Desc"/>
          <p:cNvSpPr txBox="1"/>
          <p:nvPr/>
        </p:nvSpPr>
        <p:spPr>
          <a:xfrm>
            <a:off x="1333500" y="1524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766F54"/>
                </a:solidFill>
              </a:rPr>
              <a:t>淨輸入 4 通過 Sigmoid 函數 σ(4)≈0.98，將任意數值壓縮到 0~1 之間，引入非線性讓網路能學習複雜模式</a:t>
            </a:r>
          </a:p>
        </p:txBody>
      </p:sp>
      <p:sp>
        <p:nvSpPr>
          <p:cNvPr id="300" name="ActivAnnot"/>
          <p:cNvSpPr txBox="1"/>
          <p:nvPr/>
        </p:nvSpPr>
        <p:spPr>
          <a:xfrm>
            <a:off x="6096000" y="2159000"/>
            <a:ext cx="2413000" cy="698500"/>
          </a:xfrm>
          <a:prstGeom prst="rect">
            <a:avLst/>
          </a:prstGeom>
          <a:solidFill>
            <a:srgbClr val="E8F5E9"/>
          </a:solidFill>
          <a:ln w="9525">
            <a:solidFill>
              <a:srgbClr val="92AA4C"/>
            </a:solidFill>
            <a:prstDash val="dash"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728653"/>
                </a:solidFill>
              </a:rPr>
              <a:t>σ(4) = 1/(1+e⁻⁴)</a:t>
            </a:r>
          </a:p>
          <a:p>
            <a:pPr algn="ctr"/>
            <a:r>
              <a:rPr lang="en-US" sz="1600" b="1" dirty="0">
                <a:solidFill>
                  <a:srgbClr val="92AA4C"/>
                </a:solidFill>
              </a:rPr>
              <a:t>≈ 0.98</a:t>
            </a:r>
          </a:p>
        </p:txBody>
      </p:sp>
      <p:sp>
        <p:nvSpPr>
          <p:cNvPr id="301" name="StepBadge"/>
          <p:cNvSpPr/>
          <p:nvPr/>
        </p:nvSpPr>
        <p:spPr>
          <a:xfrm>
            <a:off x="10795000" y="190500"/>
            <a:ext cx="1016000" cy="457200"/>
          </a:xfrm>
          <a:prstGeom prst="roundRect">
            <a:avLst>
              <a:gd name="adj" fmla="val 30000"/>
            </a:avLst>
          </a:prstGeom>
          <a:solidFill>
            <a:srgbClr val="9F8351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71790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5EFAB-A7E9-41DA-A438-12BFFA1E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13992"/>
          </a:xfrm>
        </p:spPr>
        <p:txBody>
          <a:bodyPr/>
          <a:lstStyle/>
          <a:p>
            <a:r>
              <a:rPr lang="zh-TW" altLang="en-US" dirty="0"/>
              <a:t>神經元運作模式</a:t>
            </a:r>
          </a:p>
        </p:txBody>
      </p:sp>
      <p:sp>
        <p:nvSpPr>
          <p:cNvPr id="200" name="Box200"/>
          <p:cNvSpPr/>
          <p:nvPr/>
        </p:nvSpPr>
        <p:spPr>
          <a:xfrm>
            <a:off x="1143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1" name="Box201"/>
          <p:cNvSpPr/>
          <p:nvPr/>
        </p:nvSpPr>
        <p:spPr>
          <a:xfrm>
            <a:off x="1143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A53010"/>
          </a:solidFill>
          <a:ln w="12700">
            <a:solidFill>
              <a:srgbClr val="A53010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2" name="Box202"/>
          <p:cNvSpPr/>
          <p:nvPr/>
        </p:nvSpPr>
        <p:spPr>
          <a:xfrm>
            <a:off x="1143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2AA4C"/>
          </a:solidFill>
          <a:ln w="12700">
            <a:solidFill>
              <a:srgbClr val="92AA4C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Lbl203"/>
          <p:cNvSpPr txBox="1"/>
          <p:nvPr/>
        </p:nvSpPr>
        <p:spPr>
          <a:xfrm>
            <a:off x="482600" y="3492500"/>
            <a:ext cx="571500" cy="1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766F54"/>
                </a:solidFill>
              </a:rPr>
              <a:t>神經元
輸入</a:t>
            </a:r>
          </a:p>
        </p:txBody>
      </p:sp>
      <p:sp>
        <p:nvSpPr>
          <p:cNvPr id="204" name="Box204"/>
          <p:cNvSpPr/>
          <p:nvPr/>
        </p:nvSpPr>
        <p:spPr>
          <a:xfrm>
            <a:off x="2286000" y="2984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5" name="Box205"/>
          <p:cNvSpPr/>
          <p:nvPr/>
        </p:nvSpPr>
        <p:spPr>
          <a:xfrm>
            <a:off x="2286000" y="3873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-2</a:t>
            </a:r>
          </a:p>
        </p:txBody>
      </p:sp>
      <p:sp>
        <p:nvSpPr>
          <p:cNvPr id="206" name="Box206"/>
          <p:cNvSpPr/>
          <p:nvPr/>
        </p:nvSpPr>
        <p:spPr>
          <a:xfrm>
            <a:off x="2286000" y="4762500"/>
            <a:ext cx="609600" cy="508000"/>
          </a:xfrm>
          <a:prstGeom prst="roundRect">
            <a:avLst>
              <a:gd name="adj" fmla="val 10000"/>
            </a:avLst>
          </a:prstGeom>
          <a:solidFill>
            <a:srgbClr val="9F8351"/>
          </a:solidFill>
          <a:ln w="12700">
            <a:solidFill>
              <a:srgbClr val="9F8351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-1</a:t>
            </a:r>
          </a:p>
        </p:txBody>
      </p:sp>
      <p:sp>
        <p:nvSpPr>
          <p:cNvPr id="207" name="Lbl207"/>
          <p:cNvSpPr txBox="1"/>
          <p:nvPr/>
        </p:nvSpPr>
        <p:spPr>
          <a:xfrm>
            <a:off x="2222500" y="53721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9F8351"/>
                </a:solidFill>
              </a:rPr>
              <a:t>權重</a:t>
            </a:r>
          </a:p>
        </p:txBody>
      </p:sp>
      <p:cxnSp>
        <p:nvCxnSpPr>
          <p:cNvPr id="208" name="Line208"/>
          <p:cNvCxnSpPr/>
          <p:nvPr/>
        </p:nvCxnSpPr>
        <p:spPr>
          <a:xfrm>
            <a:off x="1752600" y="3238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09" name="Line209"/>
          <p:cNvCxnSpPr/>
          <p:nvPr/>
        </p:nvCxnSpPr>
        <p:spPr>
          <a:xfrm>
            <a:off x="1752600" y="4127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0" name="Line210"/>
          <p:cNvCxnSpPr/>
          <p:nvPr/>
        </p:nvCxnSpPr>
        <p:spPr>
          <a:xfrm>
            <a:off x="1752600" y="5016500"/>
            <a:ext cx="5334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1" name="Line211"/>
          <p:cNvCxnSpPr/>
          <p:nvPr/>
        </p:nvCxnSpPr>
        <p:spPr>
          <a:xfrm>
            <a:off x="2895600" y="3238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2" name="Line212"/>
          <p:cNvCxnSpPr/>
          <p:nvPr/>
        </p:nvCxnSpPr>
        <p:spPr>
          <a:xfrm>
            <a:off x="2895600" y="4127500"/>
            <a:ext cx="977900" cy="635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cxnSp>
        <p:nvCxnSpPr>
          <p:cNvPr id="213" name="Line213"/>
          <p:cNvCxnSpPr/>
          <p:nvPr/>
        </p:nvCxnSpPr>
        <p:spPr>
          <a:xfrm flipV="1">
            <a:off x="2895600" y="4127500"/>
            <a:ext cx="977900" cy="889000"/>
          </a:xfrm>
          <a:prstGeom prst="line">
            <a:avLst/>
          </a:prstGeom>
          <a:ln w="12700">
            <a:solidFill>
              <a:srgbClr val="766F54"/>
            </a:solidFill>
          </a:ln>
        </p:spPr>
      </p:cxnSp>
      <p:sp>
        <p:nvSpPr>
          <p:cNvPr id="214" name="Sigma"/>
          <p:cNvSpPr/>
          <p:nvPr/>
        </p:nvSpPr>
        <p:spPr>
          <a:xfrm>
            <a:off x="3835400" y="3771900"/>
            <a:ext cx="711200" cy="711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DE7E18"/>
                </a:solidFill>
              </a:rPr>
              <a:t>+</a:t>
            </a:r>
          </a:p>
        </p:txBody>
      </p:sp>
      <p:cxnSp>
        <p:nvCxnSpPr>
          <p:cNvPr id="215" name="Arrow215"/>
          <p:cNvCxnSpPr/>
          <p:nvPr/>
        </p:nvCxnSpPr>
        <p:spPr>
          <a:xfrm>
            <a:off x="4546600" y="4127500"/>
            <a:ext cx="4699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16" name="Box216"/>
          <p:cNvSpPr/>
          <p:nvPr/>
        </p:nvSpPr>
        <p:spPr>
          <a:xfrm>
            <a:off x="5016500" y="3848100"/>
            <a:ext cx="558800" cy="558800"/>
          </a:xfrm>
          <a:prstGeom prst="roundRect">
            <a:avLst>
              <a:gd name="adj" fmla="val 10000"/>
            </a:avLst>
          </a:prstGeom>
          <a:solidFill>
            <a:srgbClr val="DE7E18"/>
          </a:solidFill>
          <a:ln w="12700">
            <a:solidFill>
              <a:srgbClr val="DE7E18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7" name="Box217"/>
          <p:cNvSpPr/>
          <p:nvPr/>
        </p:nvSpPr>
        <p:spPr>
          <a:xfrm>
            <a:off x="4064000" y="5372100"/>
            <a:ext cx="558800" cy="457200"/>
          </a:xfrm>
          <a:prstGeom prst="roundRect">
            <a:avLst>
              <a:gd name="adj" fmla="val 10000"/>
            </a:avLst>
          </a:prstGeom>
          <a:solidFill>
            <a:srgbClr val="728653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8" name="Lbl218"/>
          <p:cNvSpPr txBox="1"/>
          <p:nvPr/>
        </p:nvSpPr>
        <p:spPr>
          <a:xfrm>
            <a:off x="4000500" y="5854700"/>
            <a:ext cx="698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728653"/>
                </a:solidFill>
              </a:rPr>
              <a:t>閾值</a:t>
            </a:r>
          </a:p>
        </p:txBody>
      </p:sp>
      <p:cxnSp>
        <p:nvCxnSpPr>
          <p:cNvPr id="219" name="ThreshLine"/>
          <p:cNvCxnSpPr/>
          <p:nvPr/>
        </p:nvCxnSpPr>
        <p:spPr>
          <a:xfrm flipV="1">
            <a:off x="4343400" y="4483100"/>
            <a:ext cx="6350" cy="889000"/>
          </a:xfrm>
          <a:prstGeom prst="line">
            <a:avLst/>
          </a:prstGeom>
          <a:ln w="12700">
            <a:solidFill>
              <a:srgbClr val="728653"/>
            </a:solidFill>
            <a:prstDash val="dash"/>
            <a:tailEnd type="triangle" w="sm" len="sm"/>
          </a:ln>
        </p:spPr>
      </p:cxnSp>
      <p:cxnSp>
        <p:nvCxnSpPr>
          <p:cNvPr id="220" name="Arrow220"/>
          <p:cNvCxnSpPr/>
          <p:nvPr/>
        </p:nvCxnSpPr>
        <p:spPr>
          <a:xfrm>
            <a:off x="5575300" y="4127500"/>
            <a:ext cx="4572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21" name="ActEllipse"/>
          <p:cNvSpPr/>
          <p:nvPr/>
        </p:nvSpPr>
        <p:spPr>
          <a:xfrm>
            <a:off x="6032500" y="3048000"/>
            <a:ext cx="2413000" cy="2159000"/>
          </a:xfrm>
          <a:prstGeom prst="ellipse">
            <a:avLst/>
          </a:prstGeom>
          <a:solidFill>
            <a:srgbClr val="D4EAF5"/>
          </a:solidFill>
          <a:ln w="12700">
            <a:solidFill>
              <a:srgbClr val="9ECBE0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2" name="Arrow222"/>
          <p:cNvCxnSpPr/>
          <p:nvPr/>
        </p:nvCxnSpPr>
        <p:spPr>
          <a:xfrm>
            <a:off x="6413500" y="4127500"/>
            <a:ext cx="1651000" cy="6350"/>
          </a:xfrm>
          <a:prstGeom prst="line">
            <a:avLst/>
          </a:prstGeom>
          <a:ln w="9525">
            <a:solidFill>
              <a:srgbClr val="5BA0C0"/>
            </a:solidFill>
            <a:tailEnd type="triangle" w="med" len="med"/>
          </a:ln>
        </p:spPr>
      </p:cxnSp>
      <p:cxnSp>
        <p:nvCxnSpPr>
          <p:cNvPr id="223" name="Arrow223"/>
          <p:cNvCxnSpPr/>
          <p:nvPr/>
        </p:nvCxnSpPr>
        <p:spPr>
          <a:xfrm flipV="1">
            <a:off x="7239000" y="3429000"/>
            <a:ext cx="6350" cy="1397000"/>
          </a:xfrm>
          <a:prstGeom prst="line">
            <a:avLst/>
          </a:prstGeom>
          <a:ln w="9525">
            <a:solidFill>
              <a:srgbClr val="5BA0C0"/>
            </a:solidFill>
            <a:tailEnd type="triangle" w="med" len="med"/>
          </a:ln>
        </p:spPr>
      </p:cxnSp>
      <p:cxnSp>
        <p:nvCxnSpPr>
          <p:cNvPr id="224" name="Line224"/>
          <p:cNvCxnSpPr/>
          <p:nvPr/>
        </p:nvCxnSpPr>
        <p:spPr>
          <a:xfrm flipV="1">
            <a:off x="6540500" y="4572000"/>
            <a:ext cx="254000" cy="63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5" name="Line225"/>
          <p:cNvCxnSpPr/>
          <p:nvPr/>
        </p:nvCxnSpPr>
        <p:spPr>
          <a:xfrm flipV="1">
            <a:off x="6794500" y="4381500"/>
            <a:ext cx="254000" cy="190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6" name="Line226"/>
          <p:cNvCxnSpPr/>
          <p:nvPr/>
        </p:nvCxnSpPr>
        <p:spPr>
          <a:xfrm flipV="1">
            <a:off x="7048500" y="4127500"/>
            <a:ext cx="190500" cy="2540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7" name="Line227"/>
          <p:cNvCxnSpPr/>
          <p:nvPr/>
        </p:nvCxnSpPr>
        <p:spPr>
          <a:xfrm flipV="1">
            <a:off x="7239000" y="3873500"/>
            <a:ext cx="190500" cy="2540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8" name="Line228"/>
          <p:cNvCxnSpPr/>
          <p:nvPr/>
        </p:nvCxnSpPr>
        <p:spPr>
          <a:xfrm flipV="1">
            <a:off x="7429500" y="3683000"/>
            <a:ext cx="254000" cy="190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cxnSp>
        <p:nvCxnSpPr>
          <p:cNvPr id="229" name="Line229"/>
          <p:cNvCxnSpPr/>
          <p:nvPr/>
        </p:nvCxnSpPr>
        <p:spPr>
          <a:xfrm flipV="1">
            <a:off x="7683500" y="3619500"/>
            <a:ext cx="254000" cy="63500"/>
          </a:xfrm>
          <a:prstGeom prst="line">
            <a:avLst/>
          </a:prstGeom>
          <a:ln w="19050">
            <a:solidFill>
              <a:srgbClr val="92AA4C"/>
            </a:solidFill>
          </a:ln>
        </p:spPr>
      </p:cxnSp>
      <p:sp>
        <p:nvSpPr>
          <p:cNvPr id="230" name="Lbl230"/>
          <p:cNvSpPr txBox="1"/>
          <p:nvPr/>
        </p:nvSpPr>
        <p:spPr>
          <a:xfrm>
            <a:off x="6985000" y="3022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5BA0C0"/>
                </a:solidFill>
              </a:rPr>
              <a:t>輸出</a:t>
            </a:r>
          </a:p>
        </p:txBody>
      </p:sp>
      <p:sp>
        <p:nvSpPr>
          <p:cNvPr id="231" name="Lbl231"/>
          <p:cNvSpPr txBox="1"/>
          <p:nvPr/>
        </p:nvSpPr>
        <p:spPr>
          <a:xfrm>
            <a:off x="7683500" y="4165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dirty="0">
                <a:solidFill>
                  <a:srgbClr val="5BA0C0"/>
                </a:solidFill>
              </a:rPr>
              <a:t>輸入</a:t>
            </a:r>
          </a:p>
        </p:txBody>
      </p:sp>
      <p:sp>
        <p:nvSpPr>
          <p:cNvPr id="232" name="Lbl232"/>
          <p:cNvSpPr txBox="1"/>
          <p:nvPr/>
        </p:nvSpPr>
        <p:spPr>
          <a:xfrm>
            <a:off x="6731000" y="5270500"/>
            <a:ext cx="1016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400" b="1" dirty="0">
                <a:solidFill>
                  <a:srgbClr val="5BA0C0"/>
                </a:solidFill>
              </a:rPr>
              <a:t>激活函數</a:t>
            </a:r>
          </a:p>
        </p:txBody>
      </p:sp>
      <p:cxnSp>
        <p:nvCxnSpPr>
          <p:cNvPr id="233" name="Arrow233"/>
          <p:cNvCxnSpPr/>
          <p:nvPr/>
        </p:nvCxnSpPr>
        <p:spPr>
          <a:xfrm>
            <a:off x="8445500" y="4127500"/>
            <a:ext cx="889000" cy="6350"/>
          </a:xfrm>
          <a:prstGeom prst="line">
            <a:avLst/>
          </a:prstGeom>
          <a:ln w="12700">
            <a:solidFill>
              <a:srgbClr val="766F54"/>
            </a:solidFill>
            <a:tailEnd type="triangle" w="med" len="med"/>
          </a:ln>
        </p:spPr>
      </p:cxnSp>
      <p:sp>
        <p:nvSpPr>
          <p:cNvPr id="234" name="Box234"/>
          <p:cNvSpPr/>
          <p:nvPr/>
        </p:nvSpPr>
        <p:spPr>
          <a:xfrm>
            <a:off x="9334500" y="3810000"/>
            <a:ext cx="635000" cy="635000"/>
          </a:xfrm>
          <a:prstGeom prst="roundRect">
            <a:avLst>
              <a:gd name="adj" fmla="val 10000"/>
            </a:avLst>
          </a:prstGeom>
          <a:solidFill>
            <a:srgbClr val="728653"/>
          </a:solidFill>
          <a:ln w="12700">
            <a:solidFill>
              <a:srgbClr val="728653"/>
            </a:solidFill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5" name="Lbl235"/>
          <p:cNvSpPr txBox="1"/>
          <p:nvPr/>
        </p:nvSpPr>
        <p:spPr>
          <a:xfrm>
            <a:off x="10033000" y="3746500"/>
            <a:ext cx="635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766F54"/>
                </a:solidFill>
              </a:rPr>
              <a:t>神經元
輸出</a:t>
            </a:r>
          </a:p>
        </p:txBody>
      </p:sp>
      <p:sp>
        <p:nvSpPr>
          <p:cNvPr id="236" name="Desc"/>
          <p:cNvSpPr txBox="1"/>
          <p:nvPr/>
        </p:nvSpPr>
        <p:spPr>
          <a:xfrm>
            <a:off x="1333500" y="1524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zh-TW" altLang="en-US" sz="1400" dirty="0">
                <a:solidFill>
                  <a:srgbClr val="766F54"/>
                </a:solidFill>
              </a:rPr>
              <a:t>輸出≈0.98，若與目標不符，透過反向傳播(Backpropagation)調整權重，反覆迭代直到誤差最小</a:t>
            </a:r>
          </a:p>
        </p:txBody>
      </p:sp>
      <p:sp>
        <p:nvSpPr>
          <p:cNvPr id="300" name="BPBox"/>
          <p:cNvSpPr/>
          <p:nvPr/>
        </p:nvSpPr>
        <p:spPr>
          <a:xfrm>
            <a:off x="2540000" y="5969000"/>
            <a:ext cx="7112000" cy="482600"/>
          </a:xfrm>
          <a:prstGeom prst="roundRect">
            <a:avLst>
              <a:gd name="adj" fmla="val 25000"/>
            </a:avLst>
          </a:prstGeom>
          <a:solidFill>
            <a:srgbClr val="FBE9E7"/>
          </a:solidFill>
          <a:ln w="12700">
            <a:solidFill>
              <a:srgbClr val="A53010"/>
            </a:solidFill>
            <a:prstDash val="dash"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A53010"/>
                </a:solidFill>
              </a:rPr>
              <a:t>← Backpropagation: </a:t>
            </a:r>
            <a:r>
              <a:rPr lang="zh-TW" altLang="en-US" sz="1400" dirty="0">
                <a:solidFill>
                  <a:srgbClr val="A53010"/>
                </a:solidFill>
              </a:rPr>
              <a:t>誤差反向傳遞，根據梯度下降法調整權重 w₁, w₂, w₃</a:t>
            </a:r>
          </a:p>
        </p:txBody>
      </p:sp>
      <p:cxnSp>
        <p:nvCxnSpPr>
          <p:cNvPr id="301" name="BPArrow"/>
          <p:cNvCxnSpPr/>
          <p:nvPr/>
        </p:nvCxnSpPr>
        <p:spPr>
          <a:xfrm flipH="1">
            <a:off x="1968500" y="6210300"/>
            <a:ext cx="571500" cy="6350"/>
          </a:xfrm>
          <a:prstGeom prst="line">
            <a:avLst/>
          </a:prstGeom>
          <a:ln w="19050">
            <a:solidFill>
              <a:srgbClr val="A53010"/>
            </a:solidFill>
            <a:tailEnd type="triangle" w="med" len="med"/>
          </a:ln>
        </p:spPr>
      </p:cxnSp>
      <p:sp>
        <p:nvSpPr>
          <p:cNvPr id="302" name="OutResult"/>
          <p:cNvSpPr txBox="1"/>
          <p:nvPr/>
        </p:nvSpPr>
        <p:spPr>
          <a:xfrm>
            <a:off x="9080500" y="31496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728653"/>
                </a:solidFill>
              </a:rPr>
              <a:t>≈ 0.98</a:t>
            </a:r>
          </a:p>
        </p:txBody>
      </p:sp>
      <p:sp>
        <p:nvSpPr>
          <p:cNvPr id="303" name="StepBadge"/>
          <p:cNvSpPr/>
          <p:nvPr/>
        </p:nvSpPr>
        <p:spPr>
          <a:xfrm>
            <a:off x="10795000" y="190500"/>
            <a:ext cx="1016000" cy="457200"/>
          </a:xfrm>
          <a:prstGeom prst="roundRect">
            <a:avLst>
              <a:gd name="adj" fmla="val 30000"/>
            </a:avLst>
          </a:prstGeom>
          <a:solidFill>
            <a:srgbClr val="728653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111813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587060-A7D2-47C2-A623-9019E1B8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TensorFlow Playground</a:t>
            </a:r>
            <a:r>
              <a:rPr lang="zh-TW" altLang="en-US" b="1" dirty="0"/>
              <a:t>（線上工具）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8E7B48-8E2F-4D8A-82A3-2D38BA876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1. </a:t>
            </a:r>
            <a:r>
              <a:rPr lang="zh-TW" altLang="en-US" b="1" dirty="0"/>
              <a:t>網址</a:t>
            </a:r>
            <a:r>
              <a:rPr lang="en-US" altLang="zh-TW" dirty="0"/>
              <a:t>: https://playground.tensorflow.org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非常適合初學者，是一個互動式的網頁工具。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可以自由設定神經網路的層數、節點數、啟動函數、學習率等參數。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實時觀察模型如何分類資料，幫助學生理解權重調整與訓練過程。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優點</a:t>
            </a:r>
            <a:r>
              <a:rPr lang="zh-TW" altLang="en-US" dirty="0"/>
              <a:t>：圖形化介面簡單直觀，免安裝、即開即用。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4524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CFF0E7-D6CA-4092-A87A-1E2E6E20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Deep Learning Wizard</a:t>
            </a:r>
            <a:r>
              <a:rPr lang="zh-TW" altLang="en-US" b="1" dirty="0"/>
              <a:t>（</a:t>
            </a:r>
            <a:r>
              <a:rPr lang="en-US" altLang="zh-TW" b="1" dirty="0"/>
              <a:t>Python + </a:t>
            </a:r>
            <a:r>
              <a:rPr lang="zh-TW" altLang="en-US" b="1" dirty="0"/>
              <a:t>可視化教學）</a:t>
            </a:r>
            <a:br>
              <a:rPr lang="zh-TW" altLang="en-US" b="1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73DAA-2B09-48DC-86F8-284616ECC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🔹 網址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https://www.deeplearningwizard.com/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提供循序漸進的教學與 </a:t>
            </a:r>
            <a:r>
              <a:rPr lang="en-US" altLang="zh-TW" dirty="0"/>
              <a:t>Python </a:t>
            </a:r>
            <a:r>
              <a:rPr lang="zh-TW" altLang="en-US" dirty="0"/>
              <a:t>程式碼，適合大學程度。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學生可自行執行程式碼並搭配圖表理解運作原理。</a:t>
            </a:r>
          </a:p>
        </p:txBody>
      </p:sp>
    </p:spTree>
    <p:extLst>
      <p:ext uri="{BB962C8B-B14F-4D97-AF65-F5344CB8AC3E}">
        <p14:creationId xmlns:p14="http://schemas.microsoft.com/office/powerpoint/2010/main" val="4133533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BB9A38-6989-3F47-83A5-928DC0AAF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Iris Dataset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A48BE7-FC96-8D42-BF30-9A71020D2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022" y="1357416"/>
            <a:ext cx="9735207" cy="6084506"/>
          </a:xfr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D56F0D11-0B6F-4D5F-B521-F16FCF83BE62}"/>
              </a:ext>
            </a:extLst>
          </p:cNvPr>
          <p:cNvGrpSpPr/>
          <p:nvPr/>
        </p:nvGrpSpPr>
        <p:grpSpPr>
          <a:xfrm>
            <a:off x="6226289" y="3482385"/>
            <a:ext cx="2995071" cy="2424133"/>
            <a:chOff x="5919663" y="1706769"/>
            <a:chExt cx="3029373" cy="2925608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97F8E9C9-1586-40D5-9AFE-4F3F3DA0E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9663" y="1706769"/>
              <a:ext cx="3029373" cy="2829320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2462588-D666-405D-A6CB-5A521E61D00E}"/>
                </a:ext>
              </a:extLst>
            </p:cNvPr>
            <p:cNvSpPr txBox="1"/>
            <p:nvPr/>
          </p:nvSpPr>
          <p:spPr>
            <a:xfrm>
              <a:off x="7581208" y="4263045"/>
              <a:ext cx="931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Sepal</a:t>
              </a:r>
              <a:endParaRPr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1AA9249B-68F3-4D3C-B73E-3B1F114D8E00}"/>
                </a:ext>
              </a:extLst>
            </p:cNvPr>
            <p:cNvSpPr txBox="1"/>
            <p:nvPr/>
          </p:nvSpPr>
          <p:spPr>
            <a:xfrm>
              <a:off x="7771975" y="3618336"/>
              <a:ext cx="931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Petal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96766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785A5-5320-8448-945D-F1BC0A8C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BE2047-C975-7B46-A609-88A3E48E7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DE29383-58E0-B84D-8BA9-6B27E55AD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10" y="444291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2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1278FF-B08B-F148-85E4-93E4740D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31BAAE-70FF-184F-977D-60A8F0356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081C531-4BA7-624B-9775-A07CDBC2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6428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97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5446BB-BAE4-3343-827F-DF17FF71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8BF507-3D84-F749-A5A9-3A4C170EE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C539461-984A-8642-9828-DBA55558F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9" y="742519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84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9EA0EF-F039-9F43-8F35-EC5C902E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334637-D8A6-C545-ACBB-C7C66923D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8317B2C-F29C-6940-8958-6D25D10DD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71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392D77-10AA-4C4D-8B06-4F24800C1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7115E6-2EBA-B84F-901C-FAFD70769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AFCB426-AC4E-4945-89DD-A6E128E3B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038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13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8B0BBF-2DA3-2D46-82AD-A442ED90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6D6113-1F27-DF47-974D-DA92DC073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2B35161-79C7-CC49-803F-F50EE13A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0315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61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E525BB-ACF3-344B-B960-9025205C7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B9E61C-3DB1-424A-B314-2E3214C42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9A0B296-FC23-F74B-815A-15B4F2B8B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32" y="847831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08867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0DA702-F10B-46D1-A250-1F3A7FC2D5B7}">
  <we:reference id="wa200010001" version="1.0.0.1" store="zh-TW" storeType="OMEX"/>
  <we:alternateReferences>
    <we:reference id="wa200010001" version="1.0.0.1" store="" storeType="OMEX"/>
  </we:alternateReferences>
  <we:properties>
    <we:property name="claude.fileId" value="&quot;afca783d-00a3-42c5-8b5d-e18e481e768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201</TotalTime>
  <Words>625</Words>
  <Application>Microsoft Office PowerPoint</Application>
  <PresentationFormat>寬螢幕</PresentationFormat>
  <Paragraphs>155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Arial</vt:lpstr>
      <vt:lpstr>Cambria Math</vt:lpstr>
      <vt:lpstr>Century Gothic</vt:lpstr>
      <vt:lpstr>Wingdings 3</vt:lpstr>
      <vt:lpstr>絲縷</vt:lpstr>
      <vt:lpstr>IBM SPSS 神經網路-多層感知分析</vt:lpstr>
      <vt:lpstr>PowerPoint 簡報</vt:lpstr>
      <vt:lpstr>神經元運作模式</vt:lpstr>
      <vt:lpstr>神經元運作模式</vt:lpstr>
      <vt:lpstr>神經元運作模式</vt:lpstr>
      <vt:lpstr>神經元運作模式</vt:lpstr>
      <vt:lpstr>神經元運作模式</vt:lpstr>
      <vt:lpstr>神經元運作模式</vt:lpstr>
      <vt:lpstr>TensorFlow Playground（線上工具）</vt:lpstr>
      <vt:lpstr>Deep Learning Wizard（Python + 可視化教學） </vt:lpstr>
      <vt:lpstr>Iris Dataset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SPSS 神經網路-多層感知分析</dc:title>
  <dc:creator>Microsoft Office 使用者</dc:creator>
  <cp:lastModifiedBy>曹修源</cp:lastModifiedBy>
  <cp:revision>4</cp:revision>
  <dcterms:created xsi:type="dcterms:W3CDTF">2018-06-25T16:13:29Z</dcterms:created>
  <dcterms:modified xsi:type="dcterms:W3CDTF">2026-05-05T06:30:07Z</dcterms:modified>
</cp:coreProperties>
</file>