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87" r:id="rId6"/>
    <p:sldId id="270" r:id="rId7"/>
    <p:sldId id="260" r:id="rId8"/>
    <p:sldId id="261" r:id="rId9"/>
    <p:sldId id="271" r:id="rId10"/>
    <p:sldId id="285" r:id="rId11"/>
    <p:sldId id="262" r:id="rId12"/>
    <p:sldId id="282" r:id="rId13"/>
    <p:sldId id="263" r:id="rId14"/>
    <p:sldId id="272" r:id="rId15"/>
    <p:sldId id="264" r:id="rId16"/>
    <p:sldId id="265" r:id="rId17"/>
    <p:sldId id="289" r:id="rId18"/>
    <p:sldId id="273" r:id="rId19"/>
    <p:sldId id="266" r:id="rId20"/>
    <p:sldId id="267" r:id="rId21"/>
    <p:sldId id="274" r:id="rId22"/>
    <p:sldId id="291" r:id="rId23"/>
    <p:sldId id="307" r:id="rId24"/>
    <p:sldId id="275" r:id="rId25"/>
    <p:sldId id="293" r:id="rId26"/>
    <p:sldId id="284" r:id="rId27"/>
    <p:sldId id="286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曹修源" userId="cd4dc3a9-fcfc-4557-b60c-6ceb710917d0" providerId="ADAL" clId="{DCFB4A5F-B050-4D36-83D7-F45F2F625A98}"/>
    <pc:docChg chg="custSel addSld delSld modSld sldOrd">
      <pc:chgData name="曹修源" userId="cd4dc3a9-fcfc-4557-b60c-6ceb710917d0" providerId="ADAL" clId="{DCFB4A5F-B050-4D36-83D7-F45F2F625A98}" dt="2026-05-19T09:58:42.017" v="12" actId="47"/>
      <pc:docMkLst>
        <pc:docMk/>
      </pc:docMkLst>
      <pc:sldChg chg="del">
        <pc:chgData name="曹修源" userId="cd4dc3a9-fcfc-4557-b60c-6ceb710917d0" providerId="ADAL" clId="{DCFB4A5F-B050-4D36-83D7-F45F2F625A98}" dt="2026-05-19T09:58:42.017" v="12" actId="47"/>
        <pc:sldMkLst>
          <pc:docMk/>
          <pc:sldMk cId="0" sldId="268"/>
        </pc:sldMkLst>
      </pc:sldChg>
      <pc:sldChg chg="ord">
        <pc:chgData name="曹修源" userId="cd4dc3a9-fcfc-4557-b60c-6ceb710917d0" providerId="ADAL" clId="{DCFB4A5F-B050-4D36-83D7-F45F2F625A98}" dt="2026-05-19T09:57:54.202" v="6"/>
        <pc:sldMkLst>
          <pc:docMk/>
          <pc:sldMk cId="16675399" sldId="275"/>
        </pc:sldMkLst>
      </pc:sldChg>
      <pc:sldChg chg="ord">
        <pc:chgData name="曹修源" userId="cd4dc3a9-fcfc-4557-b60c-6ceb710917d0" providerId="ADAL" clId="{DCFB4A5F-B050-4D36-83D7-F45F2F625A98}" dt="2026-05-19T09:58:04.968" v="8"/>
        <pc:sldMkLst>
          <pc:docMk/>
          <pc:sldMk cId="95359908" sldId="284"/>
        </pc:sldMkLst>
      </pc:sldChg>
      <pc:sldChg chg="add del">
        <pc:chgData name="曹修源" userId="cd4dc3a9-fcfc-4557-b60c-6ceb710917d0" providerId="ADAL" clId="{DCFB4A5F-B050-4D36-83D7-F45F2F625A98}" dt="2026-05-19T09:58:21.318" v="9" actId="47"/>
        <pc:sldMkLst>
          <pc:docMk/>
          <pc:sldMk cId="802203386" sldId="290"/>
        </pc:sldMkLst>
      </pc:sldChg>
      <pc:sldChg chg="add ord">
        <pc:chgData name="曹修源" userId="cd4dc3a9-fcfc-4557-b60c-6ceb710917d0" providerId="ADAL" clId="{DCFB4A5F-B050-4D36-83D7-F45F2F625A98}" dt="2026-05-19T09:58:25.664" v="11"/>
        <pc:sldMkLst>
          <pc:docMk/>
          <pc:sldMk cId="3891053908" sldId="291"/>
        </pc:sldMkLst>
      </pc:sldChg>
      <pc:sldChg chg="add del">
        <pc:chgData name="曹修源" userId="cd4dc3a9-fcfc-4557-b60c-6ceb710917d0" providerId="ADAL" clId="{DCFB4A5F-B050-4D36-83D7-F45F2F625A98}" dt="2026-05-19T08:55:22.853" v="4"/>
        <pc:sldMkLst>
          <pc:docMk/>
          <pc:sldMk cId="1303237399" sldId="292"/>
        </pc:sldMkLst>
      </pc:sldChg>
      <pc:sldChg chg="add">
        <pc:chgData name="曹修源" userId="cd4dc3a9-fcfc-4557-b60c-6ceb710917d0" providerId="ADAL" clId="{DCFB4A5F-B050-4D36-83D7-F45F2F625A98}" dt="2026-05-19T08:55:22.846" v="3"/>
        <pc:sldMkLst>
          <pc:docMk/>
          <pc:sldMk cId="2217501479" sldId="293"/>
        </pc:sldMkLst>
      </pc:sldChg>
    </pc:docChg>
  </pc:docChgLst>
  <pc:docChgLst>
    <pc:chgData name="Hsiu-Yuan Tsao" userId="926f8131eaee9ee6" providerId="LiveId" clId="{5702328A-1C8F-4A3A-8001-88F7907B51B2}"/>
    <pc:docChg chg="custSel addSld modSld">
      <pc:chgData name="Hsiu-Yuan Tsao" userId="926f8131eaee9ee6" providerId="LiveId" clId="{5702328A-1C8F-4A3A-8001-88F7907B51B2}" dt="2026-05-20T02:36:20.751" v="6" actId="1076"/>
      <pc:docMkLst>
        <pc:docMk/>
      </pc:docMkLst>
      <pc:sldChg chg="addSp modSp add mod">
        <pc:chgData name="Hsiu-Yuan Tsao" userId="926f8131eaee9ee6" providerId="LiveId" clId="{5702328A-1C8F-4A3A-8001-88F7907B51B2}" dt="2026-05-20T02:36:20.751" v="6" actId="1076"/>
        <pc:sldMkLst>
          <pc:docMk/>
          <pc:sldMk cId="407543307" sldId="307"/>
        </pc:sldMkLst>
        <pc:spChg chg="mod">
          <ac:chgData name="Hsiu-Yuan Tsao" userId="926f8131eaee9ee6" providerId="LiveId" clId="{5702328A-1C8F-4A3A-8001-88F7907B51B2}" dt="2026-05-20T02:35:47.072" v="2" actId="27636"/>
          <ac:spMkLst>
            <pc:docMk/>
            <pc:sldMk cId="407543307" sldId="307"/>
            <ac:spMk id="8" creationId="{7A99238F-4715-42C4-8D55-8E440EF1C958}"/>
          </ac:spMkLst>
        </pc:spChg>
        <pc:spChg chg="mod">
          <ac:chgData name="Hsiu-Yuan Tsao" userId="926f8131eaee9ee6" providerId="LiveId" clId="{5702328A-1C8F-4A3A-8001-88F7907B51B2}" dt="2026-05-20T02:35:47.070" v="1" actId="27636"/>
          <ac:spMkLst>
            <pc:docMk/>
            <pc:sldMk cId="407543307" sldId="307"/>
            <ac:spMk id="9" creationId="{7C19F6AC-F9B6-4330-BD2D-FC1B235E1640}"/>
          </ac:spMkLst>
        </pc:spChg>
        <pc:spChg chg="add mod">
          <ac:chgData name="Hsiu-Yuan Tsao" userId="926f8131eaee9ee6" providerId="LiveId" clId="{5702328A-1C8F-4A3A-8001-88F7907B51B2}" dt="2026-05-20T02:36:17.753" v="5" actId="207"/>
          <ac:spMkLst>
            <pc:docMk/>
            <pc:sldMk cId="407543307" sldId="307"/>
            <ac:spMk id="10" creationId="{48A353B3-7F85-213C-5241-2A1EACECFCC9}"/>
          </ac:spMkLst>
        </pc:spChg>
        <pc:picChg chg="mod">
          <ac:chgData name="Hsiu-Yuan Tsao" userId="926f8131eaee9ee6" providerId="LiveId" clId="{5702328A-1C8F-4A3A-8001-88F7907B51B2}" dt="2026-05-20T02:36:20.751" v="6" actId="1076"/>
          <ac:picMkLst>
            <pc:docMk/>
            <pc:sldMk cId="407543307" sldId="307"/>
            <ac:picMk id="2" creationId="{AA944B6E-87D8-4D95-8EFD-7C609265A57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46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884037E-D8E1-4415-9790-136719B51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78BE8-B251-4222-A85F-D039F8B9CDC8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088840E-9909-4FA0-9DF1-1751ABBAB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EAFBD6-99C7-4792-A82F-7EF3BA6E3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555B3-808B-4C70-8D81-BC4C6FD34F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3891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28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88352" y="228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44384" y="228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0416" y="228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484632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88352" y="484632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44384" y="484632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0416" y="484632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740664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88352" y="740664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44384" y="740664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0416" y="740664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996696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88352" y="996696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44384" y="996696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0416" y="996696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《Winning the Right Game》· Ron Adner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960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生態系競爭策略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502920" y="19202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F1–F5 核心框架 × 實際案例解說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02920" y="2560320"/>
            <a:ext cx="4114800" cy="27432"/>
          </a:xfrm>
          <a:prstGeom prst="rect">
            <a:avLst/>
          </a:prstGeom>
          <a:solidFill>
            <a:srgbClr val="C8973A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743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 Adner</a:t>
            </a:r>
            <a:r>
              <a:rPr lang="en-US" sz="13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達特茅斯塔克商學院策略與創業教授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中文版《生態系競爭策略》· 天下雜誌 2022 · MBA 策略課程專用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16052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783080" y="4160520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63240" y="4160520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0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43400" y="4160520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23560" y="416052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645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每個框架附對應真實案例：LINE · Uber Eats · Gogoro · Kodak · Netflix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五大框架總覽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the Right Game · 艾德納核心分析工具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1609344" cy="39136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14400"/>
            <a:ext cx="1609344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07899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160934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生態系角色定位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6032" y="2075688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Role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5216" y="2340864"/>
            <a:ext cx="841248" cy="18288"/>
          </a:xfrm>
          <a:prstGeom prst="rect">
            <a:avLst/>
          </a:prstGeom>
          <a:solidFill>
            <a:srgbClr val="2563EB">
              <a:alpha val="4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2423160"/>
            <a:ext cx="142646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協調者 / 參與者 / 顛覆者，角色決定策略起點。注意「協調者陷阱」。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4443984"/>
            <a:ext cx="1609344" cy="384048"/>
          </a:xfrm>
          <a:prstGeom prst="rect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" y="444398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案例：LINE 台灣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65960" y="914400"/>
            <a:ext cx="1609344" cy="39136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65960" y="914400"/>
            <a:ext cx="1609344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5"/>
          <p:cNvSpPr/>
          <p:nvPr/>
        </p:nvSpPr>
        <p:spPr>
          <a:xfrm>
            <a:off x="2551176" y="1078992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2551176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20824" y="160934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價值藍圖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020824" y="2075688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Blueprint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350008" y="2340864"/>
            <a:ext cx="841248" cy="18288"/>
          </a:xfrm>
          <a:prstGeom prst="rect">
            <a:avLst/>
          </a:prstGeom>
          <a:solidFill>
            <a:srgbClr val="059669">
              <a:alpha val="4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057400" y="2423160"/>
            <a:ext cx="142646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拆解所有價值元素、組合結構，與到達終端顧客的採用節點路徑。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65960" y="4443984"/>
            <a:ext cx="1609344" cy="384048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020824" y="444398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案例：Uber Eats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30752" y="914400"/>
            <a:ext cx="1609344" cy="39136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30752" y="914400"/>
            <a:ext cx="1609344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Shape 25"/>
          <p:cNvSpPr/>
          <p:nvPr/>
        </p:nvSpPr>
        <p:spPr>
          <a:xfrm>
            <a:off x="4315968" y="1078992"/>
            <a:ext cx="438912" cy="43891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4315968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85616" y="160934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對齊結構風險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785616" y="2075688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Risk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0" y="2340864"/>
            <a:ext cx="841248" cy="18288"/>
          </a:xfrm>
          <a:prstGeom prst="rect">
            <a:avLst/>
          </a:prstGeom>
          <a:solidFill>
            <a:srgbClr val="DC2626">
              <a:alpha val="4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822192" y="2423160"/>
            <a:ext cx="142646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共創風險 + 採用鏈風險：找出生態系最薄弱的那一環。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30752" y="4443984"/>
            <a:ext cx="1609344" cy="384048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785616" y="444398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案例：Gogoro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95544" y="914400"/>
            <a:ext cx="1609344" cy="39136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95544" y="914400"/>
            <a:ext cx="1609344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Shape 35"/>
          <p:cNvSpPr/>
          <p:nvPr/>
        </p:nvSpPr>
        <p:spPr>
          <a:xfrm>
            <a:off x="6080760" y="1078992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6080760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50408" y="160934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正確賽局判斷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550408" y="2075688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Game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879592" y="2340864"/>
            <a:ext cx="841248" cy="18288"/>
          </a:xfrm>
          <a:prstGeom prst="rect">
            <a:avLst/>
          </a:prstGeom>
          <a:solidFill>
            <a:srgbClr val="D97706">
              <a:alpha val="4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586984" y="2423160"/>
            <a:ext cx="142646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贏錯賽局等於失敗。產業競爭 vs 生態系競爭，柯達的教訓。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95544" y="4443984"/>
            <a:ext cx="1609344" cy="384048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550408" y="444398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案例：Kodak vs iPhone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60336" y="914400"/>
            <a:ext cx="1609344" cy="39136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60336" y="914400"/>
            <a:ext cx="1609344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7" name="Shape 45"/>
          <p:cNvSpPr/>
          <p:nvPr/>
        </p:nvSpPr>
        <p:spPr>
          <a:xfrm>
            <a:off x="7845552" y="1078992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7845552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315200" y="160934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防禦與進攻策略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7315200" y="2075688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&amp; Offense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644384" y="2340864"/>
            <a:ext cx="841248" cy="18288"/>
          </a:xfrm>
          <a:prstGeom prst="rect">
            <a:avLst/>
          </a:prstGeom>
          <a:solidFill>
            <a:srgbClr val="7C3AED">
              <a:alpha val="4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351776" y="2423160"/>
            <a:ext cx="142646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生態系防禦、MVE 判斷、顛覆時機——太早比太晚更危險。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260336" y="4443984"/>
            <a:ext cx="1609344" cy="384048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0" y="444398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案例：Netflix 台灣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292608"/>
            <a:ext cx="1371600" cy="1371600"/>
          </a:xfrm>
          <a:prstGeom prst="ellipse">
            <a:avLst/>
          </a:prstGeom>
          <a:solidFill>
            <a:srgbClr val="2563EB">
              <a:alpha val="7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生態系角色定位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Role Positioning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2563EB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「你是協調者、參與者，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還是顛覆者？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角色決定策略起點。」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《Winning the Right Game》· Ron Adner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0" y="137160"/>
            <a:ext cx="6236208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37160"/>
            <a:ext cx="64008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01168"/>
            <a:ext cx="6016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協調者陷阱（Orchestrator Trap）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512064"/>
            <a:ext cx="6016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主導者並非永遠有利——當生態系被顛覆，協調者往往是最後知道、最難轉身的一個，因為它的利益與現有結構綁得最深。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57800" y="2450592"/>
            <a:ext cx="1280160" cy="1280160"/>
          </a:xfrm>
          <a:prstGeom prst="ellipse">
            <a:avLst/>
          </a:prstGeom>
          <a:solidFill>
            <a:srgbClr val="2563EB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2450592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協調者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3090672"/>
            <a:ext cx="0" cy="0"/>
          </a:xfrm>
          <a:prstGeom prst="line">
            <a:avLst/>
          </a:prstGeom>
          <a:noFill/>
          <a:ln w="19050">
            <a:solidFill>
              <a:srgbClr val="2563EB">
                <a:alpha val="55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495544" y="1417320"/>
            <a:ext cx="804672" cy="457200"/>
          </a:xfrm>
          <a:prstGeom prst="ellipse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95544" y="14173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夥伴 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3090672"/>
            <a:ext cx="1374041" cy="0"/>
          </a:xfrm>
          <a:prstGeom prst="line">
            <a:avLst/>
          </a:prstGeom>
          <a:noFill/>
          <a:ln w="19050">
            <a:solidFill>
              <a:srgbClr val="2563EB">
                <a:alpha val="55000"/>
              </a:srgbClr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869585" y="2415619"/>
            <a:ext cx="804672" cy="457200"/>
          </a:xfrm>
          <a:prstGeom prst="ellipse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69585" y="2415619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夥伴 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97880" y="3090672"/>
            <a:ext cx="849204" cy="1168829"/>
          </a:xfrm>
          <a:prstGeom prst="line">
            <a:avLst/>
          </a:prstGeom>
          <a:noFill/>
          <a:ln w="19050">
            <a:solidFill>
              <a:srgbClr val="2563EB">
                <a:alpha val="55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344748" y="4030901"/>
            <a:ext cx="804672" cy="457200"/>
          </a:xfrm>
          <a:prstGeom prst="ellipse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44748" y="4030901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夥伴 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97880" y="3090672"/>
            <a:ext cx="0" cy="1168829"/>
          </a:xfrm>
          <a:prstGeom prst="line">
            <a:avLst/>
          </a:prstGeom>
          <a:noFill/>
          <a:ln w="19050">
            <a:solidFill>
              <a:srgbClr val="2563EB">
                <a:alpha val="5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646340" y="4030901"/>
            <a:ext cx="804672" cy="457200"/>
          </a:xfrm>
          <a:prstGeom prst="ellipse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46340" y="4030901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夥伴 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97880" y="3090672"/>
            <a:ext cx="0" cy="0"/>
          </a:xfrm>
          <a:prstGeom prst="line">
            <a:avLst/>
          </a:prstGeom>
          <a:noFill/>
          <a:ln w="19050">
            <a:solidFill>
              <a:srgbClr val="2563EB">
                <a:alpha val="55000"/>
              </a:srgbClr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121503" y="2415619"/>
            <a:ext cx="804672" cy="457200"/>
          </a:xfrm>
          <a:prstGeom prst="ellipse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21503" y="2415619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夥伴 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2440" y="2843784"/>
            <a:ext cx="804672" cy="493776"/>
          </a:xfrm>
          <a:prstGeom prst="ellipse">
            <a:avLst/>
          </a:prstGeom>
          <a:solidFill>
            <a:srgbClr val="0D1B2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092440" y="2843784"/>
            <a:ext cx="804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終端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537960" y="3090672"/>
            <a:ext cx="1554480" cy="0"/>
          </a:xfrm>
          <a:prstGeom prst="line">
            <a:avLst/>
          </a:prstGeom>
          <a:noFill/>
          <a:ln w="19050">
            <a:solidFill>
              <a:srgbClr val="0D1B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1508760"/>
            <a:ext cx="1115568" cy="438912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834640" y="1508760"/>
            <a:ext cx="54864" cy="4389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2907792" y="1508760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顛覆者 Disruptor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950208" y="1728216"/>
            <a:ext cx="1289304" cy="1362456"/>
          </a:xfrm>
          <a:prstGeom prst="line">
            <a:avLst/>
          </a:prstGeom>
          <a:noFill/>
          <a:ln w="25400">
            <a:solidFill>
              <a:srgbClr val="DC2626"/>
            </a:solidFill>
            <a:prstDash val="sysDash"/>
          </a:ln>
        </p:spPr>
      </p:sp>
      <p:sp>
        <p:nvSpPr>
          <p:cNvPr id="38" name="Shape 36"/>
          <p:cNvSpPr/>
          <p:nvPr/>
        </p:nvSpPr>
        <p:spPr>
          <a:xfrm>
            <a:off x="5166360" y="2999232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9" name="Shape 37"/>
          <p:cNvSpPr/>
          <p:nvPr/>
        </p:nvSpPr>
        <p:spPr>
          <a:xfrm>
            <a:off x="2788920" y="4251960"/>
            <a:ext cx="5230368" cy="4389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0" name="Text 38"/>
          <p:cNvSpPr/>
          <p:nvPr/>
        </p:nvSpPr>
        <p:spPr>
          <a:xfrm>
            <a:off x="2852928" y="4251960"/>
            <a:ext cx="5138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參與者（Participant）：在協調者定義的生態系中提供關鍵元素，靈活但話語權受限，易被替換。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88920" y="4773168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角色示意圖：生態系協調者、夥伴、顛覆者的關係結構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292608"/>
            <a:ext cx="1371600" cy="1371600"/>
          </a:xfrm>
          <a:prstGeom prst="ellipse">
            <a:avLst/>
          </a:prstGeom>
          <a:solidFill>
            <a:srgbClr val="2563EB">
              <a:alpha val="7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生態系角色定位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2563EB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「LINE 在台灣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扮演哪種角色？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又面臨什麼陷阱？」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《Winning the Right Game》· Ron Adner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24912" y="0"/>
            <a:ext cx="6419088" cy="749808"/>
          </a:xfrm>
          <a:prstGeom prst="rect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24912" y="621792"/>
            <a:ext cx="6419088" cy="128016"/>
          </a:xfrm>
          <a:prstGeom prst="rect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365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DM Mono, Calibri" pitchFamily="34" charset="0"/>
                <a:ea typeface="DM Mono, Calibri" pitchFamily="34" charset="-122"/>
                <a:cs typeface="DM Mono, Calibri" pitchFamily="34" charset="-120"/>
              </a:rPr>
              <a:t>實際案例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320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台灣：2,100 萬用戶的生態系協調者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804672"/>
            <a:ext cx="6236208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822960"/>
            <a:ext cx="608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台灣滲透率超過 90%，從通訊軟體起步，逐步擴張為涵蓋支付、銀行、購物、影音的生活生態系。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90872" y="2359152"/>
            <a:ext cx="1316736" cy="1316736"/>
          </a:xfrm>
          <a:prstGeom prst="ellipse">
            <a:avLst/>
          </a:prstGeom>
          <a:solidFill>
            <a:srgbClr val="06C755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90872" y="2359152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協調者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49240" y="3017520"/>
            <a:ext cx="914400" cy="914400"/>
          </a:xfrm>
          <a:prstGeom prst="line">
            <a:avLst/>
          </a:prstGeom>
          <a:noFill/>
          <a:ln w="19050">
            <a:solidFill>
              <a:srgbClr val="06C755">
                <a:alpha val="60000"/>
              </a:srgbClr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14400" y="914400"/>
            <a:ext cx="1005840" cy="548640"/>
          </a:xfrm>
          <a:prstGeom prst="rect">
            <a:avLst/>
          </a:prstGeom>
          <a:solidFill>
            <a:srgbClr val="00A3E0">
              <a:alpha val="18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914400"/>
            <a:ext cx="1005840" cy="4572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行動支付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3017520"/>
            <a:ext cx="914400" cy="914400"/>
          </a:xfrm>
          <a:prstGeom prst="line">
            <a:avLst/>
          </a:prstGeom>
          <a:noFill/>
          <a:ln w="19050">
            <a:solidFill>
              <a:srgbClr val="06C755">
                <a:alpha val="60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14400" y="914400"/>
            <a:ext cx="1005840" cy="548640"/>
          </a:xfrm>
          <a:prstGeom prst="rect">
            <a:avLst/>
          </a:prstGeom>
          <a:solidFill>
            <a:srgbClr val="005FAD">
              <a:alpha val="18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914400"/>
            <a:ext cx="1005840" cy="45720"/>
          </a:xfrm>
          <a:prstGeom prst="rect">
            <a:avLst/>
          </a:prstGeom>
          <a:solidFill>
            <a:srgbClr val="005FAD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Bank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純網銀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49240" y="3017520"/>
            <a:ext cx="914400" cy="914400"/>
          </a:xfrm>
          <a:prstGeom prst="line">
            <a:avLst/>
          </a:prstGeom>
          <a:noFill/>
          <a:ln w="19050">
            <a:solidFill>
              <a:srgbClr val="06C755">
                <a:alpha val="60000"/>
              </a:srgbClr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14400" y="914400"/>
            <a:ext cx="1005840" cy="548640"/>
          </a:xfrm>
          <a:prstGeom prst="rect">
            <a:avLst/>
          </a:prstGeom>
          <a:solidFill>
            <a:srgbClr val="F47920">
              <a:alpha val="18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914400"/>
            <a:ext cx="1005840" cy="45720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購物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電商平台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49240" y="3017520"/>
            <a:ext cx="914400" cy="914400"/>
          </a:xfrm>
          <a:prstGeom prst="line">
            <a:avLst/>
          </a:prstGeom>
          <a:noFill/>
          <a:ln w="19050">
            <a:solidFill>
              <a:srgbClr val="06C755">
                <a:alpha val="60000"/>
              </a:srgbClr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14400" y="914400"/>
            <a:ext cx="1005840" cy="548640"/>
          </a:xfrm>
          <a:prstGeom prst="rect">
            <a:avLst/>
          </a:prstGeom>
          <a:solidFill>
            <a:srgbClr val="E50914">
              <a:alpha val="18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4400" y="914400"/>
            <a:ext cx="100584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3" name="Text 31"/>
          <p:cNvSpPr/>
          <p:nvPr/>
        </p:nvSpPr>
        <p:spPr>
          <a:xfrm>
            <a:off x="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TV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影音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49240" y="3017520"/>
            <a:ext cx="914400" cy="914400"/>
          </a:xfrm>
          <a:prstGeom prst="line">
            <a:avLst/>
          </a:prstGeom>
          <a:noFill/>
          <a:ln w="19050">
            <a:solidFill>
              <a:srgbClr val="06C755">
                <a:alpha val="60000"/>
              </a:srgbClr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914400" y="914400"/>
            <a:ext cx="1005840" cy="548640"/>
          </a:xfrm>
          <a:prstGeom prst="rect">
            <a:avLst/>
          </a:prstGeom>
          <a:solidFill>
            <a:srgbClr val="5A5A5A">
              <a:alpha val="18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4400" y="914400"/>
            <a:ext cx="1005840" cy="45720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TODAY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新聞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65008" y="2761488"/>
            <a:ext cx="841248" cy="512064"/>
          </a:xfrm>
          <a:prstGeom prst="ellipse">
            <a:avLst/>
          </a:prstGeom>
          <a:solidFill>
            <a:srgbClr val="0D1B2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065008" y="2761488"/>
            <a:ext cx="841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台灣用戶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2,100萬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07608" y="3017520"/>
            <a:ext cx="2057400" cy="0"/>
          </a:xfrm>
          <a:prstGeom prst="line">
            <a:avLst/>
          </a:prstGeom>
          <a:noFill/>
          <a:ln w="19050">
            <a:solidFill>
              <a:srgbClr val="0D1B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0" y="4224528"/>
            <a:ext cx="6236208" cy="658368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0" y="4224528"/>
            <a:ext cx="64008" cy="6583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2852928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協調者陷阱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852928" y="452628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本身也是 Apple / Google 生態系的「參與者」——iOS 與 Android 隨時可調整政策限制 LINE 的功能，LINE 的協調者地位建立在他人的平台之上。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292608"/>
            <a:ext cx="1371600" cy="1371600"/>
          </a:xfrm>
          <a:prstGeom prst="ellipse">
            <a:avLst/>
          </a:prstGeom>
          <a:solidFill>
            <a:srgbClr val="2563EB">
              <a:alpha val="7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生態系角色定位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Case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2563EB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「Spotify 在音樂串流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扮演哪種角色？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又面臨什麼陷阱？」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《Winning the Right Game》· Ron Adner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24912" y="0"/>
            <a:ext cx="6419088" cy="749808"/>
          </a:xfrm>
          <a:prstGeom prst="rect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24912" y="621792"/>
            <a:ext cx="6419088" cy="128016"/>
          </a:xfrm>
          <a:prstGeom prst="rect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365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DM Mono, Calibri" pitchFamily="34" charset="0"/>
                <a:ea typeface="DM Mono, Calibri" pitchFamily="34" charset="-122"/>
                <a:cs typeface="DM Mono, Calibri" pitchFamily="34" charset="-120"/>
              </a:rPr>
              <a:t>實際案例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320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Spotify：7.13 億用戶的音頻生態系協調者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804672"/>
            <a:ext cx="6236208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822960"/>
            <a:ext cx="608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從音樂串流起步，逐步擴張為涵蓋 Podcast、有聲書、AI 個人化推薦的音頻生態系，串連聽眾、創作者與廣告商。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90872" y="2359152"/>
            <a:ext cx="1316736" cy="1316736"/>
          </a:xfrm>
          <a:prstGeom prst="ellipse">
            <a:avLst/>
          </a:prstGeom>
          <a:solidFill>
            <a:srgbClr val="06C755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90872" y="2359152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協調者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49240" y="3017520"/>
            <a:ext cx="914400" cy="914400"/>
          </a:xfrm>
          <a:prstGeom prst="line">
            <a:avLst/>
          </a:prstGeom>
          <a:noFill/>
          <a:ln w="19050">
            <a:solidFill>
              <a:srgbClr val="06C755">
                <a:alpha val="60000"/>
              </a:srgbClr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14400" y="914400"/>
            <a:ext cx="1005840" cy="548640"/>
          </a:xfrm>
          <a:prstGeom prst="rect">
            <a:avLst/>
          </a:prstGeom>
          <a:solidFill>
            <a:srgbClr val="00A3E0">
              <a:alpha val="18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914400"/>
            <a:ext cx="1005840" cy="4572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22" name="Shape 20"/>
          <p:cNvSpPr/>
          <p:nvPr/>
        </p:nvSpPr>
        <p:spPr>
          <a:xfrm>
            <a:off x="5349240" y="3017520"/>
            <a:ext cx="914400" cy="914400"/>
          </a:xfrm>
          <a:prstGeom prst="line">
            <a:avLst/>
          </a:prstGeom>
          <a:noFill/>
          <a:ln w="19050">
            <a:solidFill>
              <a:srgbClr val="06C755">
                <a:alpha val="60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14400" y="914400"/>
            <a:ext cx="1005840" cy="548640"/>
          </a:xfrm>
          <a:prstGeom prst="rect">
            <a:avLst/>
          </a:prstGeom>
          <a:solidFill>
            <a:srgbClr val="005FAD">
              <a:alpha val="18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914400"/>
            <a:ext cx="1005840" cy="45720"/>
          </a:xfrm>
          <a:prstGeom prst="rect">
            <a:avLst/>
          </a:prstGeom>
          <a:solidFill>
            <a:srgbClr val="005FAD"/>
          </a:solidFill>
          <a:ln/>
        </p:spPr>
      </p:sp>
      <p:sp>
        <p:nvSpPr>
          <p:cNvPr id="26" name="Shape 24"/>
          <p:cNvSpPr/>
          <p:nvPr/>
        </p:nvSpPr>
        <p:spPr>
          <a:xfrm>
            <a:off x="5349240" y="3017520"/>
            <a:ext cx="914400" cy="914400"/>
          </a:xfrm>
          <a:prstGeom prst="line">
            <a:avLst/>
          </a:prstGeom>
          <a:noFill/>
          <a:ln w="19050">
            <a:solidFill>
              <a:srgbClr val="06C755">
                <a:alpha val="60000"/>
              </a:srgbClr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14400" y="914400"/>
            <a:ext cx="1005840" cy="548640"/>
          </a:xfrm>
          <a:prstGeom prst="rect">
            <a:avLst/>
          </a:prstGeom>
          <a:solidFill>
            <a:srgbClr val="F47920">
              <a:alpha val="18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914400"/>
            <a:ext cx="1005840" cy="45720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0" name="Shape 28"/>
          <p:cNvSpPr/>
          <p:nvPr/>
        </p:nvSpPr>
        <p:spPr>
          <a:xfrm>
            <a:off x="5349240" y="3017520"/>
            <a:ext cx="914400" cy="914400"/>
          </a:xfrm>
          <a:prstGeom prst="line">
            <a:avLst/>
          </a:prstGeom>
          <a:noFill/>
          <a:ln w="19050">
            <a:solidFill>
              <a:srgbClr val="06C755">
                <a:alpha val="60000"/>
              </a:srgbClr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14400" y="914400"/>
            <a:ext cx="1005840" cy="548640"/>
          </a:xfrm>
          <a:prstGeom prst="rect">
            <a:avLst/>
          </a:prstGeom>
          <a:solidFill>
            <a:srgbClr val="E50914">
              <a:alpha val="18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4400" y="914400"/>
            <a:ext cx="100584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4" name="Shape 32"/>
          <p:cNvSpPr/>
          <p:nvPr/>
        </p:nvSpPr>
        <p:spPr>
          <a:xfrm>
            <a:off x="5349240" y="3017520"/>
            <a:ext cx="914400" cy="914400"/>
          </a:xfrm>
          <a:prstGeom prst="line">
            <a:avLst/>
          </a:prstGeom>
          <a:noFill/>
          <a:ln w="19050">
            <a:solidFill>
              <a:srgbClr val="06C755">
                <a:alpha val="60000"/>
              </a:srgbClr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914400" y="914400"/>
            <a:ext cx="1005840" cy="548640"/>
          </a:xfrm>
          <a:prstGeom prst="rect">
            <a:avLst/>
          </a:prstGeom>
          <a:solidFill>
            <a:srgbClr val="5A5A5A">
              <a:alpha val="18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4400" y="914400"/>
            <a:ext cx="1005840" cy="45720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38" name="Shape 36"/>
          <p:cNvSpPr/>
          <p:nvPr/>
        </p:nvSpPr>
        <p:spPr>
          <a:xfrm>
            <a:off x="8065008" y="2761488"/>
            <a:ext cx="841248" cy="512064"/>
          </a:xfrm>
          <a:prstGeom prst="ellipse">
            <a:avLst/>
          </a:prstGeom>
          <a:solidFill>
            <a:srgbClr val="0D1B2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065008" y="2761488"/>
            <a:ext cx="841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全球用戶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7.13億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07608" y="3017520"/>
            <a:ext cx="2057400" cy="0"/>
          </a:xfrm>
          <a:prstGeom prst="line">
            <a:avLst/>
          </a:prstGeom>
          <a:noFill/>
          <a:ln w="19050">
            <a:solidFill>
              <a:srgbClr val="0D1B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0" y="4224528"/>
            <a:ext cx="6236208" cy="658368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0" y="4224528"/>
            <a:ext cx="64008" cy="6583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2852928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協調者陷阱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852928" y="452628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高度依賴三大唱片公司授權——Universal、Sony、Warner 隨時可調整授權費率，Spotify 的協調者地位建立在他人的內容之上。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78612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1 Answer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R3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solidFill>
            <a:srgbClr val="2563EB">
              <a:alpha val="78000"/>
            </a:srgbClr>
          </a:solidFill>
          <a:ln/>
        </p:spPr>
      </p:sp>
      <p:sp>
        <p:nvSpPr>
          <p:cNvPr id="4" name="FLabel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/>
              </a:rPr>
              <a:t>F1</a:t>
            </a:r>
          </a:p>
        </p:txBody>
      </p:sp>
      <p:sp>
        <p:nvSpPr>
          <p:cNvPr id="5" name="FwName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/>
              </a:rPr>
              <a:t>生態系角色定位</a:t>
            </a:r>
          </a:p>
        </p:txBody>
      </p:sp>
      <p:sp>
        <p:nvSpPr>
          <p:cNvPr id="6" name="AnswerLbl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/>
              </a:rPr>
              <a:t>Answer</a:t>
            </a:r>
          </a:p>
        </p:txBody>
      </p:sp>
      <p:sp>
        <p:nvSpPr>
          <p:cNvPr id="7" name="R7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2563EB">
              <a:alpha val="25000"/>
            </a:srgbClr>
          </a:solidFill>
          <a:ln/>
        </p:spPr>
      </p:sp>
      <p:sp>
        <p:nvSpPr>
          <p:cNvPr id="8" name="QTxt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「LINE 在台灣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扮演哪種角色？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又面臨什麼陷阱？」</a:t>
            </a:r>
          </a:p>
        </p:txBody>
      </p:sp>
      <p:sp>
        <p:nvSpPr>
          <p:cNvPr id="9" name="Cit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/>
              </a:rPr>
              <a:t>《Winning the Right Game》 · Ron Adner</a:t>
            </a:r>
          </a:p>
        </p:txBody>
      </p:sp>
      <p:sp>
        <p:nvSpPr>
          <p:cNvPr id="10" name="R10"/>
          <p:cNvSpPr/>
          <p:nvPr/>
        </p:nvSpPr>
        <p:spPr>
          <a:xfrm>
            <a:off x="2724912" y="0"/>
            <a:ext cx="6419088" cy="749808"/>
          </a:xfrm>
          <a:prstGeom prst="rect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11" name="R11"/>
          <p:cNvSpPr/>
          <p:nvPr/>
        </p:nvSpPr>
        <p:spPr>
          <a:xfrm>
            <a:off x="2724912" y="621792"/>
            <a:ext cx="6419088" cy="128016"/>
          </a:xfrm>
          <a:prstGeom prst="rect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12" name="Tag"/>
          <p:cNvSpPr/>
          <p:nvPr/>
        </p:nvSpPr>
        <p:spPr>
          <a:xfrm>
            <a:off x="2788920" y="36576"/>
            <a:ext cx="11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/>
              </a:rPr>
              <a:t>案例解答</a:t>
            </a:r>
          </a:p>
        </p:txBody>
      </p:sp>
      <p:sp>
        <p:nvSpPr>
          <p:cNvPr id="13" name="MainTitle"/>
          <p:cNvSpPr/>
          <p:nvPr/>
        </p:nvSpPr>
        <p:spPr>
          <a:xfrm>
            <a:off x="2788920" y="320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E"/>
                </a:solidFill>
                <a:latin typeface="Georgia"/>
              </a:rPr>
              <a:t>LINE 台灣：雙重角色分析</a:t>
            </a:r>
          </a:p>
        </p:txBody>
      </p:sp>
      <p:sp>
        <p:nvSpPr>
          <p:cNvPr id="20" name="BG20"/>
          <p:cNvSpPr/>
          <p:nvPr/>
        </p:nvSpPr>
        <p:spPr>
          <a:xfrm>
            <a:off x="2743200" y="804672"/>
            <a:ext cx="3010920" cy="3200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1" name="ACC20"/>
          <p:cNvSpPr/>
          <p:nvPr/>
        </p:nvSpPr>
        <p:spPr>
          <a:xfrm>
            <a:off x="2743200" y="804672"/>
            <a:ext cx="64008" cy="3200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CT20"/>
          <p:cNvSpPr/>
          <p:nvPr/>
        </p:nvSpPr>
        <p:spPr>
          <a:xfrm>
            <a:off x="2843200" y="804672"/>
            <a:ext cx="2910920" cy="32004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Georgia"/>
              </a:rPr>
              <a:t>角色 1：協調者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LINE Pay / Bank / 購物 / TV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台灣滲透率高達 90%，LINE 定義平台規則、控制用戶入口，其他服務（電商、有機商）需透過 LINE 展示給終端用戶。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/>
              </a:rPr>
              <a:t>角色 2：參與者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LINE 同時也是 Apple/Google 的「參與者」——需遵守 App 平台規則，無法自主改變核心功能或支付機制。</a:t>
            </a:r>
          </a:p>
        </p:txBody>
      </p:sp>
      <p:sp>
        <p:nvSpPr>
          <p:cNvPr id="30" name="BG30"/>
          <p:cNvSpPr/>
          <p:nvPr/>
        </p:nvSpPr>
        <p:spPr>
          <a:xfrm>
            <a:off x="5973120" y="804672"/>
            <a:ext cx="3188880" cy="32004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1" name="ACC30"/>
          <p:cNvSpPr/>
          <p:nvPr/>
        </p:nvSpPr>
        <p:spPr>
          <a:xfrm>
            <a:off x="5973120" y="804672"/>
            <a:ext cx="64008" cy="3200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CT30"/>
          <p:cNvSpPr/>
          <p:nvPr/>
        </p:nvSpPr>
        <p:spPr>
          <a:xfrm>
            <a:off x="6073120" y="804672"/>
            <a:ext cx="3088880" cy="32004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Georgia"/>
              </a:rPr>
              <a:t>面臨的協調者陷阱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① 平台層陷阱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iOS/Android 隨時可調整政策（如限制第三方支付），LINE 的協調者地位建立在他人平台之上。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② 母公司組織風險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LINE 控制權在 Naver（韓國），台灣 LINE 局端自主性受限；全球策略調整可能影響本地生態系。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③ 替代者威蒸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WhatsApp / Instagram DM 改變年軽世代溝通習慣，對 LINE 的用戶黾性構成長期挑戰。</a:t>
            </a:r>
          </a:p>
        </p:txBody>
      </p:sp>
      <p:sp>
        <p:nvSpPr>
          <p:cNvPr id="40" name="R40"/>
          <p:cNvSpPr/>
          <p:nvPr/>
        </p:nvSpPr>
        <p:spPr>
          <a:xfrm>
            <a:off x="2743200" y="4224528"/>
            <a:ext cx="6418800" cy="658368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41" name="Insight"/>
          <p:cNvSpPr/>
          <p:nvPr/>
        </p:nvSpPr>
        <p:spPr>
          <a:xfrm>
            <a:off x="2834640" y="4260000"/>
            <a:ext cx="6220800" cy="585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B96A"/>
                </a:solidFill>
                <a:latin typeface="Calibri"/>
              </a:rPr>
              <a:t>💡 Adner 核心洞察：</a:t>
            </a:r>
            <a:r>
              <a:rPr lang="en-US" sz="1000" dirty="0">
                <a:solidFill>
                  <a:srgbClr val="FFFFFF"/>
                </a:solidFill>
                <a:latin typeface="Calibri"/>
              </a:rPr>
              <a:t>協調者并非永遠有利——當生態系被顏覆，協調者往往是最後知道、最難轉身的，因為它的利益與現有結構綁得最深。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292608"/>
            <a:ext cx="1371600" cy="1371600"/>
          </a:xfrm>
          <a:prstGeom prst="ellipse">
            <a:avLst/>
          </a:prstGeom>
          <a:solidFill>
            <a:srgbClr val="059669">
              <a:alpha val="7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價值藍圖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Blueprint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059669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「把價值傳遞給終端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顧客需要哪些元素？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缺一不可。」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《Winning the Right Game》· Ron Adner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0" y="137160"/>
            <a:ext cx="6236208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37160"/>
            <a:ext cx="64008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01168"/>
            <a:ext cx="6016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價值元素 → 價值結構 → 終端顧客採用路徑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502920"/>
            <a:ext cx="6016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艾德納的核心洞察：最終價值由多個元素組合而成，組合方式（結構）決定脆弱點在哪裡。缺少任一元素，顧客就無法感受到完整的價值。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88920" y="1188720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價值藍圖示意：從企業到終端顧客的完整價值流動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88920" y="14630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價值元素（Value Elements）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1682496"/>
            <a:ext cx="1755648" cy="640080"/>
          </a:xfrm>
          <a:prstGeom prst="rect">
            <a:avLst/>
          </a:prstGeom>
          <a:solidFill>
            <a:srgbClr val="059669">
              <a:alpha val="20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34640" y="1682496"/>
            <a:ext cx="1755648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1737360"/>
            <a:ext cx="175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元素 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（企業自有）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90288" y="18470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28032" y="1682496"/>
            <a:ext cx="1755648" cy="64008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28032" y="1682496"/>
            <a:ext cx="175564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4828032" y="1737360"/>
            <a:ext cx="175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元素 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（夥伴提供）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0" y="18470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21424" y="1682496"/>
            <a:ext cx="1755648" cy="640080"/>
          </a:xfrm>
          <a:prstGeom prst="rect">
            <a:avLst/>
          </a:prstGeom>
          <a:solidFill>
            <a:srgbClr val="8B5CF6">
              <a:alpha val="20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21424" y="1682496"/>
            <a:ext cx="1755648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821424" y="1737360"/>
            <a:ext cx="175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元素 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（共創）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34640" y="2615184"/>
            <a:ext cx="5989320" cy="45720"/>
          </a:xfrm>
          <a:prstGeom prst="rect">
            <a:avLst/>
          </a:prstGeom>
          <a:solidFill>
            <a:srgbClr val="059669">
              <a:alpha val="4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788920" y="254203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價值結構（Value Architecture）：元素組合方式 → 決定脆弱點位置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88920" y="288950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採用節點鏈（Adoption Chain）：每個節點都必須通過，任一斷裂即失敗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52928" y="3145536"/>
            <a:ext cx="12070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852928" y="3145536"/>
            <a:ext cx="1207008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2852928" y="320040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059936" y="33649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9669"/>
                </a:solidFill>
              </a:rPr>
              <a:t>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89120" y="3145536"/>
            <a:ext cx="12070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89120" y="3145536"/>
            <a:ext cx="120700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0" y="320040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通路商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389120" y="352958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採用節點①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96128" y="33649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9669"/>
                </a:solidFill>
              </a:rPr>
              <a:t>▶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25312" y="3145536"/>
            <a:ext cx="1207008" cy="658368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25312" y="3145536"/>
            <a:ext cx="1207008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Text 39"/>
          <p:cNvSpPr/>
          <p:nvPr/>
        </p:nvSpPr>
        <p:spPr>
          <a:xfrm>
            <a:off x="5925312" y="320040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零售商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925312" y="352958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採用節點②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最脆弱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32320" y="33649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2626"/>
                </a:solidFill>
              </a:rPr>
              <a:t>▶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61504" y="3145536"/>
            <a:ext cx="12070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61504" y="3145536"/>
            <a:ext cx="1207008" cy="54864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46" name="Text 44"/>
          <p:cNvSpPr/>
          <p:nvPr/>
        </p:nvSpPr>
        <p:spPr>
          <a:xfrm>
            <a:off x="7461504" y="320040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終端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788920" y="4773168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圖：若「零售商」拒絕採用，終端顧客便永遠收不到價值——這正是採用鏈風險的核心。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292608"/>
            <a:ext cx="1371600" cy="1371600"/>
          </a:xfrm>
          <a:prstGeom prst="ellipse">
            <a:avLst/>
          </a:prstGeom>
          <a:solidFill>
            <a:srgbClr val="059669">
              <a:alpha val="7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價值藍圖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059669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「Uber Eats 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價值由誰組成？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哪個節點最脆弱？」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《Winning the Right Game》· Ron Adner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24912" y="0"/>
            <a:ext cx="6419088" cy="749808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24912" y="621792"/>
            <a:ext cx="6419088" cy="128016"/>
          </a:xfrm>
          <a:prstGeom prst="rect">
            <a:avLst/>
          </a:prstGeom>
          <a:solidFill>
            <a:srgbClr val="059669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365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DM Mono, Calibri" pitchFamily="34" charset="0"/>
                <a:ea typeface="DM Mono, Calibri" pitchFamily="34" charset="-122"/>
                <a:cs typeface="DM Mono, Calibri" pitchFamily="34" charset="-120"/>
              </a:rPr>
              <a:t>實際案例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320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台灣：雙邊平台的價值藍圖解析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804672"/>
            <a:ext cx="6236208" cy="53035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822960"/>
            <a:ext cx="6080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Eats 的終端價值是「30 分鐘內吃到想要的餐點」——這個價值不是 Uber Eats 單獨創造的，而是由四個關鍵元素共同組成。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1417320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價值元素 — 四方共創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16352" y="1673352"/>
            <a:ext cx="1389888" cy="960120"/>
          </a:xfrm>
          <a:prstGeom prst="rect">
            <a:avLst/>
          </a:prstGeom>
          <a:solidFill>
            <a:srgbClr val="F47920">
              <a:alpha val="14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16352" y="1673352"/>
            <a:ext cx="1389888" cy="6400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19" name="Text 17"/>
          <p:cNvSpPr/>
          <p:nvPr/>
        </p:nvSpPr>
        <p:spPr>
          <a:xfrm>
            <a:off x="2816352" y="172821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🍱 餐廳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16352" y="208483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食物本身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（最核心元素）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06240" y="2020824"/>
            <a:ext cx="155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+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61688" y="1673352"/>
            <a:ext cx="1389888" cy="960120"/>
          </a:xfrm>
          <a:prstGeom prst="rect">
            <a:avLst/>
          </a:prstGeom>
          <a:solidFill>
            <a:srgbClr val="DC2626">
              <a:alpha val="14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61688" y="1673352"/>
            <a:ext cx="1389888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4361688" y="172821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🛵 外送員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61688" y="208483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最後一哩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（最脆弱元素）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51576" y="2020824"/>
            <a:ext cx="155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07024" y="1673352"/>
            <a:ext cx="1389888" cy="960120"/>
          </a:xfrm>
          <a:prstGeom prst="rect">
            <a:avLst/>
          </a:prstGeom>
          <a:solidFill>
            <a:srgbClr val="059669">
              <a:alpha val="14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07024" y="1673352"/>
            <a:ext cx="1389888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5907024" y="172821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Uber Eats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07024" y="208483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媒合 / UX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演算法推薦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96912" y="2020824"/>
            <a:ext cx="155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52360" y="1673352"/>
            <a:ext cx="1389888" cy="960120"/>
          </a:xfrm>
          <a:prstGeom prst="rect">
            <a:avLst/>
          </a:prstGeom>
          <a:solidFill>
            <a:srgbClr val="7C3AED">
              <a:alpha val="14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52360" y="1673352"/>
            <a:ext cx="1389888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7452360" y="172821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金流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452360" y="208483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Pay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信用卡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88920" y="2606040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採用節點鏈 — 哪個環節最關鍵？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16352" y="2862072"/>
            <a:ext cx="1389888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816352" y="2862072"/>
            <a:ext cx="1389888" cy="64008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39" name="Text 37"/>
          <p:cNvSpPr/>
          <p:nvPr/>
        </p:nvSpPr>
        <p:spPr>
          <a:xfrm>
            <a:off x="2816352" y="29169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餐廳上架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816352" y="324612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需達到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臨界數量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06240" y="3227832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59669"/>
                </a:solidFill>
              </a:rPr>
              <a:t>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361688" y="2862072"/>
            <a:ext cx="1389888" cy="960120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361688" y="2862072"/>
            <a:ext cx="1389888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4361688" y="29169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外送員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361688" y="324612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高流動率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成本最高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51576" y="3227832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</a:rPr>
              <a:t>→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907024" y="2862072"/>
            <a:ext cx="1389888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907024" y="2862072"/>
            <a:ext cx="1389888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5907024" y="29169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下載 App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907024" y="324612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習慣養成後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黏性高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96912" y="3227832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59669"/>
                </a:solidFill>
              </a:rPr>
              <a:t>→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452360" y="2862072"/>
            <a:ext cx="1389888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452360" y="2862072"/>
            <a:ext cx="1389888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7452360" y="29169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下單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452360" y="324612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金流順暢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體驗決定回購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0" y="4224528"/>
            <a:ext cx="6236208" cy="658368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43200" y="4224528"/>
            <a:ext cx="64008" cy="6583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8" name="Text 56"/>
          <p:cNvSpPr/>
          <p:nvPr/>
        </p:nvSpPr>
        <p:spPr>
          <a:xfrm>
            <a:off x="2852928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最脆弱採用節點：外送員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852928" y="452628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外送員流動率高、招募成本大、惡劣天氣即短缺——只要外送員供給不足，餐廳再多、消費者再多，價值鏈仍然斷裂。這是 Uber Eats 補貼大戰的核心原因。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2 Answer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R3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solidFill>
            <a:srgbClr val="059669">
              <a:alpha val="78000"/>
            </a:srgbClr>
          </a:solidFill>
          <a:ln/>
        </p:spPr>
      </p:sp>
      <p:sp>
        <p:nvSpPr>
          <p:cNvPr id="4" name="FLabel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/>
              </a:rPr>
              <a:t>F2</a:t>
            </a:r>
          </a:p>
        </p:txBody>
      </p:sp>
      <p:sp>
        <p:nvSpPr>
          <p:cNvPr id="5" name="FwName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/>
              </a:rPr>
              <a:t>價値藍圖</a:t>
            </a:r>
          </a:p>
        </p:txBody>
      </p:sp>
      <p:sp>
        <p:nvSpPr>
          <p:cNvPr id="6" name="AnswerLbl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/>
              </a:rPr>
              <a:t>Answer</a:t>
            </a:r>
          </a:p>
        </p:txBody>
      </p:sp>
      <p:sp>
        <p:nvSpPr>
          <p:cNvPr id="7" name="R7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059669">
              <a:alpha val="25000"/>
            </a:srgbClr>
          </a:solidFill>
          <a:ln/>
        </p:spPr>
      </p:sp>
      <p:sp>
        <p:nvSpPr>
          <p:cNvPr id="8" name="QTxt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「Uber Eats 的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價値由誰組成？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哪個節點最脆弱？」</a:t>
            </a:r>
          </a:p>
        </p:txBody>
      </p:sp>
      <p:sp>
        <p:nvSpPr>
          <p:cNvPr id="9" name="Cit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/>
              </a:rPr>
              <a:t>《Winning the Right Game》 · Ron Adner</a:t>
            </a:r>
          </a:p>
        </p:txBody>
      </p:sp>
      <p:sp>
        <p:nvSpPr>
          <p:cNvPr id="10" name="R10"/>
          <p:cNvSpPr/>
          <p:nvPr/>
        </p:nvSpPr>
        <p:spPr>
          <a:xfrm>
            <a:off x="2724912" y="0"/>
            <a:ext cx="6419088" cy="749808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</p:sp>
      <p:sp>
        <p:nvSpPr>
          <p:cNvPr id="11" name="R11"/>
          <p:cNvSpPr/>
          <p:nvPr/>
        </p:nvSpPr>
        <p:spPr>
          <a:xfrm>
            <a:off x="2724912" y="621792"/>
            <a:ext cx="6419088" cy="128016"/>
          </a:xfrm>
          <a:prstGeom prst="rect">
            <a:avLst/>
          </a:prstGeom>
          <a:solidFill>
            <a:srgbClr val="059669">
              <a:alpha val="40000"/>
            </a:srgbClr>
          </a:solidFill>
          <a:ln/>
        </p:spPr>
      </p:sp>
      <p:sp>
        <p:nvSpPr>
          <p:cNvPr id="12" name="Tag"/>
          <p:cNvSpPr/>
          <p:nvPr/>
        </p:nvSpPr>
        <p:spPr>
          <a:xfrm>
            <a:off x="2788920" y="36576"/>
            <a:ext cx="11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/>
              </a:rPr>
              <a:t>案例解答</a:t>
            </a:r>
          </a:p>
        </p:txBody>
      </p:sp>
      <p:sp>
        <p:nvSpPr>
          <p:cNvPr id="13" name="MainTitle"/>
          <p:cNvSpPr/>
          <p:nvPr/>
        </p:nvSpPr>
        <p:spPr>
          <a:xfrm>
            <a:off x="2788920" y="320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E"/>
                </a:solidFill>
                <a:latin typeface="Georgia"/>
              </a:rPr>
              <a:t>Uber Eats 台灣：價値藍圖與最脆弱環節</a:t>
            </a:r>
          </a:p>
        </p:txBody>
      </p:sp>
      <p:sp>
        <p:nvSpPr>
          <p:cNvPr id="20" name="BG20"/>
          <p:cNvSpPr/>
          <p:nvPr/>
        </p:nvSpPr>
        <p:spPr>
          <a:xfrm>
            <a:off x="2743200" y="804672"/>
            <a:ext cx="3010920" cy="32004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1" name="ACC20"/>
          <p:cNvSpPr/>
          <p:nvPr/>
        </p:nvSpPr>
        <p:spPr>
          <a:xfrm>
            <a:off x="2743200" y="804672"/>
            <a:ext cx="64008" cy="3200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CT20"/>
          <p:cNvSpPr/>
          <p:nvPr/>
        </p:nvSpPr>
        <p:spPr>
          <a:xfrm>
            <a:off x="2843200" y="804672"/>
            <a:ext cx="2910920" cy="32004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Georgia"/>
              </a:rPr>
              <a:t>價値元素四方共創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🍱 餐廳：食物本身（核心）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餐廳提供無可替代的菜品內容，是整個價値鏈的起點。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🛵 外送員：最後一哩路（最脆弱）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高流動率、招巹成本大、惡就天氣即短缺——最脆弱环節，直接导致價値錢断。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📱 Uber Eats 平台：媒合/UX/演算法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💳 金流：LINE Pay / 信用卡（輔助視角）</a:t>
            </a:r>
          </a:p>
        </p:txBody>
      </p:sp>
      <p:sp>
        <p:nvSpPr>
          <p:cNvPr id="30" name="BG30"/>
          <p:cNvSpPr/>
          <p:nvPr/>
        </p:nvSpPr>
        <p:spPr>
          <a:xfrm>
            <a:off x="5973120" y="804672"/>
            <a:ext cx="3188880" cy="32004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1" name="ACC30"/>
          <p:cNvSpPr/>
          <p:nvPr/>
        </p:nvSpPr>
        <p:spPr>
          <a:xfrm>
            <a:off x="5973120" y="804672"/>
            <a:ext cx="64008" cy="3200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CT30"/>
          <p:cNvSpPr/>
          <p:nvPr/>
        </p:nvSpPr>
        <p:spPr>
          <a:xfrm>
            <a:off x="6073120" y="804672"/>
            <a:ext cx="3088880" cy="32004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Georgia"/>
              </a:rPr>
              <a:t>採用鄰隔總結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① 餐廳上架需達臨界數量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餐廳數量不夠就無流量，藏雞蕊楚首先需大量商家入駐。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② 外送員高流動率就是补貼大戰核心原因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點前大量賀錢吸引外送員，模擬生態系完整性。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③ 消費者轉換成本高（不易失去）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纓了會員、加了 LINE Points，被取代的門檻很高。</a:t>
            </a:r>
          </a:p>
        </p:txBody>
      </p:sp>
      <p:sp>
        <p:nvSpPr>
          <p:cNvPr id="40" name="R40"/>
          <p:cNvSpPr/>
          <p:nvPr/>
        </p:nvSpPr>
        <p:spPr>
          <a:xfrm>
            <a:off x="2743200" y="4224528"/>
            <a:ext cx="6418800" cy="658368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41" name="Insight"/>
          <p:cNvSpPr/>
          <p:nvPr/>
        </p:nvSpPr>
        <p:spPr>
          <a:xfrm>
            <a:off x="2834640" y="4260000"/>
            <a:ext cx="6220800" cy="585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B96A"/>
                </a:solidFill>
                <a:latin typeface="Calibri"/>
              </a:rPr>
              <a:t>💡 Adner 核心洞察：</a:t>
            </a:r>
            <a:r>
              <a:rPr lang="en-US" sz="1000" dirty="0">
                <a:solidFill>
                  <a:srgbClr val="FFFFFF"/>
                </a:solidFill>
                <a:latin typeface="Calibri"/>
              </a:rPr>
              <a:t>最脆弱环節决定了整個生態系能不能交付價値。外送員供給不足，餐廳再多、消費者再多，價値錢仍然斷裂。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2 Answer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R3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solidFill>
            <a:srgbClr val="059669">
              <a:alpha val="78000"/>
            </a:srgbClr>
          </a:solidFill>
          <a:ln/>
        </p:spPr>
      </p:sp>
      <p:sp>
        <p:nvSpPr>
          <p:cNvPr id="4" name="FLabel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/>
              </a:rPr>
              <a:t>F5</a:t>
            </a:r>
          </a:p>
        </p:txBody>
      </p:sp>
      <p:sp>
        <p:nvSpPr>
          <p:cNvPr id="5" name="FwName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/>
              </a:rPr>
              <a:t>平台策略</a:t>
            </a:r>
          </a:p>
        </p:txBody>
      </p:sp>
      <p:sp>
        <p:nvSpPr>
          <p:cNvPr id="6" name="AnswerLbl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/>
              </a:rPr>
              <a:t>Spotify Case</a:t>
            </a:r>
          </a:p>
        </p:txBody>
      </p:sp>
      <p:sp>
        <p:nvSpPr>
          <p:cNvPr id="7" name="R7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059669">
              <a:alpha val="25000"/>
            </a:srgbClr>
          </a:solidFill>
          <a:ln/>
        </p:spPr>
      </p:sp>
      <p:sp>
        <p:nvSpPr>
          <p:cNvPr id="8" name="QTxt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「Spotify 如何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建立多邊平台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的網絡效應？」</a:t>
            </a:r>
          </a:p>
        </p:txBody>
      </p:sp>
      <p:sp>
        <p:nvSpPr>
          <p:cNvPr id="9" name="Cit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/>
              </a:rPr>
              <a:t>《Winning the Right Game》· Ron Adner</a:t>
            </a:r>
          </a:p>
        </p:txBody>
      </p:sp>
      <p:sp>
        <p:nvSpPr>
          <p:cNvPr id="10" name="R10"/>
          <p:cNvSpPr/>
          <p:nvPr/>
        </p:nvSpPr>
        <p:spPr>
          <a:xfrm>
            <a:off x="2724912" y="0"/>
            <a:ext cx="6419088" cy="749808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</p:sp>
      <p:sp>
        <p:nvSpPr>
          <p:cNvPr id="11" name="R11"/>
          <p:cNvSpPr/>
          <p:nvPr/>
        </p:nvSpPr>
        <p:spPr>
          <a:xfrm>
            <a:off x="2724912" y="621792"/>
            <a:ext cx="6419088" cy="128016"/>
          </a:xfrm>
          <a:prstGeom prst="rect">
            <a:avLst/>
          </a:prstGeom>
          <a:solidFill>
            <a:srgbClr val="059669">
              <a:alpha val="40000"/>
            </a:srgbClr>
          </a:solidFill>
          <a:ln/>
        </p:spPr>
      </p:sp>
      <p:sp>
        <p:nvSpPr>
          <p:cNvPr id="12" name="Tag"/>
          <p:cNvSpPr/>
          <p:nvPr/>
        </p:nvSpPr>
        <p:spPr>
          <a:xfrm>
            <a:off x="2788920" y="36576"/>
            <a:ext cx="11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3D9A"/>
                </a:solidFill>
                <a:latin typeface="Calibri"/>
              </a:rPr>
              <a:t>案例解答</a:t>
            </a:r>
          </a:p>
        </p:txBody>
      </p:sp>
      <p:sp>
        <p:nvSpPr>
          <p:cNvPr id="13" name="MainTitle"/>
          <p:cNvSpPr/>
          <p:nvPr/>
        </p:nvSpPr>
        <p:spPr>
          <a:xfrm>
            <a:off x="2788920" y="320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E"/>
                </a:solidFill>
                <a:latin typeface="Georgia"/>
              </a:rPr>
              <a:t>Spotify：Freemium 多邊平台的飛輪效應</a:t>
            </a:r>
          </a:p>
        </p:txBody>
      </p:sp>
      <p:sp>
        <p:nvSpPr>
          <p:cNvPr id="20" name="BG20"/>
          <p:cNvSpPr/>
          <p:nvPr/>
        </p:nvSpPr>
        <p:spPr>
          <a:xfrm>
            <a:off x="2743200" y="804672"/>
            <a:ext cx="3010920" cy="32004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1" name="ACC20"/>
          <p:cNvSpPr/>
          <p:nvPr/>
        </p:nvSpPr>
        <p:spPr>
          <a:xfrm>
            <a:off x="2743200" y="804672"/>
            <a:ext cx="64008" cy="3200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CT20"/>
          <p:cNvSpPr/>
          <p:nvPr/>
        </p:nvSpPr>
        <p:spPr>
          <a:xfrm>
            <a:off x="2843200" y="804672"/>
            <a:ext cx="2910920" cy="32004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A3D9A"/>
                </a:solidFill>
                <a:latin typeface="Georgia"/>
              </a:rPr>
              <a:t>三邊平台飛輪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🎧 聽眾：7.13 億 MAU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/>
              </a:rPr>
              <a:t>免費入門、AI 個人化推薦、Wrapped 社交效應驅動用戶增長。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🎤 創作者：500 萬+活躍創作者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/>
              </a:rPr>
              <a:t>Spotify for Artists 提供數據分析，吸引音樂人與 Podcaster 入駐。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📢 廣告商：Ad Studio 自助投放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/>
              </a:rPr>
              <a:t>精準音頻廣告觸及免費用戶，同時推動 Premium 轉化。</a:t>
            </a:r>
          </a:p>
        </p:txBody>
      </p:sp>
      <p:sp>
        <p:nvSpPr>
          <p:cNvPr id="30" name="BG30"/>
          <p:cNvSpPr/>
          <p:nvPr/>
        </p:nvSpPr>
        <p:spPr>
          <a:xfrm>
            <a:off x="5973120" y="804672"/>
            <a:ext cx="3188880" cy="32004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1" name="ACC30"/>
          <p:cNvSpPr/>
          <p:nvPr/>
        </p:nvSpPr>
        <p:spPr>
          <a:xfrm>
            <a:off x="5973120" y="804672"/>
            <a:ext cx="64008" cy="3200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CT30"/>
          <p:cNvSpPr/>
          <p:nvPr/>
        </p:nvSpPr>
        <p:spPr>
          <a:xfrm>
            <a:off x="6073120" y="804672"/>
            <a:ext cx="3088880" cy="32004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Georgia"/>
              </a:rPr>
              <a:t>平台策略關鍵手段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① Freemium 轉化引擎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/>
              </a:rPr>
              <a:t>免費用戶 → Premium 訂閱，轉化率約 39%，遠高於業界平均。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② AI 個人化護城河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/>
              </a:rPr>
              <a:t>AI DJ、Discover Weekly、Daily Mix——數據飛輪越轉越深，競爭者難以複製。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③ 跨界生態系佈局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/>
              </a:rPr>
              <a:t>進入 ChatGPT、汽車、智慧音箱——讓 Spotify 成為無所不在的音頻入口。</a:t>
            </a:r>
          </a:p>
        </p:txBody>
      </p:sp>
      <p:sp>
        <p:nvSpPr>
          <p:cNvPr id="40" name="R40"/>
          <p:cNvSpPr/>
          <p:nvPr/>
        </p:nvSpPr>
        <p:spPr>
          <a:xfrm>
            <a:off x="2743200" y="4224528"/>
            <a:ext cx="6418800" cy="658368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41" name="Insight"/>
          <p:cNvSpPr/>
          <p:nvPr/>
        </p:nvSpPr>
        <p:spPr>
          <a:xfrm>
            <a:off x="2834640" y="4260000"/>
            <a:ext cx="6220800" cy="585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B96A"/>
                </a:solidFill>
                <a:latin typeface="Calibri"/>
              </a:rPr>
              <a:t>💡 Adner 核心洞察：</a:t>
            </a:r>
            <a:r>
              <a:rPr lang="en-US" sz="1000" dirty="0">
                <a:solidFill>
                  <a:srgbClr val="FFFFFF"/>
                </a:solidFill>
                <a:latin typeface="Calibri"/>
              </a:rPr>
              <a:t>Spotify 的護城河不是內容（唱片公司可授權給所有人），而是數據驅動的個人化體驗——每位用戶的 Spotify 都是獨一無二的，這才是平台策略的終極壁壘。</a:t>
            </a:r>
          </a:p>
        </p:txBody>
      </p:sp>
    </p:spTree>
    <p:extLst>
      <p:ext uri="{BB962C8B-B14F-4D97-AF65-F5344CB8AC3E}">
        <p14:creationId xmlns:p14="http://schemas.microsoft.com/office/powerpoint/2010/main" val="231895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292608"/>
            <a:ext cx="1371600" cy="1371600"/>
          </a:xfrm>
          <a:prstGeom prst="ellipse">
            <a:avLst/>
          </a:prstGeom>
          <a:solidFill>
            <a:srgbClr val="DC2626">
              <a:alpha val="7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對齊結構風險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Structure Risk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DC2626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「誰還沒準備好？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哪個環節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會讓生態系卡住？」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《Winning the Right Game》· Ron Adner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0" y="137160"/>
            <a:ext cx="6236208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37160"/>
            <a:ext cx="64008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01168"/>
            <a:ext cx="6016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兩種關鍵風險：共創風險 × 採用鏈風險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502920"/>
            <a:ext cx="6016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艾德納指出：分析生態系不是找「平均風險」，而是找「最薄弱的那一環」——它的速度決定了整個生態系能走多快。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88920" y="1097280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生態系對齊結構風險示意圖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88920" y="1353312"/>
            <a:ext cx="6172200" cy="1353312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6" name="Text 14"/>
          <p:cNvSpPr/>
          <p:nvPr/>
        </p:nvSpPr>
        <p:spPr>
          <a:xfrm>
            <a:off x="2852928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共創風險（Co-innovation Risk）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52928" y="1645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夥伴層：技術 / 能力尚未就緒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76672" y="1417320"/>
            <a:ext cx="1078992" cy="1097280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76672" y="1417320"/>
            <a:ext cx="107899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376672" y="1463040"/>
            <a:ext cx="10789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夥伴 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就緒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0" y="1417320"/>
            <a:ext cx="1078992" cy="1097280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1417320"/>
            <a:ext cx="1078992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463040"/>
            <a:ext cx="10789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夥伴 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開發中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90688" y="1417320"/>
            <a:ext cx="1078992" cy="1097280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90688" y="1417320"/>
            <a:ext cx="1078992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7790688" y="1463040"/>
            <a:ext cx="10789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夥伴 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尚未就緒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0" y="1664208"/>
            <a:ext cx="914400" cy="694944"/>
          </a:xfrm>
          <a:prstGeom prst="ellipse">
            <a:avLst/>
          </a:prstGeom>
          <a:solidFill>
            <a:srgbClr val="0D1B2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14800" y="1664208"/>
            <a:ext cx="914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18562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88920" y="2816352"/>
            <a:ext cx="6172200" cy="141732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1" name="Text 29"/>
          <p:cNvSpPr/>
          <p:nvPr/>
        </p:nvSpPr>
        <p:spPr>
          <a:xfrm>
            <a:off x="2852928" y="2862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採用鏈風險（Adoption Chain Risk）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52928" y="31181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中介層：中介者必須逐一採用，缺一則斷鏈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880360" y="3438144"/>
            <a:ext cx="1234440" cy="658368"/>
          </a:xfrm>
          <a:prstGeom prst="rect">
            <a:avLst/>
          </a:prstGeom>
          <a:solidFill>
            <a:srgbClr val="0D1B2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880360" y="343814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0" y="36301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43400" y="3438144"/>
            <a:ext cx="1234440" cy="658368"/>
          </a:xfrm>
          <a:prstGeom prst="rect">
            <a:avLst/>
          </a:prstGeom>
          <a:solidFill>
            <a:srgbClr val="D97706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343400" y="343814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77840" y="36301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</a:rPr>
              <a:t>✖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06440" y="3438144"/>
            <a:ext cx="1234440" cy="658368"/>
          </a:xfrm>
          <a:prstGeom prst="rect">
            <a:avLst/>
          </a:prstGeom>
          <a:solidFill>
            <a:srgbClr val="DC2626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806440" y="343814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通路商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猶豫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40880" y="36301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→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69480" y="3438144"/>
            <a:ext cx="1234440" cy="658368"/>
          </a:xfrm>
          <a:prstGeom prst="rect">
            <a:avLst/>
          </a:prstGeom>
          <a:solidFill>
            <a:srgbClr val="9CA3A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269480" y="343814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消費者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未到達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788920" y="4773168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圖：夥伴 B/C 共創風險 + 通路商採用鏈風險——兩者同時存在時，生態系幾乎無法交付完整價值。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292608"/>
            <a:ext cx="1371600" cy="1371600"/>
          </a:xfrm>
          <a:prstGeom prst="ellipse">
            <a:avLst/>
          </a:prstGeom>
          <a:solidFill>
            <a:srgbClr val="DC2626">
              <a:alpha val="7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生態系結構風險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Case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DC2626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「Spotify 生態系中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哪個環節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會讓生態系卡住？」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《Winning the Right Game》· Ron Adner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0" y="137160"/>
            <a:ext cx="6236208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37160"/>
            <a:ext cx="64008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01168"/>
            <a:ext cx="6016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Spotify 的兩種關鍵風險：授權風險 × 創作者採用風險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502920"/>
            <a:ext cx="6016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的價值鏈中，三大唱片公司掌握內容授權（共創風險），而獨立創作者是否願意採用平台決定了內容多元性（採用鏈風險）。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88920" y="1097280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生態系對齊結構風險示意圖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88920" y="1353312"/>
            <a:ext cx="6172200" cy="1353312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6" name="Text 14"/>
          <p:cNvSpPr/>
          <p:nvPr/>
        </p:nvSpPr>
        <p:spPr>
          <a:xfrm>
            <a:off x="2852928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共創風險（Co-innovation Risk）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52928" y="1645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授權層：三大唱片公司掌握定價權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76672" y="1417320"/>
            <a:ext cx="1078992" cy="1097280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76672" y="1417320"/>
            <a:ext cx="107899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376672" y="1463040"/>
            <a:ext cx="10789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已授權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0" y="1417320"/>
            <a:ext cx="1078992" cy="1097280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1417320"/>
            <a:ext cx="1078992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463040"/>
            <a:ext cx="10789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談判中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90688" y="1417320"/>
            <a:ext cx="1078992" cy="1097280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90688" y="1417320"/>
            <a:ext cx="1078992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7790688" y="1463040"/>
            <a:ext cx="10789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費率爭議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0" y="1664208"/>
            <a:ext cx="914400" cy="694944"/>
          </a:xfrm>
          <a:prstGeom prst="ellipse">
            <a:avLst/>
          </a:prstGeom>
          <a:solidFill>
            <a:srgbClr val="0D1B2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14800" y="1664208"/>
            <a:ext cx="914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18562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88920" y="2816352"/>
            <a:ext cx="6172200" cy="141732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1" name="Text 29"/>
          <p:cNvSpPr/>
          <p:nvPr/>
        </p:nvSpPr>
        <p:spPr>
          <a:xfrm>
            <a:off x="2852928" y="2862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採用鏈風險（Adoption Chain Risk）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52928" y="31181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創作者層：獨立音樂人 / Podcaster 必須採用平台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880360" y="3438144"/>
            <a:ext cx="1234440" cy="658368"/>
          </a:xfrm>
          <a:prstGeom prst="rect">
            <a:avLst/>
          </a:prstGeom>
          <a:solidFill>
            <a:srgbClr val="0D1B2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880360" y="343814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唱片公司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0" y="36301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43400" y="3438144"/>
            <a:ext cx="1234440" cy="658368"/>
          </a:xfrm>
          <a:prstGeom prst="rect">
            <a:avLst/>
          </a:prstGeom>
          <a:solidFill>
            <a:srgbClr val="D97706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343400" y="343814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77840" y="36301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</a:rPr>
              <a:t>✖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06440" y="3438144"/>
            <a:ext cx="1234440" cy="658368"/>
          </a:xfrm>
          <a:prstGeom prst="rect">
            <a:avLst/>
          </a:prstGeom>
          <a:solidFill>
            <a:srgbClr val="DC2626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806440" y="343814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創作者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分潤爭議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40880" y="36301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→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69480" y="3438144"/>
            <a:ext cx="1234440" cy="658368"/>
          </a:xfrm>
          <a:prstGeom prst="rect">
            <a:avLst/>
          </a:prstGeom>
          <a:solidFill>
            <a:srgbClr val="9CA3A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269480" y="343814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聽眾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內容受限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788920" y="4773168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圖：唱片公司授權風險 + 創作者採用風險——當授權費率提高且獨立創作者轉向其他平台時，Spotify 的生態系價值被雙重擠壓。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76366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292608"/>
            <a:ext cx="1371600" cy="1371600"/>
          </a:xfrm>
          <a:prstGeom prst="ellipse">
            <a:avLst/>
          </a:prstGeom>
          <a:solidFill>
            <a:srgbClr val="DC2626">
              <a:alpha val="7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對齊結構風險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DC2626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「Gogoro 最大的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風險在哪裡？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先有站還是先有車？」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《Winning the Right Game》· Ron Adner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24912" y="0"/>
            <a:ext cx="6419088" cy="749808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24912" y="621792"/>
            <a:ext cx="6419088" cy="128016"/>
          </a:xfrm>
          <a:prstGeom prst="rect">
            <a:avLst/>
          </a:prstGeom>
          <a:solidFill>
            <a:srgbClr val="DC2626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365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DM Mono, Calibri" pitchFamily="34" charset="0"/>
                <a:ea typeface="DM Mono, Calibri" pitchFamily="34" charset="-122"/>
                <a:cs typeface="DM Mono, Calibri" pitchFamily="34" charset="-120"/>
              </a:rPr>
              <a:t>實際案例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320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Gogoro：電動機車生態系的共創 × 採用鏈雙重風險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804672"/>
            <a:ext cx="6236208" cy="5303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822960"/>
            <a:ext cx="6080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Gogoro 不只賣機車，而是打造「智慧電動機車生態系」——換電站、車廠授權、電池共享、政府補貼，缺一不可。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0" y="1417320"/>
            <a:ext cx="6236208" cy="1353312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7" name="Text 15"/>
          <p:cNvSpPr/>
          <p:nvPr/>
        </p:nvSpPr>
        <p:spPr>
          <a:xfrm>
            <a:off x="2816352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共創風險（Co-innovation Risk）— 誰還沒準備好？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16352" y="1737360"/>
            <a:ext cx="1371600" cy="896112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16352" y="1737360"/>
            <a:ext cx="13716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2816352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換電站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16352" y="211226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Gogoro 自建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已就緒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52544" y="1737360"/>
            <a:ext cx="1371600" cy="896112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52544" y="1737360"/>
            <a:ext cx="13716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352544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電池技術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52544" y="211226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持續改善中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進行中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88736" y="1737360"/>
            <a:ext cx="1371600" cy="896112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88736" y="1737360"/>
            <a:ext cx="13716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5888736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車款授權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合作廠商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88736" y="211226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Yamaha/宏佳騰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部分就緒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24928" y="1737360"/>
            <a:ext cx="1371600" cy="896112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24928" y="1737360"/>
            <a:ext cx="13716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7424928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軟體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雲端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24928" y="211226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PBGN 標準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就緒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0" y="2880360"/>
            <a:ext cx="6236208" cy="126187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5" name="Text 33"/>
          <p:cNvSpPr/>
          <p:nvPr/>
        </p:nvSpPr>
        <p:spPr>
          <a:xfrm>
            <a:off x="2816352" y="29260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採用鏈風險（Adoption Chain Risk）— 雞蛋問題：先有站還是先有車？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16352" y="3218688"/>
            <a:ext cx="13716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816352" y="3218688"/>
            <a:ext cx="13716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2816352" y="32644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政府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補貼政策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816352" y="35753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補貼到位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關鍵推力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87952" y="348386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52544" y="3218688"/>
            <a:ext cx="1371600" cy="804672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352544" y="3218688"/>
            <a:ext cx="13716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4352544" y="32644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密度足夠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352544" y="35753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密度低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消費者不敢買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24144" y="348386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888736" y="3218688"/>
            <a:ext cx="13716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888736" y="3218688"/>
            <a:ext cx="13716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8" name="Text 46"/>
          <p:cNvSpPr/>
          <p:nvPr/>
        </p:nvSpPr>
        <p:spPr>
          <a:xfrm>
            <a:off x="5888736" y="32644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消費者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購車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888736" y="35753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需要站夠密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才願意換牌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60336" y="348386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→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424928" y="3218688"/>
            <a:ext cx="1371600" cy="804672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424928" y="3218688"/>
            <a:ext cx="13716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1"/>
          <p:cNvSpPr/>
          <p:nvPr/>
        </p:nvSpPr>
        <p:spPr>
          <a:xfrm>
            <a:off x="7424928" y="32644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規模後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站才回本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424928" y="35753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雞蛋困境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核心風險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0" y="4224528"/>
            <a:ext cx="6236208" cy="62179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6" name="Shape 54"/>
          <p:cNvSpPr/>
          <p:nvPr/>
        </p:nvSpPr>
        <p:spPr>
          <a:xfrm>
            <a:off x="2743200" y="4224528"/>
            <a:ext cx="64008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7" name="Text 55"/>
          <p:cNvSpPr/>
          <p:nvPr/>
        </p:nvSpPr>
        <p:spPr>
          <a:xfrm>
            <a:off x="2852928" y="4251960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Gogoro 的解法：政府補貼打破雞蛋困境，強制打造 GoStation 密度 → 達到臨界量後，採用鏈才正式啟動。這是艾德納「找最薄弱環節」的教科書案例。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3 Answer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R3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solidFill>
            <a:srgbClr val="D97706">
              <a:alpha val="78000"/>
            </a:srgbClr>
          </a:solidFill>
          <a:ln/>
        </p:spPr>
      </p:sp>
      <p:sp>
        <p:nvSpPr>
          <p:cNvPr id="4" name="FLabel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/>
              </a:rPr>
              <a:t>F3</a:t>
            </a:r>
          </a:p>
        </p:txBody>
      </p:sp>
      <p:sp>
        <p:nvSpPr>
          <p:cNvPr id="5" name="FwName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/>
              </a:rPr>
              <a:t>對齊結構風險</a:t>
            </a:r>
          </a:p>
        </p:txBody>
      </p:sp>
      <p:sp>
        <p:nvSpPr>
          <p:cNvPr id="6" name="AnswerLbl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/>
              </a:rPr>
              <a:t>Answer</a:t>
            </a:r>
          </a:p>
        </p:txBody>
      </p:sp>
      <p:sp>
        <p:nvSpPr>
          <p:cNvPr id="7" name="R7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D97706">
              <a:alpha val="25000"/>
            </a:srgbClr>
          </a:solidFill>
          <a:ln/>
        </p:spPr>
      </p:sp>
      <p:sp>
        <p:nvSpPr>
          <p:cNvPr id="8" name="QTxt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「Gogoro 最大的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風險在哪裡？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先有站還是先有車？」</a:t>
            </a:r>
          </a:p>
        </p:txBody>
      </p:sp>
      <p:sp>
        <p:nvSpPr>
          <p:cNvPr id="9" name="Cit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/>
              </a:rPr>
              <a:t>《Winning the Right Game》 · Ron Adner</a:t>
            </a:r>
          </a:p>
        </p:txBody>
      </p:sp>
      <p:sp>
        <p:nvSpPr>
          <p:cNvPr id="10" name="R10"/>
          <p:cNvSpPr/>
          <p:nvPr/>
        </p:nvSpPr>
        <p:spPr>
          <a:xfrm>
            <a:off x="2724912" y="0"/>
            <a:ext cx="6419088" cy="749808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</p:sp>
      <p:sp>
        <p:nvSpPr>
          <p:cNvPr id="11" name="R11"/>
          <p:cNvSpPr/>
          <p:nvPr/>
        </p:nvSpPr>
        <p:spPr>
          <a:xfrm>
            <a:off x="2724912" y="621792"/>
            <a:ext cx="6419088" cy="128016"/>
          </a:xfrm>
          <a:prstGeom prst="rect">
            <a:avLst/>
          </a:prstGeom>
          <a:solidFill>
            <a:srgbClr val="D97706">
              <a:alpha val="40000"/>
            </a:srgbClr>
          </a:solidFill>
          <a:ln/>
        </p:spPr>
      </p:sp>
      <p:sp>
        <p:nvSpPr>
          <p:cNvPr id="12" name="Tag"/>
          <p:cNvSpPr/>
          <p:nvPr/>
        </p:nvSpPr>
        <p:spPr>
          <a:xfrm>
            <a:off x="2788920" y="36576"/>
            <a:ext cx="11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/>
              </a:rPr>
              <a:t>案例解答</a:t>
            </a:r>
          </a:p>
        </p:txBody>
      </p:sp>
      <p:sp>
        <p:nvSpPr>
          <p:cNvPr id="13" name="MainTitle"/>
          <p:cNvSpPr/>
          <p:nvPr/>
        </p:nvSpPr>
        <p:spPr>
          <a:xfrm>
            <a:off x="2788920" y="320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E"/>
                </a:solidFill>
                <a:latin typeface="Georgia"/>
              </a:rPr>
              <a:t>Gogoro：雞蛋困境與最脆弱環節解答</a:t>
            </a:r>
          </a:p>
        </p:txBody>
      </p:sp>
      <p:sp>
        <p:nvSpPr>
          <p:cNvPr id="20" name="BG20"/>
          <p:cNvSpPr/>
          <p:nvPr/>
        </p:nvSpPr>
        <p:spPr>
          <a:xfrm>
            <a:off x="2743200" y="804672"/>
            <a:ext cx="3010920" cy="3200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ACC20"/>
          <p:cNvSpPr/>
          <p:nvPr/>
        </p:nvSpPr>
        <p:spPr>
          <a:xfrm>
            <a:off x="2743200" y="804672"/>
            <a:ext cx="64008" cy="3200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CT20"/>
          <p:cNvSpPr/>
          <p:nvPr/>
        </p:nvSpPr>
        <p:spPr>
          <a:xfrm>
            <a:off x="2843200" y="804672"/>
            <a:ext cx="2910920" cy="32004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/>
              </a:rPr>
              <a:t>共創風險：議就緒之外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GoStation 換電站 ✔ 已就緒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Gogoro 自建，目前已被視為生態系兰基。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電池技術 ⏳ 持續改善中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密度、生命週期與入境標準仍在演化。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車款授權 ⏳ Yamaha/宏佳騰部分就緒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尚未全面普及，多元車型供給資訊變量仍需時間。</a:t>
            </a:r>
          </a:p>
        </p:txBody>
      </p:sp>
      <p:sp>
        <p:nvSpPr>
          <p:cNvPr id="30" name="BG30"/>
          <p:cNvSpPr/>
          <p:nvPr/>
        </p:nvSpPr>
        <p:spPr>
          <a:xfrm>
            <a:off x="5973120" y="804672"/>
            <a:ext cx="3188880" cy="32004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1" name="ACC30"/>
          <p:cNvSpPr/>
          <p:nvPr/>
        </p:nvSpPr>
        <p:spPr>
          <a:xfrm>
            <a:off x="5973120" y="804672"/>
            <a:ext cx="64008" cy="3200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CT30"/>
          <p:cNvSpPr/>
          <p:nvPr/>
        </p:nvSpPr>
        <p:spPr>
          <a:xfrm>
            <a:off x="6073120" y="804672"/>
            <a:ext cx="3088880" cy="32004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Georgia"/>
              </a:rPr>
              <a:t>雞蛋困境：核心驗證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/>
              </a:rPr>
              <a:t>問題：先有站還是先有車？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少有站 → 消費者不敢買 → 視量小 → 站無法回本 → 建站緩慢…。即典型的雞蛋困境。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Gogoro 的解法：政府補貼打破封鎖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民眾補貼、門購補貼→ 像樣下滞高密度 → 消費者信心建立 → 正式啟動採用鄰。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長期驗證：最脆弱環節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GoStation 密度不夠是整個生態系的兝頀——這是 Adner 「找最脆弱環節」的教科書案例。</a:t>
            </a:r>
          </a:p>
        </p:txBody>
      </p:sp>
      <p:sp>
        <p:nvSpPr>
          <p:cNvPr id="40" name="R40"/>
          <p:cNvSpPr/>
          <p:nvPr/>
        </p:nvSpPr>
        <p:spPr>
          <a:xfrm>
            <a:off x="2743200" y="4224528"/>
            <a:ext cx="6418800" cy="658368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41" name="Insight"/>
          <p:cNvSpPr/>
          <p:nvPr/>
        </p:nvSpPr>
        <p:spPr>
          <a:xfrm>
            <a:off x="2834640" y="4260000"/>
            <a:ext cx="6220800" cy="585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B96A"/>
                </a:solidFill>
                <a:latin typeface="Calibri"/>
              </a:rPr>
              <a:t>💡 Adner 核心洞察：</a:t>
            </a:r>
            <a:r>
              <a:rPr lang="en-US" sz="1000" dirty="0">
                <a:solidFill>
                  <a:srgbClr val="FFFFFF"/>
                </a:solidFill>
                <a:latin typeface="Calibri"/>
              </a:rPr>
              <a:t>生態系的進展速度由「最脆弱的那一環」決定，不是平均結果。Gogoro 透過政府補貼打破雞蛋困境，正是 Adner 建議的「找到長齊那一環」策略。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292608"/>
            <a:ext cx="1371600" cy="1371600"/>
          </a:xfrm>
          <a:prstGeom prst="ellipse">
            <a:avLst/>
          </a:prstGeom>
          <a:solidFill>
            <a:srgbClr val="D97706">
              <a:alpha val="7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F4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正確賽局判斷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the Right Game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D97706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「贏錯賽局，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等於失敗。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柯達的教訓。」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《Winning the Right Game》· Ron Adner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0" y="137160"/>
            <a:ext cx="6236208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37160"/>
            <a:ext cx="64008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01168"/>
            <a:ext cx="6016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你在打什麼賽局？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502920"/>
            <a:ext cx="6016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艾德納最核心的主張：策略必須先問「我在對的賽局中競爭嗎？」——打得再好的傳統策略，若賽局本身已經改變，仍然是輸。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88920" y="1078992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兩種賽局對比：傳統產業競爭 vs 生態系競爭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16352" y="1353312"/>
            <a:ext cx="2834640" cy="3657600"/>
          </a:xfrm>
          <a:prstGeom prst="rect">
            <a:avLst/>
          </a:prstGeom>
          <a:solidFill>
            <a:srgbClr val="FFF1F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16352" y="1353312"/>
            <a:ext cx="283464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0" y="1353312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傳統產業競爭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52928" y="1773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同一賽局內比誰做得更好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2103120"/>
            <a:ext cx="2615184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44368" y="213969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柯達（Kodak）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62656" y="245059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持續優化底片品質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壓低生產成本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在「錯誤賽局」中越做越好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52928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競爭維度：產品品質 × 成本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52928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競爭對象：同業底片廠商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52928" y="3913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忽略的問題：數位生態系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已重新定義「攝影」的意義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50992" y="2770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199632" y="1353312"/>
            <a:ext cx="2834640" cy="3657600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9632" y="1353312"/>
            <a:ext cx="283464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1353312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生態系競爭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36208" y="1773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重新定義賽局規則本身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2103120"/>
            <a:ext cx="2615184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27648" y="213969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iPhone（Apple）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45936" y="245059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重新定義「相機」用途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Store 改變分發生態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終端顧客關係從商家轉向個人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36208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競爭維度：生態系邊界定義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36208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競爭對象：整個舊生態系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3913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關鍵問題：誰掌握終端顧客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的注意力與資料？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88920" y="4773168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圖：柯達在傳統賽局越做越好，卻沒察覺數位影像已重新定義了「攝影生態系」的邊界——這就是贏錯賽局。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292608"/>
            <a:ext cx="1371600" cy="1371600"/>
          </a:xfrm>
          <a:prstGeom prst="ellipse">
            <a:avLst/>
          </a:prstGeom>
          <a:solidFill>
            <a:srgbClr val="D97706">
              <a:alpha val="7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F4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正確賽局判斷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D97706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「2012 年，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兩件事同時發生。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你看到了什麼？」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《Winning the Right Game》· Ron Adner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24912" y="0"/>
            <a:ext cx="6419088" cy="749808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24912" y="621792"/>
            <a:ext cx="6419088" cy="128016"/>
          </a:xfrm>
          <a:prstGeom prst="rect">
            <a:avLst/>
          </a:prstGeom>
          <a:solidFill>
            <a:srgbClr val="D97706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365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DM Mono, Calibri" pitchFamily="34" charset="0"/>
                <a:ea typeface="DM Mono, Calibri" pitchFamily="34" charset="-122"/>
                <a:cs typeface="DM Mono, Calibri" pitchFamily="34" charset="-120"/>
              </a:rPr>
              <a:t>實際案例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320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Kodak 申請破產 × Instagram 被收購：同年的兩個生態系命運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804672"/>
            <a:ext cx="6236208" cy="53035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822960"/>
            <a:ext cx="6080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年 1 月，柯達申請破產保護；同年 4 月，Instagram 被 Facebook 以 10 億美元收購（成立僅 18 個月）。這不是巧合，而是兩種賽局的必然結局。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1417320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歷史時間軸：攝影賽局的轉變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2011680"/>
            <a:ext cx="608076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07208" y="1929384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Shape 17"/>
          <p:cNvSpPr/>
          <p:nvPr/>
        </p:nvSpPr>
        <p:spPr>
          <a:xfrm>
            <a:off x="2889504" y="1691640"/>
            <a:ext cx="0" cy="256032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258568" y="758952"/>
            <a:ext cx="1298448" cy="932688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58568" y="758952"/>
            <a:ext cx="1298448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2258568" y="75895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58568" y="101498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柯達市值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280億美元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全球底片龍頭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15968" y="1929384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4398264" y="1691640"/>
            <a:ext cx="0" cy="256032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767328" y="758952"/>
            <a:ext cx="1298448" cy="932688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67328" y="758952"/>
            <a:ext cx="1298448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3767328" y="75895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67328" y="101498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發布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攝影生態系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開始重組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79008" y="1929384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Shape 29"/>
          <p:cNvSpPr/>
          <p:nvPr/>
        </p:nvSpPr>
        <p:spPr>
          <a:xfrm>
            <a:off x="5861304" y="1691640"/>
            <a:ext cx="0" cy="256032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230368" y="758952"/>
            <a:ext cx="1298448" cy="932688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30368" y="758952"/>
            <a:ext cx="129844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5230368" y="75895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30368" y="101498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創立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1億用戶爆炸性成長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16368" y="1929384"/>
            <a:ext cx="164592" cy="164592"/>
          </a:xfrm>
          <a:prstGeom prst="ellipse">
            <a:avLst/>
          </a:prstGeom>
          <a:solidFill>
            <a:srgbClr val="0D1B2E"/>
          </a:solidFill>
          <a:ln/>
        </p:spPr>
      </p:sp>
      <p:sp>
        <p:nvSpPr>
          <p:cNvPr id="37" name="Shape 35"/>
          <p:cNvSpPr/>
          <p:nvPr/>
        </p:nvSpPr>
        <p:spPr>
          <a:xfrm>
            <a:off x="7598664" y="1691640"/>
            <a:ext cx="0" cy="256032"/>
          </a:xfrm>
          <a:prstGeom prst="line">
            <a:avLst/>
          </a:prstGeom>
          <a:noFill/>
          <a:ln w="19050">
            <a:solidFill>
              <a:srgbClr val="0D1B2E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967728" y="758952"/>
            <a:ext cx="1298448" cy="932688"/>
          </a:xfrm>
          <a:prstGeom prst="rect">
            <a:avLst/>
          </a:prstGeom>
          <a:solidFill>
            <a:srgbClr val="0D1B2E">
              <a:alpha val="12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67728" y="758952"/>
            <a:ext cx="1298448" cy="4572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40" name="Text 38"/>
          <p:cNvSpPr/>
          <p:nvPr/>
        </p:nvSpPr>
        <p:spPr>
          <a:xfrm>
            <a:off x="6967728" y="75895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67728" y="101498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柯達破產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10億美元被收購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88920" y="2816352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兩種賽局的最終結局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88920" y="3072384"/>
            <a:ext cx="2944368" cy="1719072"/>
          </a:xfrm>
          <a:prstGeom prst="rect">
            <a:avLst/>
          </a:prstGeom>
          <a:solidFill>
            <a:srgbClr val="FFF1F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88920" y="3072384"/>
            <a:ext cx="2944368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2816352" y="3072384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📷 Kodak  ×  傳統產業賽局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834640" y="3438144"/>
            <a:ext cx="2834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1997 年市值：280 億美元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2012 年市值：幾近歸零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競爭邏輯：底片品質 vs 底片品質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忽視：數位影像重新定義攝影賽局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35040" y="3072384"/>
            <a:ext cx="2944368" cy="1719072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035040" y="3072384"/>
            <a:ext cx="2944368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6062472" y="3072384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📸 Instagram ×  生態系新賽局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80760" y="3438144"/>
            <a:ext cx="2834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2010 年成立，18 個月達 1 億用戶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2012 年：10 億美元被 FB 收購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競爭邏輯：社群分享 × 情感連結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賽局定義：攝影 = 社交貨幣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88920" y="4617720"/>
            <a:ext cx="6236208" cy="420624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2" name="Text 50"/>
          <p:cNvSpPr/>
          <p:nvPr/>
        </p:nvSpPr>
        <p:spPr>
          <a:xfrm>
            <a:off x="2834640" y="4617720"/>
            <a:ext cx="6144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艾德納的核心問題：「柯達輸了嗎？」——不，柯達在底片賽局中贏了。它輸在沒有意識到，「攝影」的意義已被數位社群生態系徹底重新定義。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292608"/>
            <a:ext cx="1371600" cy="1371600"/>
          </a:xfrm>
          <a:prstGeom prst="ellipse">
            <a:avLst/>
          </a:prstGeom>
          <a:solidFill>
            <a:srgbClr val="D97706">
              <a:alpha val="7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賽局轉變分析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Case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D97706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「音樂產業的賽局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如何被串流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徹底重新定義？」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《Winning the Right Game》· Ron Adner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24912" y="0"/>
            <a:ext cx="6419088" cy="749808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24912" y="621792"/>
            <a:ext cx="6419088" cy="128016"/>
          </a:xfrm>
          <a:prstGeom prst="rect">
            <a:avLst/>
          </a:prstGeom>
          <a:solidFill>
            <a:srgbClr val="D97706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365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DM Mono, Calibri" pitchFamily="34" charset="0"/>
                <a:ea typeface="DM Mono, Calibri" pitchFamily="34" charset="-122"/>
                <a:cs typeface="DM Mono, Calibri" pitchFamily="34" charset="-120"/>
              </a:rPr>
              <a:t>實際案例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320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iTunes 巔峰 × Spotify 崛起：音樂賽局的兩種命運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804672"/>
            <a:ext cx="6236208" cy="53035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822960"/>
            <a:ext cx="6080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年 Spotify 上線時，iTunes 主導數位音樂銷售；2024 年串流佔全球音樂收入 67%，而數位下載僅剩 3%。這是賽局轉變的經典案例。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2672080"/>
            <a:ext cx="608076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07208" y="2589784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Shape 17"/>
          <p:cNvSpPr/>
          <p:nvPr/>
        </p:nvSpPr>
        <p:spPr>
          <a:xfrm>
            <a:off x="2889504" y="2352040"/>
            <a:ext cx="0" cy="256032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258568" y="1419352"/>
            <a:ext cx="1298448" cy="932688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58568" y="1419352"/>
            <a:ext cx="1298448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2258568" y="141935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58568" y="167538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iTunes Store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單曲下載 $0.99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顛覆 CD 銷售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15968" y="2589784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4398264" y="2352040"/>
            <a:ext cx="0" cy="256032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767328" y="1419352"/>
            <a:ext cx="1298448" cy="932688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67328" y="1419352"/>
            <a:ext cx="1298448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3767328" y="141935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67328" y="167538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上線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免費串流模式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挑戰付費下載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79008" y="2589784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Shape 29"/>
          <p:cNvSpPr/>
          <p:nvPr/>
        </p:nvSpPr>
        <p:spPr>
          <a:xfrm>
            <a:off x="5861304" y="2352040"/>
            <a:ext cx="0" cy="256032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230368" y="1419352"/>
            <a:ext cx="1298448" cy="932688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30368" y="1419352"/>
            <a:ext cx="129844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5230368" y="141935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30368" y="167538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串流超越下載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7,500萬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免費用戶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16368" y="2589784"/>
            <a:ext cx="164592" cy="164592"/>
          </a:xfrm>
          <a:prstGeom prst="ellipse">
            <a:avLst/>
          </a:prstGeom>
          <a:solidFill>
            <a:srgbClr val="0D1B2E"/>
          </a:solidFill>
          <a:ln/>
        </p:spPr>
      </p:sp>
      <p:sp>
        <p:nvSpPr>
          <p:cNvPr id="37" name="Shape 35"/>
          <p:cNvSpPr/>
          <p:nvPr/>
        </p:nvSpPr>
        <p:spPr>
          <a:xfrm>
            <a:off x="7598664" y="2352040"/>
            <a:ext cx="0" cy="256032"/>
          </a:xfrm>
          <a:prstGeom prst="line">
            <a:avLst/>
          </a:prstGeom>
          <a:noFill/>
          <a:ln w="19050">
            <a:solidFill>
              <a:srgbClr val="0D1B2E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967728" y="1419352"/>
            <a:ext cx="1298448" cy="932688"/>
          </a:xfrm>
          <a:prstGeom prst="rect">
            <a:avLst/>
          </a:prstGeom>
          <a:solidFill>
            <a:srgbClr val="0D1B2E">
              <a:alpha val="12000"/>
            </a:srgbClr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67728" y="1419352"/>
            <a:ext cx="1298448" cy="4572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40" name="Text 38"/>
          <p:cNvSpPr/>
          <p:nvPr/>
        </p:nvSpPr>
        <p:spPr>
          <a:xfrm>
            <a:off x="6967728" y="141935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67728" y="167538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7.13 億 MAU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2.81 億付費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音頻生態系平台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88920" y="3286252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兩種賽局的最終結局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88920" y="3542284"/>
            <a:ext cx="2944368" cy="1719072"/>
          </a:xfrm>
          <a:prstGeom prst="rect">
            <a:avLst/>
          </a:prstGeom>
          <a:solidFill>
            <a:srgbClr val="FFF1F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88920" y="3542284"/>
            <a:ext cx="2944368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2816352" y="3542284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iTunes × 付費下載賽局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834640" y="3908044"/>
            <a:ext cx="2834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2003 年顛覆 CD，單曲 $0.99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2019 年 iTunes 正式關閉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競爭邏輯：擁有 vs 擁有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忽視：串流重新定義音樂消費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35040" y="3542284"/>
            <a:ext cx="2944368" cy="1719072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035040" y="3542284"/>
            <a:ext cx="2944368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6062472" y="3542284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Spotify × 串流生態系賽局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80760" y="3908044"/>
            <a:ext cx="2834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2008 年創立，Freemium 模式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2025 年：7.13 億用戶，全球第一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競爭邏輯：體驗 × 個人化 × 生態系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賽局定義：音樂 = 情境陪伴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88920" y="5087620"/>
            <a:ext cx="6236208" cy="420624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2" name="Text 50"/>
          <p:cNvSpPr/>
          <p:nvPr/>
        </p:nvSpPr>
        <p:spPr>
          <a:xfrm>
            <a:off x="2834640" y="5087620"/>
            <a:ext cx="6144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艾德納的核心問題：「iTunes 輸了嗎？」——不，iTunes 在數位下載賽局中贏了。它輸在沒有意識到，「聽音樂」的意義已被串流生態系徹底重新定義。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42696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4 Answer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R3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solidFill>
            <a:srgbClr val="7C3AED">
              <a:alpha val="78000"/>
            </a:srgbClr>
          </a:solidFill>
          <a:ln/>
        </p:spPr>
      </p:sp>
      <p:sp>
        <p:nvSpPr>
          <p:cNvPr id="4" name="FLabel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/>
              </a:rPr>
              <a:t>F4</a:t>
            </a:r>
          </a:p>
        </p:txBody>
      </p:sp>
      <p:sp>
        <p:nvSpPr>
          <p:cNvPr id="5" name="FwName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/>
              </a:rPr>
              <a:t>正確賽局判斷</a:t>
            </a:r>
          </a:p>
        </p:txBody>
      </p:sp>
      <p:sp>
        <p:nvSpPr>
          <p:cNvPr id="6" name="AnswerLbl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/>
              </a:rPr>
              <a:t>Answer</a:t>
            </a:r>
          </a:p>
        </p:txBody>
      </p:sp>
      <p:sp>
        <p:nvSpPr>
          <p:cNvPr id="7" name="R7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8" name="QTxt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「2012 年，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兩件事同時發生。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你看到了什麼？」</a:t>
            </a:r>
          </a:p>
        </p:txBody>
      </p:sp>
      <p:sp>
        <p:nvSpPr>
          <p:cNvPr id="9" name="Cit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/>
              </a:rPr>
              <a:t>《Winning the Right Game》 · Ron Adner</a:t>
            </a:r>
          </a:p>
        </p:txBody>
      </p:sp>
      <p:sp>
        <p:nvSpPr>
          <p:cNvPr id="10" name="R10"/>
          <p:cNvSpPr/>
          <p:nvPr/>
        </p:nvSpPr>
        <p:spPr>
          <a:xfrm>
            <a:off x="2724912" y="0"/>
            <a:ext cx="6419088" cy="749808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11" name="R11"/>
          <p:cNvSpPr/>
          <p:nvPr/>
        </p:nvSpPr>
        <p:spPr>
          <a:xfrm>
            <a:off x="2724912" y="621792"/>
            <a:ext cx="6419088" cy="128016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2" name="Tag"/>
          <p:cNvSpPr/>
          <p:nvPr/>
        </p:nvSpPr>
        <p:spPr>
          <a:xfrm>
            <a:off x="2788920" y="36576"/>
            <a:ext cx="11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/>
              </a:rPr>
              <a:t>案例解答</a:t>
            </a:r>
          </a:p>
        </p:txBody>
      </p:sp>
      <p:sp>
        <p:nvSpPr>
          <p:cNvPr id="13" name="MainTitle"/>
          <p:cNvSpPr/>
          <p:nvPr/>
        </p:nvSpPr>
        <p:spPr>
          <a:xfrm>
            <a:off x="2788920" y="320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E"/>
                </a:solidFill>
                <a:latin typeface="Georgia"/>
              </a:rPr>
              <a:t>2012 年的兩個單子：柯達與 Instagram 的賽局跨越</a:t>
            </a:r>
          </a:p>
        </p:txBody>
      </p:sp>
      <p:sp>
        <p:nvSpPr>
          <p:cNvPr id="20" name="BG20"/>
          <p:cNvSpPr/>
          <p:nvPr/>
        </p:nvSpPr>
        <p:spPr>
          <a:xfrm>
            <a:off x="2743200" y="804672"/>
            <a:ext cx="3010920" cy="32004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1" name="ACC20"/>
          <p:cNvSpPr/>
          <p:nvPr/>
        </p:nvSpPr>
        <p:spPr>
          <a:xfrm>
            <a:off x="2743200" y="804672"/>
            <a:ext cx="64008" cy="3200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CT20"/>
          <p:cNvSpPr/>
          <p:nvPr/>
        </p:nvSpPr>
        <p:spPr>
          <a:xfrm>
            <a:off x="2843200" y="804672"/>
            <a:ext cx="2910920" cy="32004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Georgia"/>
              </a:rPr>
              <a:t>柯達：贏定影片賽局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賽局選擇：傳統產業競爭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不斷優化底片品質、壓低生產成本，在「错誤賽局」中越做越好。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1997 年：市値 280 億美元（全球底片龍頭）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2012 年：申請破產保護（市値幾近歸零）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它贏了底片賽局，卻沒發現「攝影」的意義已被重新定義。</a:t>
            </a:r>
          </a:p>
        </p:txBody>
      </p:sp>
      <p:sp>
        <p:nvSpPr>
          <p:cNvPr id="30" name="BG30"/>
          <p:cNvSpPr/>
          <p:nvPr/>
        </p:nvSpPr>
        <p:spPr>
          <a:xfrm>
            <a:off x="5973120" y="804672"/>
            <a:ext cx="3188880" cy="32004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1" name="ACC30"/>
          <p:cNvSpPr/>
          <p:nvPr/>
        </p:nvSpPr>
        <p:spPr>
          <a:xfrm>
            <a:off x="5973120" y="804672"/>
            <a:ext cx="64008" cy="3200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CT30"/>
          <p:cNvSpPr/>
          <p:nvPr/>
        </p:nvSpPr>
        <p:spPr>
          <a:xfrm>
            <a:off x="6073120" y="804672"/>
            <a:ext cx="3088880" cy="32004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Georgia"/>
              </a:rPr>
              <a:t>Instagram：贏定新賽局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賽局選擇：生態系新賽局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重新定義「攝影」= 社交貨幣 + 情感連結。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2010 年成立，18 個月達 1 億用戶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2012 年：10 億美元被 Facebook 收購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賽局定義：誰控制終端顧客的注意力與資料？新賽局的圖式誰先掉出議題就贏。</a:t>
            </a:r>
          </a:p>
        </p:txBody>
      </p:sp>
      <p:sp>
        <p:nvSpPr>
          <p:cNvPr id="40" name="R40"/>
          <p:cNvSpPr/>
          <p:nvPr/>
        </p:nvSpPr>
        <p:spPr>
          <a:xfrm>
            <a:off x="2743200" y="4224528"/>
            <a:ext cx="6418800" cy="658368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41" name="Insight"/>
          <p:cNvSpPr/>
          <p:nvPr/>
        </p:nvSpPr>
        <p:spPr>
          <a:xfrm>
            <a:off x="2834640" y="4260000"/>
            <a:ext cx="6220800" cy="585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B96A"/>
                </a:solidFill>
                <a:latin typeface="Calibri"/>
              </a:rPr>
              <a:t>💡 Adner 核心洞察：</a:t>
            </a:r>
            <a:r>
              <a:rPr lang="en-US" sz="1000" dirty="0">
                <a:solidFill>
                  <a:srgbClr val="FFFFFF"/>
                </a:solidFill>
                <a:latin typeface="Calibri"/>
              </a:rPr>
              <a:t>柯達輸了吗？不，柯達在底片賽局中贏了。它輸在沒有意識到「攝影」的意義已被數位社群生態系徹底重新定義〔贏错賽局〕。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292608"/>
            <a:ext cx="1371600" cy="1371600"/>
          </a:xfrm>
          <a:prstGeom prst="ellipse">
            <a:avLst/>
          </a:prstGeom>
          <a:solidFill>
            <a:srgbClr val="7C3AED">
              <a:alpha val="7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F5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防禦與進攻策略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&amp; Offense Strategy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「太早進攻，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往往比太晚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更危險。」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《Winning the Right Game》· Ron Adner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0" y="137160"/>
            <a:ext cx="6236208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37160"/>
            <a:ext cx="64008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01168"/>
            <a:ext cx="6016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MVE 判斷 × 顛覆時機的反直覺洞察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502920"/>
            <a:ext cx="6016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艾德納的核心警示：太早進攻時，先行者承擔所有教育市場的成本，卻讓晚進者收割成果。進攻前需確認 MVE（最小可行生態系）條件已達到。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88920" y="1170432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進攻時機示意圖：MVE 閾值 × 成功機率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16352" y="1444752"/>
            <a:ext cx="1645920" cy="2304288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6" name="Shape 14"/>
          <p:cNvSpPr/>
          <p:nvPr/>
        </p:nvSpPr>
        <p:spPr>
          <a:xfrm>
            <a:off x="2816352" y="1444752"/>
            <a:ext cx="1645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2816352" y="14996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太早進攻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16352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高風險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07792" y="213055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承擔市場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教育成本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62272" y="1444752"/>
            <a:ext cx="1920240" cy="2304288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21" name="Shape 19"/>
          <p:cNvSpPr/>
          <p:nvPr/>
        </p:nvSpPr>
        <p:spPr>
          <a:xfrm>
            <a:off x="4462272" y="1444752"/>
            <a:ext cx="19202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462272" y="14996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最佳時機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62272" y="1828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最佳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53712" y="21305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MVE 達到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生態系成熟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82512" y="1444752"/>
            <a:ext cx="2651760" cy="2304288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26" name="Shape 24"/>
          <p:cNvSpPr/>
          <p:nvPr/>
        </p:nvSpPr>
        <p:spPr>
          <a:xfrm>
            <a:off x="6382512" y="1444752"/>
            <a:ext cx="26517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6382512" y="14996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太晚進攻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8251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中等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73952" y="21305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後進者代價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競爭者已鎖定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16352" y="3749040"/>
            <a:ext cx="62179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16352" y="378561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生態系成熟度  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62272" y="1444752"/>
            <a:ext cx="0" cy="2304288"/>
          </a:xfrm>
          <a:prstGeom prst="line">
            <a:avLst/>
          </a:prstGeom>
          <a:noFill/>
          <a:ln w="31750">
            <a:solidFill>
              <a:srgbClr val="059669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050792" y="1481328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閾值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52928" y="2587752"/>
            <a:ext cx="411480" cy="146304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64408" y="2432304"/>
            <a:ext cx="411480" cy="146304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75888" y="2286000"/>
            <a:ext cx="411480" cy="146304"/>
          </a:xfrm>
          <a:prstGeom prst="ellipse">
            <a:avLst/>
          </a:prstGeom>
          <a:solidFill>
            <a:srgbClr val="7C3AED">
              <a:alpha val="5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087368" y="2157984"/>
            <a:ext cx="411480" cy="146304"/>
          </a:xfrm>
          <a:prstGeom prst="ellipse">
            <a:avLst/>
          </a:prstGeom>
          <a:solidFill>
            <a:srgbClr val="7C3AED">
              <a:alpha val="6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62272" y="1856232"/>
            <a:ext cx="502920" cy="146304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65192" y="1828800"/>
            <a:ext cx="502920" cy="146304"/>
          </a:xfrm>
          <a:prstGeom prst="ellipse">
            <a:avLst/>
          </a:prstGeom>
          <a:solidFill>
            <a:srgbClr val="7C3AED">
              <a:alpha val="9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68112" y="1856232"/>
            <a:ext cx="502920" cy="146304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71032" y="1975104"/>
            <a:ext cx="502920" cy="146304"/>
          </a:xfrm>
          <a:prstGeom prst="ellipse">
            <a:avLst/>
          </a:prstGeom>
          <a:solidFill>
            <a:srgbClr val="7C3AED">
              <a:alpha val="7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73952" y="2130552"/>
            <a:ext cx="475488" cy="146304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49440" y="2313432"/>
            <a:ext cx="475488" cy="146304"/>
          </a:xfrm>
          <a:prstGeom prst="ellipse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424928" y="2523744"/>
            <a:ext cx="475488" cy="146304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900416" y="2706624"/>
            <a:ext cx="256032" cy="146304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816352" y="4151376"/>
            <a:ext cx="6217920" cy="777240"/>
          </a:xfrm>
          <a:prstGeom prst="rect">
            <a:avLst/>
          </a:prstGeom>
          <a:solidFill>
            <a:srgbClr val="EDE9F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816352" y="4151376"/>
            <a:ext cx="64008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292608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  生態系防禦策略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926080" y="446227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強化夥伴與顧客的對齊黏性，提高競爭生態系「挖角」的切換成本。防禦不是被動等待，而是主動深化對齊結構。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788920" y="4773168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圖：S 型成功機率曲線在 MVE 閾值後急升——最佳進攻視窗窄，必須精準判斷時機。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292608"/>
            <a:ext cx="1371600" cy="1371600"/>
          </a:xfrm>
          <a:prstGeom prst="ellipse">
            <a:avLst/>
          </a:prstGeom>
          <a:solidFill>
            <a:srgbClr val="7C3AED">
              <a:alpha val="7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F5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防禦與進攻策略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「Netflix 為何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才進台灣？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不是不能，是不該。」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《Winning the Right Game》· Ron Adner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24912" y="0"/>
            <a:ext cx="6419088" cy="749808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24912" y="621792"/>
            <a:ext cx="6419088" cy="128016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365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DM Mono, Calibri" pitchFamily="34" charset="0"/>
                <a:ea typeface="DM Mono, Calibri" pitchFamily="34" charset="-122"/>
                <a:cs typeface="DM Mono, Calibri" pitchFamily="34" charset="-120"/>
              </a:rPr>
              <a:t>實際案例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320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Netflix 台灣：MVE 條件達到才是進攻的正確時機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804672"/>
            <a:ext cx="6236208" cy="53035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822960"/>
            <a:ext cx="6080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2016 年正式進入台灣，不是技術不夠，而是等待生態系成熟——網速、裝置、金流、內容版權四個 MVE 條件同時到位後才進攻。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1417320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MVE（最小可行生態系）條件評估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1673352"/>
            <a:ext cx="141732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88920" y="1673352"/>
            <a:ext cx="1417320" cy="329184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2788920" y="16733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網路頻寬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88920" y="2002536"/>
            <a:ext cx="1417320" cy="2194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2788920" y="20025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年進入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843784" y="2240280"/>
            <a:ext cx="1307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3G 為主，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串流品質差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88920" y="2862072"/>
            <a:ext cx="1417320" cy="21945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4" name="Text 22"/>
          <p:cNvSpPr/>
          <p:nvPr/>
        </p:nvSpPr>
        <p:spPr>
          <a:xfrm>
            <a:off x="2788920" y="28620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年進入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843784" y="3099816"/>
            <a:ext cx="13075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4G 全台普及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串流穩定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34256" y="1673352"/>
            <a:ext cx="141732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34256" y="1673352"/>
            <a:ext cx="1417320" cy="329184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28" name="Text 26"/>
          <p:cNvSpPr/>
          <p:nvPr/>
        </p:nvSpPr>
        <p:spPr>
          <a:xfrm>
            <a:off x="4334256" y="16733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智慧裝置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34256" y="2002536"/>
            <a:ext cx="1417320" cy="2194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0" name="Text 28"/>
          <p:cNvSpPr/>
          <p:nvPr/>
        </p:nvSpPr>
        <p:spPr>
          <a:xfrm>
            <a:off x="4334256" y="20025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年進入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389120" y="2240280"/>
            <a:ext cx="1307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智慧電視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普及率低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34256" y="2862072"/>
            <a:ext cx="1417320" cy="21945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3" name="Text 31"/>
          <p:cNvSpPr/>
          <p:nvPr/>
        </p:nvSpPr>
        <p:spPr>
          <a:xfrm>
            <a:off x="4334256" y="28620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年進入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389120" y="3099816"/>
            <a:ext cx="13075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Smart TV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Chromecast 普及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79592" y="1673352"/>
            <a:ext cx="141732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79592" y="1673352"/>
            <a:ext cx="1417320" cy="329184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7" name="Text 35"/>
          <p:cNvSpPr/>
          <p:nvPr/>
        </p:nvSpPr>
        <p:spPr>
          <a:xfrm>
            <a:off x="5879592" y="16733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行動金流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79592" y="2002536"/>
            <a:ext cx="1417320" cy="2194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9" name="Text 37"/>
          <p:cNvSpPr/>
          <p:nvPr/>
        </p:nvSpPr>
        <p:spPr>
          <a:xfrm>
            <a:off x="5879592" y="20025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年進入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34456" y="2240280"/>
            <a:ext cx="1307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信用卡綁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定習慣未成熟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79592" y="2862072"/>
            <a:ext cx="1417320" cy="21945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2" name="Text 40"/>
          <p:cNvSpPr/>
          <p:nvPr/>
        </p:nvSpPr>
        <p:spPr>
          <a:xfrm>
            <a:off x="5879592" y="28620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年進入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934456" y="3099816"/>
            <a:ext cx="13075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線上支付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生態系成熟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24928" y="1673352"/>
            <a:ext cx="141732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24928" y="1673352"/>
            <a:ext cx="1417320" cy="329184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46" name="Text 44"/>
          <p:cNvSpPr/>
          <p:nvPr/>
        </p:nvSpPr>
        <p:spPr>
          <a:xfrm>
            <a:off x="7424928" y="16733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內容版權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424928" y="2002536"/>
            <a:ext cx="1417320" cy="21945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8" name="Text 46"/>
          <p:cNvSpPr/>
          <p:nvPr/>
        </p:nvSpPr>
        <p:spPr>
          <a:xfrm>
            <a:off x="7424928" y="20025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年進入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479792" y="2240280"/>
            <a:ext cx="1307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台灣本地版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權談判困難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424928" y="2862072"/>
            <a:ext cx="1417320" cy="21945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1" name="Text 49"/>
          <p:cNvSpPr/>
          <p:nvPr/>
        </p:nvSpPr>
        <p:spPr>
          <a:xfrm>
            <a:off x="7424928" y="28620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年進入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479792" y="3099816"/>
            <a:ext cx="13075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版權協議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逐步完成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788920" y="3703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進攻時機在哪裡？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88920" y="3959352"/>
            <a:ext cx="1481328" cy="7772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5" name="Shape 53"/>
          <p:cNvSpPr/>
          <p:nvPr/>
        </p:nvSpPr>
        <p:spPr>
          <a:xfrm>
            <a:off x="2788920" y="3959352"/>
            <a:ext cx="1481328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6" name="Text 54"/>
          <p:cNvSpPr/>
          <p:nvPr/>
        </p:nvSpPr>
        <p:spPr>
          <a:xfrm>
            <a:off x="2788920" y="4014216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2010–2013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太早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270248" y="3959352"/>
            <a:ext cx="1920240" cy="777240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58" name="Shape 56"/>
          <p:cNvSpPr/>
          <p:nvPr/>
        </p:nvSpPr>
        <p:spPr>
          <a:xfrm>
            <a:off x="4270248" y="3959352"/>
            <a:ext cx="19202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9" name="Text 57"/>
          <p:cNvSpPr/>
          <p:nvPr/>
        </p:nvSpPr>
        <p:spPr>
          <a:xfrm>
            <a:off x="4270248" y="40142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2015–2017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最佳視窗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90488" y="3959352"/>
            <a:ext cx="2788920" cy="777240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61" name="Shape 59"/>
          <p:cNvSpPr/>
          <p:nvPr/>
        </p:nvSpPr>
        <p:spPr>
          <a:xfrm>
            <a:off x="6190488" y="3959352"/>
            <a:ext cx="27889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2" name="Text 60"/>
          <p:cNvSpPr/>
          <p:nvPr/>
        </p:nvSpPr>
        <p:spPr>
          <a:xfrm>
            <a:off x="6190488" y="4014216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競爭加劇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270248" y="3959352"/>
            <a:ext cx="0" cy="777240"/>
          </a:xfrm>
          <a:prstGeom prst="line">
            <a:avLst/>
          </a:prstGeom>
          <a:noFill/>
          <a:ln w="25400">
            <a:solidFill>
              <a:srgbClr val="059669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4041648" y="420624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850" dirty="0"/>
          </a:p>
          <a:p>
            <a:pPr marL="0" indent="0" algn="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 ▶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88920" y="4782312"/>
            <a:ext cx="6236208" cy="27432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66" name="Text 64"/>
          <p:cNvSpPr/>
          <p:nvPr/>
        </p:nvSpPr>
        <p:spPr>
          <a:xfrm>
            <a:off x="2834640" y="4782312"/>
            <a:ext cx="6144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年結果：Netflix 台灣月活用戶超過 200 萬，成為串流市場領導者——等待 MVE 達到才進攻的策略，得到驗證。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5 Answer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R3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solidFill>
            <a:srgbClr val="DC2626">
              <a:alpha val="78000"/>
            </a:srgbClr>
          </a:solidFill>
          <a:ln/>
        </p:spPr>
      </p:sp>
      <p:sp>
        <p:nvSpPr>
          <p:cNvPr id="4" name="FLabel"/>
          <p:cNvSpPr/>
          <p:nvPr/>
        </p:nvSpPr>
        <p:spPr>
          <a:xfrm>
            <a:off x="621792" y="29260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/>
              </a:rPr>
              <a:t>F5</a:t>
            </a:r>
          </a:p>
        </p:txBody>
      </p:sp>
      <p:sp>
        <p:nvSpPr>
          <p:cNvPr id="5" name="FwName"/>
          <p:cNvSpPr/>
          <p:nvPr/>
        </p:nvSpPr>
        <p:spPr>
          <a:xfrm>
            <a:off x="91440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/>
              </a:rPr>
              <a:t>防穡與進攻策略</a:t>
            </a:r>
          </a:p>
        </p:txBody>
      </p:sp>
      <p:sp>
        <p:nvSpPr>
          <p:cNvPr id="6" name="AnswerLbl"/>
          <p:cNvSpPr/>
          <p:nvPr/>
        </p:nvSpPr>
        <p:spPr>
          <a:xfrm>
            <a:off x="914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5B96A"/>
                </a:solidFill>
                <a:latin typeface="Calibri"/>
              </a:rPr>
              <a:t>Answer</a:t>
            </a:r>
          </a:p>
        </p:txBody>
      </p:sp>
      <p:sp>
        <p:nvSpPr>
          <p:cNvPr id="7" name="R7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solidFill>
            <a:srgbClr val="DC2626">
              <a:alpha val="25000"/>
            </a:srgbClr>
          </a:solidFill>
          <a:ln/>
        </p:spPr>
      </p:sp>
      <p:sp>
        <p:nvSpPr>
          <p:cNvPr id="8" name="QTxt"/>
          <p:cNvSpPr/>
          <p:nvPr/>
        </p:nvSpPr>
        <p:spPr>
          <a:xfrm>
            <a:off x="256032" y="2761488"/>
            <a:ext cx="210312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「Netflix 為何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2016 才進台灣？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</a:rPr>
              <a:t>不是不能，是不該。」</a:t>
            </a:r>
          </a:p>
        </p:txBody>
      </p:sp>
      <p:sp>
        <p:nvSpPr>
          <p:cNvPr id="9" name="Cit"/>
          <p:cNvSpPr/>
          <p:nvPr/>
        </p:nvSpPr>
        <p:spPr>
          <a:xfrm>
            <a:off x="91440" y="4782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B0A2"/>
                </a:solidFill>
                <a:latin typeface="Calibri"/>
              </a:rPr>
              <a:t>《Winning the Right Game》 · Ron Adner</a:t>
            </a:r>
          </a:p>
        </p:txBody>
      </p:sp>
      <p:sp>
        <p:nvSpPr>
          <p:cNvPr id="10" name="R10"/>
          <p:cNvSpPr/>
          <p:nvPr/>
        </p:nvSpPr>
        <p:spPr>
          <a:xfrm>
            <a:off x="2724912" y="0"/>
            <a:ext cx="6419088" cy="749808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11" name="R11"/>
          <p:cNvSpPr/>
          <p:nvPr/>
        </p:nvSpPr>
        <p:spPr>
          <a:xfrm>
            <a:off x="2724912" y="621792"/>
            <a:ext cx="6419088" cy="128016"/>
          </a:xfrm>
          <a:prstGeom prst="rect">
            <a:avLst/>
          </a:prstGeom>
          <a:solidFill>
            <a:srgbClr val="DC2626">
              <a:alpha val="40000"/>
            </a:srgbClr>
          </a:solidFill>
          <a:ln/>
        </p:spPr>
      </p:sp>
      <p:sp>
        <p:nvSpPr>
          <p:cNvPr id="12" name="Tag"/>
          <p:cNvSpPr/>
          <p:nvPr/>
        </p:nvSpPr>
        <p:spPr>
          <a:xfrm>
            <a:off x="2788920" y="36576"/>
            <a:ext cx="11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/>
              </a:rPr>
              <a:t>案例解答</a:t>
            </a:r>
          </a:p>
        </p:txBody>
      </p:sp>
      <p:sp>
        <p:nvSpPr>
          <p:cNvPr id="13" name="MainTitle"/>
          <p:cNvSpPr/>
          <p:nvPr/>
        </p:nvSpPr>
        <p:spPr>
          <a:xfrm>
            <a:off x="2788920" y="320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E"/>
                </a:solidFill>
                <a:latin typeface="Georgia"/>
              </a:rPr>
              <a:t>Netflix 台灣：MVE 暉到才進攻的反直覺洞察</a:t>
            </a:r>
          </a:p>
        </p:txBody>
      </p:sp>
      <p:sp>
        <p:nvSpPr>
          <p:cNvPr id="20" name="BG20"/>
          <p:cNvSpPr/>
          <p:nvPr/>
        </p:nvSpPr>
        <p:spPr>
          <a:xfrm>
            <a:off x="2743200" y="804672"/>
            <a:ext cx="3010920" cy="32004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1" name="ACC20"/>
          <p:cNvSpPr/>
          <p:nvPr/>
        </p:nvSpPr>
        <p:spPr>
          <a:xfrm>
            <a:off x="2743200" y="804672"/>
            <a:ext cx="64008" cy="3200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CT20"/>
          <p:cNvSpPr/>
          <p:nvPr/>
        </p:nvSpPr>
        <p:spPr>
          <a:xfrm>
            <a:off x="2843200" y="804672"/>
            <a:ext cx="2910920" cy="32004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Georgia"/>
              </a:rPr>
              <a:t>四大 MVE 條件評估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📶 網路頻寬（2016 已符合）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4G 全台普及，HD 串流穩定。2010 年 3G 為主，品質差。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📱 智慧裝置普及（2016 已符合）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Smart TV / Chromecast 幾乎成為標配，2010 年尚低。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💳 行動金流成熟（2016 已符合）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線上支付生態成熟，信用卡繫定習慣形成。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🎬 內容版權協議（2016 已符合）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台灣本地版權陶判逐步完成，2010 年未就緒。</a:t>
            </a:r>
          </a:p>
        </p:txBody>
      </p:sp>
      <p:sp>
        <p:nvSpPr>
          <p:cNvPr id="30" name="BG30"/>
          <p:cNvSpPr/>
          <p:nvPr/>
        </p:nvSpPr>
        <p:spPr>
          <a:xfrm>
            <a:off x="5973120" y="804672"/>
            <a:ext cx="3188880" cy="32004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1" name="ACC30"/>
          <p:cNvSpPr/>
          <p:nvPr/>
        </p:nvSpPr>
        <p:spPr>
          <a:xfrm>
            <a:off x="5973120" y="804672"/>
            <a:ext cx="64008" cy="3200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CT30"/>
          <p:cNvSpPr/>
          <p:nvPr/>
        </p:nvSpPr>
        <p:spPr>
          <a:xfrm>
            <a:off x="6073120" y="804672"/>
            <a:ext cx="3088880" cy="32004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Georgia"/>
              </a:rPr>
              <a:t>進攻時機判斷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2010–2013：太早→ 展示市場教育成本，後進者收割果實。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/>
              </a:rPr>
              <a:t>2015–2017：最佳視窗 ✔ MVE 四條件同時到位。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2020 後：競爭加劇，Disney+ / Apple TV+ 追入。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D1B2E"/>
                </a:solidFill>
                <a:latin typeface="Calibri"/>
              </a:rPr>
              <a:t>2023 年結果：驗證 MVE 策略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74151"/>
                </a:solidFill>
                <a:latin typeface="Calibri"/>
              </a:rPr>
              <a:t>Netflix 台灣月活用戶超過 200 萬，成為串流市場領導者。等待 MVE 到位才進攻的策略得到驗證。</a:t>
            </a:r>
          </a:p>
        </p:txBody>
      </p:sp>
      <p:sp>
        <p:nvSpPr>
          <p:cNvPr id="40" name="R40"/>
          <p:cNvSpPr/>
          <p:nvPr/>
        </p:nvSpPr>
        <p:spPr>
          <a:xfrm>
            <a:off x="2743200" y="4224528"/>
            <a:ext cx="6418800" cy="658368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41" name="Insight"/>
          <p:cNvSpPr/>
          <p:nvPr/>
        </p:nvSpPr>
        <p:spPr>
          <a:xfrm>
            <a:off x="2834640" y="4260000"/>
            <a:ext cx="6220800" cy="585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B96A"/>
                </a:solidFill>
                <a:latin typeface="Calibri"/>
              </a:rPr>
              <a:t>💡 Adner 核心洞察：</a:t>
            </a:r>
            <a:r>
              <a:rPr lang="en-US" sz="1000" dirty="0">
                <a:solidFill>
                  <a:srgbClr val="FFFFFF"/>
                </a:solidFill>
                <a:latin typeface="Calibri"/>
              </a:rPr>
              <a:t>太早進攻往往比太晚更危險——先行者承擔所有教育市場的成本，卻讓晚進者收割果實。MVE 判斷：四大生態系條件欄同到位才是進攻的對的時機。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五框架整合應用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如何在課堂案例分析中循序使用？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591056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1591056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" y="107899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" y="15910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誰是協調者？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釐清角色與位置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2468880"/>
            <a:ext cx="1591056" cy="347472"/>
          </a:xfrm>
          <a:prstGeom prst="rect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" y="246888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LINE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10512" y="1719072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73A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47672" y="914400"/>
            <a:ext cx="1591056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47672" y="914400"/>
            <a:ext cx="1591056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Shape 14"/>
          <p:cNvSpPr/>
          <p:nvPr/>
        </p:nvSpPr>
        <p:spPr>
          <a:xfrm>
            <a:off x="2523744" y="1078992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2523744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15910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價值如何流動？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拆解藍圖與節點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47672" y="2468880"/>
            <a:ext cx="1591056" cy="347472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002536" y="246888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Uber Eats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75304" y="1719072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73A"/>
                </a:solidFill>
              </a:rPr>
              <a:t>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12464" y="914400"/>
            <a:ext cx="1591056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12464" y="914400"/>
            <a:ext cx="1591056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Shape 23"/>
          <p:cNvSpPr/>
          <p:nvPr/>
        </p:nvSpPr>
        <p:spPr>
          <a:xfrm>
            <a:off x="4288536" y="1078992"/>
            <a:ext cx="438912" cy="43891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288536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76472" y="15910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哪裡最脆弱？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76472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找出風險環節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12464" y="2468880"/>
            <a:ext cx="1591056" cy="347472"/>
          </a:xfrm>
          <a:prstGeom prst="rect">
            <a:avLst/>
          </a:prstGeom>
          <a:solidFill>
            <a:srgbClr val="DC2626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767328" y="246888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Gogoro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40096" y="1719072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73A"/>
                </a:solidFill>
              </a:rPr>
              <a:t>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77256" y="914400"/>
            <a:ext cx="1591056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77256" y="914400"/>
            <a:ext cx="1591056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Shape 32"/>
          <p:cNvSpPr/>
          <p:nvPr/>
        </p:nvSpPr>
        <p:spPr>
          <a:xfrm>
            <a:off x="6053328" y="1078992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6053328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41264" y="15910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打的是對的賽局？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41264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重新定義競爭邊界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77256" y="2468880"/>
            <a:ext cx="1591056" cy="347472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532120" y="246888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Kodak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104888" y="1719072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73A"/>
                </a:solidFill>
              </a:rPr>
              <a:t>→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242048" y="914400"/>
            <a:ext cx="1591056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42048" y="914400"/>
            <a:ext cx="1591056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Shape 41"/>
          <p:cNvSpPr/>
          <p:nvPr/>
        </p:nvSpPr>
        <p:spPr>
          <a:xfrm>
            <a:off x="7818120" y="1078992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7818120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06056" y="15910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如何防守與出擊？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06056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時機與 MVE 判斷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242048" y="2468880"/>
            <a:ext cx="1591056" cy="347472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296912" y="246888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Netflix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" y="2971800"/>
            <a:ext cx="2039112" cy="1920240"/>
          </a:xfrm>
          <a:prstGeom prst="rect">
            <a:avLst/>
          </a:prstGeom>
          <a:solidFill>
            <a:srgbClr val="142238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28600" y="2971800"/>
            <a:ext cx="203911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9"/>
          <p:cNvSpPr/>
          <p:nvPr/>
        </p:nvSpPr>
        <p:spPr>
          <a:xfrm>
            <a:off x="228600" y="3063240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320040" y="352044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從角色出發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38328" y="3886200"/>
            <a:ext cx="1819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先確認你在生態系中的位置，才能判斷後續策略的起點。LINE 是協調者，但也是 Apple 的參與者。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450592" y="2971800"/>
            <a:ext cx="2039112" cy="1920240"/>
          </a:xfrm>
          <a:prstGeom prst="rect">
            <a:avLst/>
          </a:prstGeom>
          <a:solidFill>
            <a:srgbClr val="142238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450592" y="2971800"/>
            <a:ext cx="2039112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6" name="Text 54"/>
          <p:cNvSpPr/>
          <p:nvPr/>
        </p:nvSpPr>
        <p:spPr>
          <a:xfrm>
            <a:off x="2450592" y="3063240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2542032" y="352044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找最薄弱環節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560320" y="3886200"/>
            <a:ext cx="1819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F2＋F3 合用：Uber Eats 最薄弱是外送員，Gogoro 最薄弱是換電站密度——不是找平均，是找瓶頸。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72584" y="2971800"/>
            <a:ext cx="2039112" cy="1920240"/>
          </a:xfrm>
          <a:prstGeom prst="rect">
            <a:avLst/>
          </a:prstGeom>
          <a:solidFill>
            <a:srgbClr val="142238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72584" y="2971800"/>
            <a:ext cx="203911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1" name="Text 59"/>
          <p:cNvSpPr/>
          <p:nvPr/>
        </p:nvSpPr>
        <p:spPr>
          <a:xfrm>
            <a:off x="4672584" y="3063240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4764024" y="352044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先問賽局對不對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782312" y="3886200"/>
            <a:ext cx="1819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是所有策略的元問題。柯達贏了底片賽局，卻輸在沒發現數位攝影重新定義了整個生態系。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894576" y="2971800"/>
            <a:ext cx="2039112" cy="1920240"/>
          </a:xfrm>
          <a:prstGeom prst="rect">
            <a:avLst/>
          </a:prstGeom>
          <a:solidFill>
            <a:srgbClr val="142238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894576" y="2971800"/>
            <a:ext cx="203911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6" name="Text 64"/>
          <p:cNvSpPr/>
          <p:nvPr/>
        </p:nvSpPr>
        <p:spPr>
          <a:xfrm>
            <a:off x="6894576" y="3063240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6986016" y="352044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時機是策略變數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7004304" y="3886200"/>
            <a:ext cx="1819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的 MVE 判斷：Netflix 等四個條件都到位才進台灣，時機本身就是競爭優勢。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891053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A944B6E-87D8-4D95-8EFD-7C609265A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906" y="735779"/>
            <a:ext cx="3176134" cy="127945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3F8A28A-4047-4BB4-975D-88753E942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372" y="2037755"/>
            <a:ext cx="3147203" cy="77796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0BB51FC-8878-4DB8-AE65-0B13C817B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372" y="2994786"/>
            <a:ext cx="3086123" cy="76188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513BE94-6FCC-496B-9287-2197C5F03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2440" y="3884061"/>
            <a:ext cx="3176134" cy="842254"/>
          </a:xfrm>
          <a:prstGeom prst="rect">
            <a:avLst/>
          </a:prstGeom>
        </p:spPr>
      </p:pic>
      <p:sp>
        <p:nvSpPr>
          <p:cNvPr id="6" name="標題 2">
            <a:extLst>
              <a:ext uri="{FF2B5EF4-FFF2-40B4-BE49-F238E27FC236}">
                <a16:creationId xmlns:a16="http://schemas.microsoft.com/office/drawing/2014/main" id="{1A8CA5CC-5B20-42BA-A0F1-F7F6EDE32975}"/>
              </a:ext>
            </a:extLst>
          </p:cNvPr>
          <p:cNvSpPr txBox="1">
            <a:spLocks/>
          </p:cNvSpPr>
          <p:nvPr/>
        </p:nvSpPr>
        <p:spPr>
          <a:xfrm>
            <a:off x="896892" y="366349"/>
            <a:ext cx="6647765" cy="49126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kumimoji="1" lang="en-US" altLang="zh-TW" sz="1260" b="1" dirty="0">
                <a:solidFill>
                  <a:schemeClr val="bg1"/>
                </a:solidFill>
              </a:rPr>
              <a:t>Kodak </a:t>
            </a:r>
            <a:r>
              <a:rPr kumimoji="1" lang="zh-TW" altLang="en-US" sz="1260" b="1" dirty="0">
                <a:solidFill>
                  <a:schemeClr val="bg1"/>
                </a:solidFill>
              </a:rPr>
              <a:t>價值元素動態演化</a:t>
            </a:r>
          </a:p>
        </p:txBody>
      </p:sp>
      <p:sp>
        <p:nvSpPr>
          <p:cNvPr id="7" name="標題 2">
            <a:extLst>
              <a:ext uri="{FF2B5EF4-FFF2-40B4-BE49-F238E27FC236}">
                <a16:creationId xmlns:a16="http://schemas.microsoft.com/office/drawing/2014/main" id="{45905559-E90B-4038-BBEF-1D80DEDC93B8}"/>
              </a:ext>
            </a:extLst>
          </p:cNvPr>
          <p:cNvSpPr txBox="1">
            <a:spLocks/>
          </p:cNvSpPr>
          <p:nvPr/>
        </p:nvSpPr>
        <p:spPr>
          <a:xfrm>
            <a:off x="2991279" y="384442"/>
            <a:ext cx="6647765" cy="49126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kumimoji="1" lang="zh-TW" altLang="en-US" sz="1260" b="1" dirty="0">
                <a:solidFill>
                  <a:srgbClr val="0033CC"/>
                </a:solidFill>
              </a:rPr>
              <a:t>競爭  顛覆</a:t>
            </a:r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7A99238F-4715-42C4-8D55-8E440EF1C958}"/>
              </a:ext>
            </a:extLst>
          </p:cNvPr>
          <p:cNvSpPr txBox="1">
            <a:spLocks/>
          </p:cNvSpPr>
          <p:nvPr/>
        </p:nvSpPr>
        <p:spPr>
          <a:xfrm>
            <a:off x="5704876" y="1105513"/>
            <a:ext cx="491147" cy="25434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kumimoji="1" lang="zh-TW" altLang="en-US" sz="1260" b="1" dirty="0">
                <a:solidFill>
                  <a:srgbClr val="0033CC"/>
                </a:solidFill>
              </a:rPr>
              <a:t>競爭</a:t>
            </a:r>
          </a:p>
        </p:txBody>
      </p:sp>
      <p:sp>
        <p:nvSpPr>
          <p:cNvPr id="9" name="標題 2">
            <a:extLst>
              <a:ext uri="{FF2B5EF4-FFF2-40B4-BE49-F238E27FC236}">
                <a16:creationId xmlns:a16="http://schemas.microsoft.com/office/drawing/2014/main" id="{7C19F6AC-F9B6-4330-BD2D-FC1B235E1640}"/>
              </a:ext>
            </a:extLst>
          </p:cNvPr>
          <p:cNvSpPr txBox="1">
            <a:spLocks/>
          </p:cNvSpPr>
          <p:nvPr/>
        </p:nvSpPr>
        <p:spPr>
          <a:xfrm>
            <a:off x="5777470" y="4270393"/>
            <a:ext cx="491147" cy="25434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kumimoji="1" lang="zh-TW" altLang="en-US" sz="1260" b="1" dirty="0">
                <a:solidFill>
                  <a:srgbClr val="0033CC"/>
                </a:solidFill>
              </a:rPr>
              <a:t>顛覆</a:t>
            </a:r>
          </a:p>
        </p:txBody>
      </p:sp>
      <p:sp>
        <p:nvSpPr>
          <p:cNvPr id="10" name="標題 2">
            <a:extLst>
              <a:ext uri="{FF2B5EF4-FFF2-40B4-BE49-F238E27FC236}">
                <a16:creationId xmlns:a16="http://schemas.microsoft.com/office/drawing/2014/main" id="{48A353B3-7F85-213C-5241-2A1EACECFCC9}"/>
              </a:ext>
            </a:extLst>
          </p:cNvPr>
          <p:cNvSpPr txBox="1">
            <a:spLocks/>
          </p:cNvSpPr>
          <p:nvPr/>
        </p:nvSpPr>
        <p:spPr>
          <a:xfrm>
            <a:off x="503915" y="171842"/>
            <a:ext cx="7386406" cy="545844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kumimoji="1" lang="en-US" altLang="zh-TW" b="1" dirty="0">
                <a:solidFill>
                  <a:srgbClr val="FFC000"/>
                </a:solidFill>
              </a:rPr>
              <a:t>Kodak </a:t>
            </a:r>
            <a:r>
              <a:rPr kumimoji="1" lang="zh-TW" altLang="en-US" b="1" dirty="0">
                <a:solidFill>
                  <a:srgbClr val="FFC000"/>
                </a:solidFill>
              </a:rPr>
              <a:t>價值元素動態演化</a:t>
            </a:r>
          </a:p>
        </p:txBody>
      </p:sp>
    </p:spTree>
    <p:extLst>
      <p:ext uri="{BB962C8B-B14F-4D97-AF65-F5344CB8AC3E}">
        <p14:creationId xmlns:p14="http://schemas.microsoft.com/office/powerpoint/2010/main" val="40754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0BC3DE3-87A0-4B39-B838-13DBC59DF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81" y="877004"/>
            <a:ext cx="2824365" cy="162053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6E34A8B-C626-41DC-BBBD-5700F30EC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023" y="1497147"/>
            <a:ext cx="2946021" cy="173849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BCC270C-8C72-4529-A47D-C9AE91570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122" y="2962621"/>
            <a:ext cx="2739089" cy="1712259"/>
          </a:xfrm>
          <a:prstGeom prst="rect">
            <a:avLst/>
          </a:prstGeom>
        </p:spPr>
      </p:pic>
      <p:sp>
        <p:nvSpPr>
          <p:cNvPr id="8" name="標題 2">
            <a:extLst>
              <a:ext uri="{FF2B5EF4-FFF2-40B4-BE49-F238E27FC236}">
                <a16:creationId xmlns:a16="http://schemas.microsoft.com/office/drawing/2014/main" id="{567259FC-7ED5-4495-96E0-6DF07AE05EFA}"/>
              </a:ext>
            </a:extLst>
          </p:cNvPr>
          <p:cNvSpPr txBox="1">
            <a:spLocks/>
          </p:cNvSpPr>
          <p:nvPr/>
        </p:nvSpPr>
        <p:spPr>
          <a:xfrm>
            <a:off x="4986713" y="895920"/>
            <a:ext cx="818187" cy="254345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822960"/>
            <a:r>
              <a:rPr kumimoji="1" lang="zh-TW" altLang="en-US" sz="1440" b="1" kern="0" dirty="0">
                <a:solidFill>
                  <a:srgbClr val="0033CC"/>
                </a:solidFill>
              </a:rPr>
              <a:t>競爭 者</a:t>
            </a:r>
            <a:r>
              <a:rPr kumimoji="1" lang="en-US" altLang="zh-TW" sz="1440" b="1" kern="0" dirty="0">
                <a:solidFill>
                  <a:srgbClr val="0033CC"/>
                </a:solidFill>
              </a:rPr>
              <a:t>?</a:t>
            </a:r>
            <a:endParaRPr kumimoji="1" lang="zh-TW" altLang="en-US" sz="1440" b="1" kern="0" dirty="0">
              <a:solidFill>
                <a:srgbClr val="0033CC"/>
              </a:solidFill>
            </a:endParaRPr>
          </a:p>
        </p:txBody>
      </p:sp>
      <p:sp>
        <p:nvSpPr>
          <p:cNvPr id="9" name="標題 2">
            <a:extLst>
              <a:ext uri="{FF2B5EF4-FFF2-40B4-BE49-F238E27FC236}">
                <a16:creationId xmlns:a16="http://schemas.microsoft.com/office/drawing/2014/main" id="{88DCACA9-2B05-4F19-913A-7ACB743F4B6C}"/>
              </a:ext>
            </a:extLst>
          </p:cNvPr>
          <p:cNvSpPr txBox="1">
            <a:spLocks/>
          </p:cNvSpPr>
          <p:nvPr/>
        </p:nvSpPr>
        <p:spPr>
          <a:xfrm>
            <a:off x="4612559" y="3713899"/>
            <a:ext cx="1093653" cy="35013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822960"/>
            <a:r>
              <a:rPr kumimoji="1" lang="zh-TW" altLang="en-US" sz="1440" b="1" kern="0" dirty="0">
                <a:solidFill>
                  <a:srgbClr val="0033CC"/>
                </a:solidFill>
              </a:rPr>
              <a:t>誰</a:t>
            </a:r>
            <a:r>
              <a:rPr kumimoji="1" lang="en-US" altLang="zh-TW" sz="1440" b="1" kern="0" dirty="0">
                <a:solidFill>
                  <a:srgbClr val="0033CC"/>
                </a:solidFill>
              </a:rPr>
              <a:t>?</a:t>
            </a:r>
            <a:r>
              <a:rPr kumimoji="1" lang="zh-TW" altLang="en-US" sz="1440" b="1" kern="0" dirty="0">
                <a:solidFill>
                  <a:srgbClr val="0033CC"/>
                </a:solidFill>
              </a:rPr>
              <a:t> 被顛覆</a:t>
            </a:r>
          </a:p>
        </p:txBody>
      </p:sp>
      <p:sp>
        <p:nvSpPr>
          <p:cNvPr id="2" name="箭號: 向右 1">
            <a:extLst>
              <a:ext uri="{FF2B5EF4-FFF2-40B4-BE49-F238E27FC236}">
                <a16:creationId xmlns:a16="http://schemas.microsoft.com/office/drawing/2014/main" id="{7860CA1B-78FC-41A3-A3FF-E876065EBD16}"/>
              </a:ext>
            </a:extLst>
          </p:cNvPr>
          <p:cNvSpPr/>
          <p:nvPr/>
        </p:nvSpPr>
        <p:spPr>
          <a:xfrm rot="1936289">
            <a:off x="3921647" y="1840102"/>
            <a:ext cx="431515" cy="323636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2960">
              <a:buClr>
                <a:srgbClr val="000000"/>
              </a:buClr>
            </a:pPr>
            <a:endParaRPr lang="zh-TW" altLang="en-US" sz="1260" kern="0">
              <a:solidFill>
                <a:srgbClr val="FFFFFF"/>
              </a:solidFill>
              <a:latin typeface="Arial"/>
              <a:ea typeface="新細明體" panose="02020500000000000000" pitchFamily="18" charset="-120"/>
              <a:sym typeface="Arial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328BC341-E21B-4FAE-B93D-C57220551E9C}"/>
              </a:ext>
            </a:extLst>
          </p:cNvPr>
          <p:cNvSpPr/>
          <p:nvPr/>
        </p:nvSpPr>
        <p:spPr>
          <a:xfrm rot="9632135">
            <a:off x="4026107" y="2948170"/>
            <a:ext cx="431515" cy="323636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2960">
              <a:buClr>
                <a:srgbClr val="000000"/>
              </a:buClr>
            </a:pPr>
            <a:endParaRPr lang="zh-TW" altLang="en-US" sz="1260" kern="0">
              <a:solidFill>
                <a:srgbClr val="FFFFFF"/>
              </a:solidFill>
              <a:latin typeface="Arial"/>
              <a:ea typeface="新細明體" panose="02020500000000000000" pitchFamily="18" charset="-120"/>
              <a:sym typeface="Arial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4DD33D4-A5EF-4888-A778-F1AB4FBB2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974" y="288809"/>
            <a:ext cx="984263" cy="407439"/>
          </a:xfrm>
          <a:prstGeom prst="rect">
            <a:avLst/>
          </a:prstGeom>
        </p:spPr>
      </p:pic>
      <p:sp>
        <p:nvSpPr>
          <p:cNvPr id="12" name="標題 2">
            <a:extLst>
              <a:ext uri="{FF2B5EF4-FFF2-40B4-BE49-F238E27FC236}">
                <a16:creationId xmlns:a16="http://schemas.microsoft.com/office/drawing/2014/main" id="{3029C1BF-4C25-4E23-9352-0469C17E28F6}"/>
              </a:ext>
            </a:extLst>
          </p:cNvPr>
          <p:cNvSpPr txBox="1">
            <a:spLocks/>
          </p:cNvSpPr>
          <p:nvPr/>
        </p:nvSpPr>
        <p:spPr>
          <a:xfrm>
            <a:off x="1951021" y="352560"/>
            <a:ext cx="6647765" cy="49126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822960"/>
            <a:r>
              <a:rPr kumimoji="1" lang="zh-TW" altLang="en-US" sz="1260" b="1" kern="0" dirty="0">
                <a:solidFill>
                  <a:srgbClr val="FFFFFF"/>
                </a:solidFill>
              </a:rPr>
              <a:t>價值元素動態演化   價值主張 價值元素 競爭 顛覆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4026D156-9711-487D-BB40-227208B4F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024" y="3211650"/>
            <a:ext cx="1810350" cy="153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5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txBody>
          <a:bodyPr lIns="72000" tIns="54000" rIns="72000" bIns="54000" anchor="t" anchorCtr="0"/>
          <a:lstStyle/>
          <a:p>
            <a:endParaRPr lang="en-US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txBody>
          <a:bodyPr lIns="72000" tIns="54000" rIns="72000" bIns="54000" anchor="t" anchorCtr="0"/>
          <a:lstStyle/>
          <a:p>
            <a:endParaRPr lang="en-US"/>
          </a:p>
        </p:txBody>
      </p:sp>
      <p:sp>
        <p:nvSpPr>
          <p:cNvPr id="4" name="Tag"/>
          <p:cNvSpPr/>
          <p:nvPr/>
        </p:nvSpPr>
        <p:spPr>
          <a:xfrm>
            <a:off x="355600" y="2286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72000" tIns="54000" rIns="72000" bIns="54000" anchor="t" anchorCtr="0"/>
          <a:lstStyle/>
          <a:p>
            <a:pPr algn="l">
              <a:buNone/>
            </a:pPr>
            <a:r>
              <a:rPr lang="zh-TW" sz="900" b="1" dirty="0">
                <a:solidFill>
                  <a:srgbClr val="C8973A"/>
                </a:solidFill>
                <a:latin typeface="Calibri"/>
                <a:ea typeface="Microsoft JhengHei"/>
              </a:rPr>
              <a:t>延伸討論 EXTENDED DISCUSSION</a:t>
            </a:r>
          </a:p>
        </p:txBody>
      </p:sp>
      <p:sp>
        <p:nvSpPr>
          <p:cNvPr id="5" name="Title"/>
          <p:cNvSpPr/>
          <p:nvPr/>
        </p:nvSpPr>
        <p:spPr>
          <a:xfrm>
            <a:off x="355600" y="4826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lIns="72000" tIns="54000" rIns="72000" bIns="54000" anchor="t" anchorCtr="0"/>
          <a:lstStyle/>
          <a:p>
            <a:pPr algn="l">
              <a:buNone/>
            </a:pPr>
            <a:r>
              <a:rPr lang="zh-TW" sz="2000" b="1" dirty="0">
                <a:solidFill>
                  <a:srgbClr val="FFFFFF"/>
                </a:solidFill>
                <a:latin typeface="Georgia"/>
                <a:ea typeface="Microsoft JhengHei"/>
              </a:rPr>
              <a:t>Spotify 能否挑戰傳統唱片公司？</a:t>
            </a:r>
          </a:p>
        </p:txBody>
      </p:sp>
      <p:sp>
        <p:nvSpPr>
          <p:cNvPr id="6" name="Subtitle"/>
          <p:cNvSpPr/>
          <p:nvPr/>
        </p:nvSpPr>
        <p:spPr>
          <a:xfrm>
            <a:off x="355600" y="914400"/>
            <a:ext cx="8382000" cy="279400"/>
          </a:xfrm>
          <a:prstGeom prst="rect">
            <a:avLst/>
          </a:prstGeom>
          <a:noFill/>
          <a:ln>
            <a:noFill/>
          </a:ln>
        </p:spPr>
        <p:txBody>
          <a:bodyPr lIns="72000" tIns="54000" rIns="72000" bIns="54000" anchor="t" anchorCtr="0"/>
          <a:lstStyle/>
          <a:p>
            <a:pPr algn="l">
              <a:buNone/>
            </a:pPr>
            <a:r>
              <a:rPr lang="zh-TW" sz="1100" dirty="0">
                <a:solidFill>
                  <a:srgbClr val="B8B0A2"/>
                </a:solidFill>
                <a:latin typeface="Calibri"/>
                <a:ea typeface="Microsoft JhengHei"/>
              </a:rPr>
              <a:t>平台 vs. 傳統中介：生態系統權力結構的重新分配</a:t>
            </a:r>
          </a:p>
        </p:txBody>
      </p:sp>
      <p:sp>
        <p:nvSpPr>
          <p:cNvPr id="7" name="Divider"/>
          <p:cNvSpPr/>
          <p:nvPr/>
        </p:nvSpPr>
        <p:spPr>
          <a:xfrm>
            <a:off x="355600" y="1219200"/>
            <a:ext cx="8382000" cy="1270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txBody>
          <a:bodyPr lIns="72000" tIns="54000" rIns="72000" bIns="54000" anchor="t" anchorCtr="0"/>
          <a:lstStyle/>
          <a:p>
            <a:endParaRPr lang="en-US"/>
          </a:p>
        </p:txBody>
      </p:sp>
      <p:sp>
        <p:nvSpPr>
          <p:cNvPr id="8" name="LeftHeader"/>
          <p:cNvSpPr/>
          <p:nvPr/>
        </p:nvSpPr>
        <p:spPr>
          <a:xfrm>
            <a:off x="355600" y="1371600"/>
            <a:ext cx="3937000" cy="355600"/>
          </a:xfrm>
          <a:prstGeom prst="roundRect">
            <a:avLst>
              <a:gd name="adj" fmla="val 8000"/>
            </a:avLst>
          </a:prstGeom>
          <a:solidFill>
            <a:srgbClr val="1DB954"/>
          </a:solidFill>
          <a:ln>
            <a:noFill/>
          </a:ln>
        </p:spPr>
        <p:txBody>
          <a:bodyPr lIns="72000" tIns="54000" rIns="72000" bIns="54000" anchor="t" anchorCtr="0"/>
          <a:lstStyle/>
          <a:p>
            <a:pPr algn="ctr">
              <a:buNone/>
            </a:pPr>
            <a:r>
              <a:rPr lang="zh-TW" sz="1200" b="1" dirty="0">
                <a:solidFill>
                  <a:srgbClr val="FFFFFF"/>
                </a:solidFill>
                <a:latin typeface="Georgia"/>
                <a:ea typeface="Microsoft JhengHei"/>
              </a:rPr>
              <a:t>Spotify 的平台優勢</a:t>
            </a:r>
          </a:p>
        </p:txBody>
      </p:sp>
      <p:sp>
        <p:nvSpPr>
          <p:cNvPr id="10" name="Card1"/>
          <p:cNvSpPr/>
          <p:nvPr/>
        </p:nvSpPr>
        <p:spPr>
          <a:xfrm>
            <a:off x="355600" y="1803400"/>
            <a:ext cx="3937000" cy="787400"/>
          </a:xfrm>
          <a:prstGeom prst="roundRect">
            <a:avLst>
              <a:gd name="adj" fmla="val 8000"/>
            </a:avLst>
          </a:prstGeom>
          <a:solidFill>
            <a:srgbClr val="152642"/>
          </a:solidFill>
          <a:ln>
            <a:noFill/>
          </a:ln>
        </p:spPr>
        <p:txBody>
          <a:bodyPr lIns="72000" tIns="54000" rIns="72000" bIns="54000" anchor="t" anchorCtr="0"/>
          <a:lstStyle/>
          <a:p>
            <a:pPr algn="l">
              <a:buNone/>
            </a:pPr>
            <a:r>
              <a:rPr lang="zh-TW" sz="1100" b="1" dirty="0">
                <a:solidFill>
                  <a:srgbClr val="1DB954"/>
                </a:solidFill>
                <a:latin typeface="Calibri"/>
                <a:ea typeface="Microsoft JhengHei"/>
              </a:rPr>
              <a:t>直接發行與觸及</a:t>
            </a:r>
          </a:p>
          <a:p>
            <a:pPr algn="l">
              <a:buNone/>
            </a:pPr>
            <a:r>
              <a:rPr lang="zh-TW" sz="950" dirty="0">
                <a:solidFill>
                  <a:srgbClr val="FFFFFF"/>
                </a:solidFill>
                <a:latin typeface="Calibri"/>
                <a:ea typeface="Microsoft JhengHei"/>
              </a:rPr>
              <a:t>Spotify for Artists 讓歌手直接上傳、追蹤數據，觸及全球 7.13 億用戶，無需唱片公司中介</a:t>
            </a:r>
          </a:p>
        </p:txBody>
      </p:sp>
      <p:sp>
        <p:nvSpPr>
          <p:cNvPr id="11" name="Card2"/>
          <p:cNvSpPr/>
          <p:nvPr/>
        </p:nvSpPr>
        <p:spPr>
          <a:xfrm>
            <a:off x="355600" y="2667000"/>
            <a:ext cx="3937000" cy="787400"/>
          </a:xfrm>
          <a:prstGeom prst="roundRect">
            <a:avLst>
              <a:gd name="adj" fmla="val 8000"/>
            </a:avLst>
          </a:prstGeom>
          <a:solidFill>
            <a:srgbClr val="152642"/>
          </a:solidFill>
          <a:ln>
            <a:noFill/>
          </a:ln>
        </p:spPr>
        <p:txBody>
          <a:bodyPr lIns="72000" tIns="54000" rIns="72000" bIns="54000" anchor="t" anchorCtr="0"/>
          <a:lstStyle/>
          <a:p>
            <a:pPr algn="l">
              <a:buNone/>
            </a:pPr>
            <a:r>
              <a:rPr lang="zh-TW" sz="1100" b="1" dirty="0">
                <a:solidFill>
                  <a:srgbClr val="1DB954"/>
                </a:solidFill>
                <a:latin typeface="Calibri"/>
                <a:ea typeface="Microsoft JhengHei"/>
              </a:rPr>
              <a:t>AI 驅動的曝光機制</a:t>
            </a:r>
          </a:p>
          <a:p>
            <a:pPr algn="l">
              <a:buNone/>
            </a:pPr>
            <a:r>
              <a:rPr lang="zh-TW" sz="950" dirty="0">
                <a:solidFill>
                  <a:srgbClr val="FFFFFF"/>
                </a:solidFill>
                <a:latin typeface="Calibri"/>
                <a:ea typeface="Microsoft JhengHei"/>
              </a:rPr>
              <a:t>Discover Weekly、Release Radar 等演算法取代傳統唱片公司的「曝光通路」功能，推薦驅動 78% 收聽時間</a:t>
            </a:r>
          </a:p>
        </p:txBody>
      </p:sp>
      <p:sp>
        <p:nvSpPr>
          <p:cNvPr id="12" name="Card3"/>
          <p:cNvSpPr/>
          <p:nvPr/>
        </p:nvSpPr>
        <p:spPr>
          <a:xfrm>
            <a:off x="355600" y="3530600"/>
            <a:ext cx="3937000" cy="787400"/>
          </a:xfrm>
          <a:prstGeom prst="roundRect">
            <a:avLst>
              <a:gd name="adj" fmla="val 8000"/>
            </a:avLst>
          </a:prstGeom>
          <a:solidFill>
            <a:srgbClr val="152642"/>
          </a:solidFill>
          <a:ln>
            <a:noFill/>
          </a:ln>
        </p:spPr>
        <p:txBody>
          <a:bodyPr lIns="72000" tIns="54000" rIns="72000" bIns="54000" anchor="t" anchorCtr="0"/>
          <a:lstStyle/>
          <a:p>
            <a:pPr algn="l">
              <a:buNone/>
            </a:pPr>
            <a:r>
              <a:rPr lang="zh-TW" sz="1100" b="1" dirty="0">
                <a:solidFill>
                  <a:srgbClr val="1DB954"/>
                </a:solidFill>
                <a:latin typeface="Calibri"/>
                <a:ea typeface="Microsoft JhengHei"/>
              </a:rPr>
              <a:t>創作者經濟規模</a:t>
            </a:r>
          </a:p>
          <a:p>
            <a:pPr algn="l">
              <a:buNone/>
            </a:pPr>
            <a:r>
              <a:rPr lang="zh-TW" sz="950" dirty="0">
                <a:solidFill>
                  <a:srgbClr val="FFFFFF"/>
                </a:solidFill>
                <a:latin typeface="Calibri"/>
                <a:ea typeface="Microsoft JhengHei"/>
              </a:rPr>
              <a:t>超過 500 萬名活躍創作者使用平台工具，2024 年創作者收入達 21 億美元，形成自給自足的生態</a:t>
            </a:r>
          </a:p>
        </p:txBody>
      </p:sp>
      <p:sp>
        <p:nvSpPr>
          <p:cNvPr id="13" name="RightHeader"/>
          <p:cNvSpPr/>
          <p:nvPr/>
        </p:nvSpPr>
        <p:spPr>
          <a:xfrm>
            <a:off x="4800600" y="1371600"/>
            <a:ext cx="3937000" cy="3556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txBody>
          <a:bodyPr lIns="72000" tIns="54000" rIns="72000" bIns="54000" anchor="t" anchorCtr="0"/>
          <a:lstStyle/>
          <a:p>
            <a:pPr algn="ctr">
              <a:buNone/>
            </a:pPr>
            <a:r>
              <a:rPr lang="zh-TW" sz="1200" b="1" dirty="0">
                <a:solidFill>
                  <a:srgbClr val="FFFFFF"/>
                </a:solidFill>
                <a:latin typeface="Georgia"/>
                <a:ea typeface="Microsoft JhengHei"/>
              </a:rPr>
              <a:t>唱片公司的護城河</a:t>
            </a:r>
          </a:p>
        </p:txBody>
      </p:sp>
      <p:sp>
        <p:nvSpPr>
          <p:cNvPr id="14" name="RCard1"/>
          <p:cNvSpPr/>
          <p:nvPr/>
        </p:nvSpPr>
        <p:spPr>
          <a:xfrm>
            <a:off x="4800600" y="1803400"/>
            <a:ext cx="3937000" cy="787400"/>
          </a:xfrm>
          <a:prstGeom prst="roundRect">
            <a:avLst>
              <a:gd name="adj" fmla="val 8000"/>
            </a:avLst>
          </a:prstGeom>
          <a:solidFill>
            <a:srgbClr val="152642"/>
          </a:solidFill>
          <a:ln>
            <a:noFill/>
          </a:ln>
        </p:spPr>
        <p:txBody>
          <a:bodyPr lIns="72000" tIns="54000" rIns="72000" bIns="54000" anchor="t" anchorCtr="0"/>
          <a:lstStyle/>
          <a:p>
            <a:pPr algn="l">
              <a:buNone/>
            </a:pPr>
            <a:r>
              <a:rPr lang="zh-TW" sz="1100" b="1" dirty="0">
                <a:solidFill>
                  <a:srgbClr val="C0392B"/>
                </a:solidFill>
                <a:latin typeface="Calibri"/>
                <a:ea typeface="Microsoft JhengHei"/>
              </a:rPr>
              <a:t>資金預付與資源整合</a:t>
            </a:r>
          </a:p>
          <a:p>
            <a:pPr algn="l">
              <a:buNone/>
            </a:pPr>
            <a:r>
              <a:rPr lang="zh-TW" sz="950" dirty="0">
                <a:solidFill>
                  <a:srgbClr val="FFFFFF"/>
                </a:solidFill>
                <a:latin typeface="Calibri"/>
                <a:ea typeface="Microsoft JhengHei"/>
              </a:rPr>
              <a:t>錄音室、製作人、MV 拍攝的前期投資，全球巡演策劃、品牌聯名、媒體公關等系統性資源</a:t>
            </a:r>
          </a:p>
        </p:txBody>
      </p:sp>
      <p:sp>
        <p:nvSpPr>
          <p:cNvPr id="15" name="RCard2"/>
          <p:cNvSpPr/>
          <p:nvPr/>
        </p:nvSpPr>
        <p:spPr>
          <a:xfrm>
            <a:off x="4800600" y="2667000"/>
            <a:ext cx="3937000" cy="787400"/>
          </a:xfrm>
          <a:prstGeom prst="roundRect">
            <a:avLst>
              <a:gd name="adj" fmla="val 8000"/>
            </a:avLst>
          </a:prstGeom>
          <a:solidFill>
            <a:srgbClr val="152642"/>
          </a:solidFill>
          <a:ln>
            <a:noFill/>
          </a:ln>
        </p:spPr>
        <p:txBody>
          <a:bodyPr lIns="72000" tIns="54000" rIns="72000" bIns="54000" anchor="t" anchorCtr="0"/>
          <a:lstStyle/>
          <a:p>
            <a:pPr algn="l">
              <a:buNone/>
            </a:pPr>
            <a:r>
              <a:rPr lang="zh-TW" sz="1100" b="1" dirty="0">
                <a:solidFill>
                  <a:srgbClr val="C0392B"/>
                </a:solidFill>
                <a:latin typeface="Calibri"/>
                <a:ea typeface="Microsoft JhengHei"/>
              </a:rPr>
              <a:t>版權與目錄控制</a:t>
            </a:r>
          </a:p>
          <a:p>
            <a:pPr algn="l">
              <a:buNone/>
            </a:pPr>
            <a:r>
              <a:rPr lang="zh-TW" sz="950" dirty="0">
                <a:solidFill>
                  <a:srgbClr val="FFFFFF"/>
                </a:solidFill>
                <a:latin typeface="Calibri"/>
                <a:ea typeface="Microsoft JhengHei"/>
              </a:rPr>
              <a:t>三大唱片公司（UMG、Sony、Warner）掌控約 70% 音樂目錄，跨國授權與同步授權管理難以繞過</a:t>
            </a:r>
          </a:p>
        </p:txBody>
      </p:sp>
      <p:sp>
        <p:nvSpPr>
          <p:cNvPr id="16" name="RCard3"/>
          <p:cNvSpPr/>
          <p:nvPr/>
        </p:nvSpPr>
        <p:spPr>
          <a:xfrm>
            <a:off x="4800600" y="3530600"/>
            <a:ext cx="3937000" cy="787400"/>
          </a:xfrm>
          <a:prstGeom prst="roundRect">
            <a:avLst>
              <a:gd name="adj" fmla="val 8000"/>
            </a:avLst>
          </a:prstGeom>
          <a:solidFill>
            <a:srgbClr val="152642"/>
          </a:solidFill>
          <a:ln>
            <a:noFill/>
          </a:ln>
        </p:spPr>
        <p:txBody>
          <a:bodyPr lIns="72000" tIns="54000" rIns="72000" bIns="54000" anchor="t" anchorCtr="0"/>
          <a:lstStyle/>
          <a:p>
            <a:pPr algn="l">
              <a:buNone/>
            </a:pPr>
            <a:r>
              <a:rPr lang="zh-TW" sz="1100" b="1" dirty="0">
                <a:solidFill>
                  <a:srgbClr val="C0392B"/>
                </a:solidFill>
                <a:latin typeface="Calibri"/>
                <a:ea typeface="Microsoft JhengHei"/>
              </a:rPr>
              <a:t>版稅議價力</a:t>
            </a:r>
          </a:p>
          <a:p>
            <a:pPr algn="l">
              <a:buNone/>
            </a:pPr>
            <a:r>
              <a:rPr lang="zh-TW" sz="950" dirty="0">
                <a:solidFill>
                  <a:srgbClr val="FFFFFF"/>
                </a:solidFill>
                <a:latin typeface="Calibri"/>
                <a:ea typeface="Microsoft JhengHei"/>
              </a:rPr>
              <a:t>唱片公司可集體提高版稅，Spotify 毛利率長期被壓縮在約 31%，平台定價權受限</a:t>
            </a:r>
          </a:p>
        </p:txBody>
      </p:sp>
      <p:sp>
        <p:nvSpPr>
          <p:cNvPr id="17" name="VS"/>
          <p:cNvSpPr/>
          <p:nvPr/>
        </p:nvSpPr>
        <p:spPr>
          <a:xfrm>
            <a:off x="4267200" y="2476500"/>
            <a:ext cx="457200" cy="45720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txBody>
          <a:bodyPr lIns="72000" tIns="54000" rIns="72000" bIns="54000" anchor="t" anchorCtr="0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/>
              </a:rPr>
              <a:t>VS</a:t>
            </a:r>
          </a:p>
        </p:txBody>
      </p:sp>
      <p:sp>
        <p:nvSpPr>
          <p:cNvPr id="18" name="InsightBar"/>
          <p:cNvSpPr/>
          <p:nvPr/>
        </p:nvSpPr>
        <p:spPr>
          <a:xfrm>
            <a:off x="355600" y="4445000"/>
            <a:ext cx="8382000" cy="482600"/>
          </a:xfrm>
          <a:prstGeom prst="roundRect">
            <a:avLst>
              <a:gd name="adj" fmla="val 8000"/>
            </a:avLst>
          </a:prstGeom>
          <a:solidFill>
            <a:srgbClr val="1A3350"/>
          </a:solidFill>
          <a:ln>
            <a:noFill/>
          </a:ln>
        </p:spPr>
        <p:txBody>
          <a:bodyPr lIns="72000" tIns="54000" rIns="72000" bIns="54000" anchor="t" anchorCtr="0"/>
          <a:lstStyle/>
          <a:p>
            <a:pPr algn="ctr">
              <a:buNone/>
            </a:pPr>
            <a:r>
              <a:rPr lang="zh-TW" sz="1000" b="1" dirty="0">
                <a:solidFill>
                  <a:srgbClr val="C8973A"/>
                </a:solidFill>
                <a:latin typeface="Georgia"/>
                <a:ea typeface="Microsoft JhengHei"/>
              </a:rPr>
              <a:t>核心洞察：</a:t>
            </a:r>
            <a:r>
              <a:rPr lang="zh-TW" sz="1000" dirty="0">
                <a:solidFill>
                  <a:srgbClr val="FFFFFF"/>
                </a:solidFill>
                <a:latin typeface="Calibri"/>
                <a:ea typeface="Microsoft JhengHei"/>
              </a:rPr>
              <a:t>Spotify 的策略不是「打敗唱片公司」，而是讓自己成為不可或缺的基礎設施 — 無論藝人簽約與否都必須在 Spotify 上存在</a:t>
            </a:r>
          </a:p>
        </p:txBody>
      </p:sp>
    </p:spTree>
    <p:extLst>
      <p:ext uri="{BB962C8B-B14F-4D97-AF65-F5344CB8AC3E}">
        <p14:creationId xmlns:p14="http://schemas.microsoft.com/office/powerpoint/2010/main" val="2217501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Spotify × 五框架整合應用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如何用五框架分析 Spotify？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591056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1591056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" y="107899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" y="15910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誰是協調者？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音頻生態系協調者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2468880"/>
            <a:ext cx="1591056" cy="347472"/>
          </a:xfrm>
          <a:prstGeom prst="rect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" y="246888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Spotify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10512" y="1719072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73A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47672" y="914400"/>
            <a:ext cx="1591056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47672" y="914400"/>
            <a:ext cx="1591056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Shape 14"/>
          <p:cNvSpPr/>
          <p:nvPr/>
        </p:nvSpPr>
        <p:spPr>
          <a:xfrm>
            <a:off x="2523744" y="1078992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2523744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15910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價值如何流動？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授權依賴風險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47672" y="2468880"/>
            <a:ext cx="1591056" cy="347472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002536" y="246888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Spotify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75304" y="1719072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73A"/>
                </a:solidFill>
              </a:rPr>
              <a:t>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12464" y="914400"/>
            <a:ext cx="1591056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12464" y="914400"/>
            <a:ext cx="1591056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Shape 23"/>
          <p:cNvSpPr/>
          <p:nvPr/>
        </p:nvSpPr>
        <p:spPr>
          <a:xfrm>
            <a:off x="4288536" y="1078992"/>
            <a:ext cx="438912" cy="43891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288536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76472" y="15910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哪裡最脆弱？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76472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顛覆音樂消費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12464" y="2468880"/>
            <a:ext cx="1591056" cy="347472"/>
          </a:xfrm>
          <a:prstGeom prst="rect">
            <a:avLst/>
          </a:prstGeom>
          <a:solidFill>
            <a:srgbClr val="DC2626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767328" y="246888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Spotify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40096" y="1719072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73A"/>
                </a:solidFill>
              </a:rPr>
              <a:t>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77256" y="914400"/>
            <a:ext cx="1591056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77256" y="914400"/>
            <a:ext cx="1591056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Shape 32"/>
          <p:cNvSpPr/>
          <p:nvPr/>
        </p:nvSpPr>
        <p:spPr>
          <a:xfrm>
            <a:off x="6053328" y="1078992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6053328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41264" y="15910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打的是對的賽局？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41264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營利兩難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77256" y="2468880"/>
            <a:ext cx="1591056" cy="347472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532120" y="246888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Spotify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104888" y="1719072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73A"/>
                </a:solidFill>
              </a:rPr>
              <a:t>→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242048" y="914400"/>
            <a:ext cx="1591056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42048" y="914400"/>
            <a:ext cx="1591056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Shape 41"/>
          <p:cNvSpPr/>
          <p:nvPr/>
        </p:nvSpPr>
        <p:spPr>
          <a:xfrm>
            <a:off x="7818120" y="1078992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7818120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06056" y="15910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如何防守與出擊？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06056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多邊平台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242048" y="2468880"/>
            <a:ext cx="1591056" cy="347472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296912" y="246888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Spotify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" y="2971800"/>
            <a:ext cx="2039112" cy="1920240"/>
          </a:xfrm>
          <a:prstGeom prst="rect">
            <a:avLst/>
          </a:prstGeom>
          <a:solidFill>
            <a:srgbClr val="142238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28600" y="2971800"/>
            <a:ext cx="203911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9"/>
          <p:cNvSpPr/>
          <p:nvPr/>
        </p:nvSpPr>
        <p:spPr>
          <a:xfrm>
            <a:off x="228600" y="3063240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320040" y="352044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從角色出發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38328" y="3886200"/>
            <a:ext cx="1819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是音頻生態系的協調者，串連聽眾、創作者、廣告商——但協調者地位建立在唱片公司授權之上。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450592" y="2971800"/>
            <a:ext cx="2039112" cy="1920240"/>
          </a:xfrm>
          <a:prstGeom prst="rect">
            <a:avLst/>
          </a:prstGeom>
          <a:solidFill>
            <a:srgbClr val="142238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450592" y="2971800"/>
            <a:ext cx="2039112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6" name="Text 54"/>
          <p:cNvSpPr/>
          <p:nvPr/>
        </p:nvSpPr>
        <p:spPr>
          <a:xfrm>
            <a:off x="2450592" y="3063240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2542032" y="352044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辨識風險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560320" y="3886200"/>
            <a:ext cx="1819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三大唱片公司掌控授權、Apple Music 與 YouTube Music 以硬體生態系包抄，Spotify 的護城河在於數據與個人化。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72584" y="2971800"/>
            <a:ext cx="2039112" cy="1920240"/>
          </a:xfrm>
          <a:prstGeom prst="rect">
            <a:avLst/>
          </a:prstGeom>
          <a:solidFill>
            <a:srgbClr val="142238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72584" y="2971800"/>
            <a:ext cx="203911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1" name="Text 59"/>
          <p:cNvSpPr/>
          <p:nvPr/>
        </p:nvSpPr>
        <p:spPr>
          <a:xfrm>
            <a:off x="4672584" y="3063240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4764024" y="352044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應對兩難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782312" y="3886200"/>
            <a:ext cx="1819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大量投資 Podcast 與有聲書以降低對音樂授權的依賴，但原創內容尚未實現穩定獲利。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894576" y="2971800"/>
            <a:ext cx="2039112" cy="1920240"/>
          </a:xfrm>
          <a:prstGeom prst="rect">
            <a:avLst/>
          </a:prstGeom>
          <a:solidFill>
            <a:srgbClr val="142238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894576" y="2971800"/>
            <a:ext cx="203911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6" name="Text 64"/>
          <p:cNvSpPr/>
          <p:nvPr/>
        </p:nvSpPr>
        <p:spPr>
          <a:xfrm>
            <a:off x="6894576" y="3063240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6986016" y="352044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制定策略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7004304" y="3886200"/>
            <a:ext cx="1819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轉化率 39%、AI DJ 與 Wrapped 製造文化現象、跨進 ChatGPT 打造無所不在的音頻入口。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95359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7137400" y="228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91400" y="228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45400" y="228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99400" y="228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7400" y="482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1400" y="482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45400" y="482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99400" y="482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7400" y="736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91400" y="736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45400" y="736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99400" y="736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7400" y="990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1400" y="990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45400" y="990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99400" y="990600"/>
            <a:ext cx="91440" cy="91440"/>
          </a:xfrm>
          <a:prstGeom prst="ellipse">
            <a:avLst/>
          </a:prstGeom>
          <a:solidFill>
            <a:srgbClr val="C8973A">
              <a:alpha val="30000"/>
            </a:srgbClr>
          </a:solidFill>
          <a:ln w="12700">
            <a:solidFill>
              <a:srgbClr val="C8973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核心記憶點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0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5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贏錯賽局，等於失敗。</a:t>
            </a:r>
            <a:endParaRPr lang="en-US" sz="55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B8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the wrong game is still losing.</a:t>
            </a:r>
            <a:endParaRPr lang="en-US" sz="5500" dirty="0"/>
          </a:p>
        </p:txBody>
      </p:sp>
      <p:sp>
        <p:nvSpPr>
          <p:cNvPr id="21" name="Shape 19"/>
          <p:cNvSpPr/>
          <p:nvPr/>
        </p:nvSpPr>
        <p:spPr>
          <a:xfrm>
            <a:off x="2286000" y="2880360"/>
            <a:ext cx="4572000" cy="27432"/>
          </a:xfrm>
          <a:prstGeom prst="rect">
            <a:avLst/>
          </a:prstGeom>
          <a:solidFill>
            <a:srgbClr val="C8973A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0175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5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Ron Adner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005072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005072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832" y="4005072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30552" y="4005072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059669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130552" y="4005072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69464" y="4005072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Eats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758184" y="4005072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DC2626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758184" y="4005072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97096" y="4005072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Gogoro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85816" y="4005072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D97706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385816" y="4005072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24728" y="4005072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013448" y="4005072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013448" y="4005072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52360" y="4005072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52118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D3E826-DD8C-47C2-8D0B-0C6AFF52FE2E}">
  <we:reference id="wa200010001" version="1.0.0.1" store="zh-TW" storeType="OMEX"/>
  <we:alternateReferences>
    <we:reference id="WA200010001" version="1.0.0.1" store="" storeType="OMEX"/>
  </we:alternateReferences>
  <we:properties>
    <we:property name="claude.fileId" value="&quot;6518fc1d-981a-44ad-8bc5-974d5014cdf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2814</Words>
  <Application>Microsoft Office PowerPoint</Application>
  <PresentationFormat>如螢幕大小 (16:9)</PresentationFormat>
  <Paragraphs>757</Paragraphs>
  <Slides>27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2" baseType="lpstr">
      <vt:lpstr>DM Mono, Calibri</vt:lpstr>
      <vt:lpstr>Arial</vt:lpstr>
      <vt:lpstr>Calibri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生態系競爭策略 F1–F5 框架 × 實際案例</dc:title>
  <dc:subject>PptxGenJS Presentation</dc:subject>
  <dc:creator>PptxGenJS</dc:creator>
  <cp:lastModifiedBy>曹修源</cp:lastModifiedBy>
  <cp:revision>2</cp:revision>
  <dcterms:created xsi:type="dcterms:W3CDTF">2026-05-09T01:40:35Z</dcterms:created>
  <dcterms:modified xsi:type="dcterms:W3CDTF">2026-05-20T02:36:22Z</dcterms:modified>
</cp:coreProperties>
</file>