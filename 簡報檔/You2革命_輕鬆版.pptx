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182880"/>
            <a:ext cx="3840480" cy="3840480"/>
          </a:xfrm>
          <a:prstGeom prst="ellipse">
            <a:avLst/>
          </a:prstGeom>
          <a:solidFill>
            <a:srgbClr val="D4A830">
              <a:alpha val="8000"/>
            </a:srgbClr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640080"/>
            <a:ext cx="2926080" cy="292608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F0C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097280"/>
            <a:ext cx="2011680" cy="2011680"/>
          </a:xfrm>
          <a:prstGeom prst="ellipse">
            <a:avLst/>
          </a:prstGeom>
          <a:solidFill>
            <a:srgbClr val="D4A830">
              <a:alpha val="30000"/>
            </a:srgbClr>
          </a:solidFill>
          <a:ln w="19050">
            <a:solidFill>
              <a:srgbClr val="F0C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1417320"/>
            <a:ext cx="1371600" cy="1371600"/>
          </a:xfrm>
          <a:prstGeom prst="ellipse">
            <a:avLst/>
          </a:prstGeom>
          <a:solidFill>
            <a:srgbClr val="D4622A">
              <a:alpha val="80000"/>
            </a:srgbClr>
          </a:solidFill>
          <a:ln w="254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502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4652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Bradley &amp; Don Tapscott 的未來宣言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85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148840" y="5943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685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革命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Identic AI 時代，重新定義你自己的潛能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783080" cy="384048"/>
          </a:xfrm>
          <a:prstGeom prst="roundRect">
            <a:avLst>
              <a:gd name="adj" fmla="val 23810"/>
            </a:avLst>
          </a:prstGeom>
          <a:solidFill>
            <a:srgbClr val="4A9FD9">
              <a:alpha val="25000"/>
            </a:srgbClr>
          </a:solidFill>
          <a:ln w="15240">
            <a:solidFill>
              <a:srgbClr val="4A9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不再只是工具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423160"/>
            <a:ext cx="1783080" cy="384048"/>
          </a:xfrm>
          <a:prstGeom prst="roundRect">
            <a:avLst>
              <a:gd name="adj" fmla="val 23810"/>
            </a:avLst>
          </a:prstGeom>
          <a:solidFill>
            <a:srgbClr val="D4A830">
              <a:alpha val="25000"/>
            </a:srgbClr>
          </a:solidFill>
          <a:ln w="15240">
            <a:solidFill>
              <a:srgbClr val="D4A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423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你的數據，你作主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423160"/>
            <a:ext cx="1783080" cy="384048"/>
          </a:xfrm>
          <a:prstGeom prst="roundRect">
            <a:avLst>
              <a:gd name="adj" fmla="val 23810"/>
            </a:avLst>
          </a:prstGeom>
          <a:solidFill>
            <a:srgbClr val="D4622A">
              <a:alpha val="25000"/>
            </a:srgbClr>
          </a:solidFill>
          <a:ln w="15240">
            <a:solidFill>
              <a:srgbClr val="D4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423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 = 指數擴張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solidFill>
            <a:srgbClr val="1A2D4A"/>
          </a:solidFill>
          <a:ln w="12700">
            <a:solidFill>
              <a:srgbClr val="D4A83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109728" cy="17830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1272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這份簡報帶你讀懂一個大哉問：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493008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AI 不再只是幫你打字、搜尋，而是真正「認識你」——讀懂你的價值觀、習慣、深層需求——然後成為你的專屬數位夥伴，你的人生會發生什麼事？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不再只是「工具」——它變成了夥伴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一個典範轉移：從「通用生成 AI」到「Identic AI（專屬特徵 AI）」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52044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09728" cy="3520440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舊時代：AI 是工具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566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想像一台很厲害的計算機。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你問它，它回答。問完就結束，它對你一無所知。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你每次都要重新介紹自己，每次都得到「通用答案」。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就像問陌生人路——對方給你的是地圖，不是建議。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931920" cy="3520440"/>
          </a:xfrm>
          <a:prstGeom prst="rect">
            <a:avLst/>
          </a:prstGeom>
          <a:solidFill>
            <a:srgbClr val="182A44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109728" cy="352044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新時代：Identic AI 是夥伴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810512"/>
            <a:ext cx="3566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想像一位認識你 10 年的好友，同時擁有所有領域的博士學位。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他了解你的個性、你的目標、你的顧慮，給你的建議永遠是「量身打造」的。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你的數據由你掌控，AI 只在你授權時才能使用。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87952" y="2468880"/>
            <a:ext cx="768096" cy="768096"/>
          </a:xfrm>
          <a:prstGeom prst="ellipse">
            <a:avLst/>
          </a:prstGeom>
          <a:solidFill>
            <a:srgbClr val="D4622A"/>
          </a:solidFill>
          <a:ln w="25400">
            <a:solidFill>
              <a:srgbClr val="D4A83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87952" y="2468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一張表看懂：生成式 AI vs Identic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 是一種全新的數位夥伴關係，透過理解你的個人特徵與價值觀，與你共同行動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142240"/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188720"/>
            <a:ext cx="2743200" cy="457200"/>
          </a:xfrm>
          <a:prstGeom prst="rect">
            <a:avLst/>
          </a:prstGeom>
          <a:solidFill>
            <a:srgbClr val="142240"/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188720"/>
            <a:ext cx="2926080" cy="457200"/>
          </a:xfrm>
          <a:prstGeom prst="rect">
            <a:avLst/>
          </a:prstGeom>
          <a:solidFill>
            <a:srgbClr val="1E3020"/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評估維度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生成式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2743200" cy="713232"/>
          </a:xfrm>
          <a:prstGeom prst="rect">
            <a:avLst/>
          </a:prstGeom>
          <a:solidFill>
            <a:srgbClr val="142240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645920"/>
            <a:ext cx="2743200" cy="713232"/>
          </a:xfrm>
          <a:prstGeom prst="rect">
            <a:avLst/>
          </a:prstGeom>
          <a:solidFill>
            <a:srgbClr val="142240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645920"/>
            <a:ext cx="2926080" cy="713232"/>
          </a:xfrm>
          <a:prstGeom prst="rect">
            <a:avLst/>
          </a:prstGeom>
          <a:solidFill>
            <a:srgbClr val="132A1A"/>
          </a:solidFill>
          <a:ln w="6350">
            <a:solidFill>
              <a:srgbClr val="2A5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824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角色定位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16824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被動的工具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6824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主動的參與夥伴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2743200" cy="713232"/>
          </a:xfrm>
          <a:prstGeom prst="rect">
            <a:avLst/>
          </a:prstGeom>
          <a:solidFill>
            <a:srgbClr val="111D33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2395728"/>
            <a:ext cx="2743200" cy="713232"/>
          </a:xfrm>
          <a:prstGeom prst="rect">
            <a:avLst/>
          </a:prstGeom>
          <a:solidFill>
            <a:srgbClr val="111D33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395728"/>
            <a:ext cx="2926080" cy="713232"/>
          </a:xfrm>
          <a:prstGeom prst="rect">
            <a:avLst/>
          </a:prstGeom>
          <a:solidFill>
            <a:srgbClr val="0F2216"/>
          </a:solidFill>
          <a:ln w="6350">
            <a:solidFill>
              <a:srgbClr val="2A5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323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數據流向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24323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被中心化企業吸收與控制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4323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去中心化、可攜帶、個人掌控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2743200" cy="713232"/>
          </a:xfrm>
          <a:prstGeom prst="rect">
            <a:avLst/>
          </a:prstGeom>
          <a:solidFill>
            <a:srgbClr val="142240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3145536"/>
            <a:ext cx="2743200" cy="713232"/>
          </a:xfrm>
          <a:prstGeom prst="rect">
            <a:avLst/>
          </a:prstGeom>
          <a:solidFill>
            <a:srgbClr val="142240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3145536"/>
            <a:ext cx="2926080" cy="713232"/>
          </a:xfrm>
          <a:prstGeom prst="rect">
            <a:avLst/>
          </a:prstGeom>
          <a:solidFill>
            <a:srgbClr val="132A1A"/>
          </a:solidFill>
          <a:ln w="6350">
            <a:solidFill>
              <a:srgbClr val="2A5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821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產出結果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31821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基於大眾平均值的通用答案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1821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高度契合個人深層價值觀的專屬決策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95344"/>
            <a:ext cx="2743200" cy="713232"/>
          </a:xfrm>
          <a:prstGeom prst="rect">
            <a:avLst/>
          </a:prstGeom>
          <a:solidFill>
            <a:srgbClr val="111D33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3895344"/>
            <a:ext cx="2743200" cy="713232"/>
          </a:xfrm>
          <a:prstGeom prst="rect">
            <a:avLst/>
          </a:prstGeom>
          <a:solidFill>
            <a:srgbClr val="111D33"/>
          </a:solidFill>
          <a:ln w="6350">
            <a:solidFill>
              <a:srgbClr val="1E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3895344"/>
            <a:ext cx="2926080" cy="713232"/>
          </a:xfrm>
          <a:prstGeom prst="rect">
            <a:avLst/>
          </a:prstGeom>
          <a:solidFill>
            <a:srgbClr val="0F2216"/>
          </a:solidFill>
          <a:ln w="6350">
            <a:solidFill>
              <a:srgbClr val="2A5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治理模式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10896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企業巨頭壟斷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自我主權治理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D4622A">
              <a:alpha val="2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一句話記住：生成式 AI 認識世界，Identic AI 認識你。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You2 啟動曲線：人類能力的指數級爆發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這不是漸進式改善——是你與數位分身協作後的指數型躍升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943600" cy="3566160"/>
          </a:xfrm>
          <a:prstGeom prst="rect">
            <a:avLst/>
          </a:prstGeom>
          <a:solidFill>
            <a:srgbClr val="0D1829"/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你的能力產出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5394960" cy="54864"/>
          </a:xfrm>
          <a:prstGeom prst="rect">
            <a:avLst/>
          </a:prstGeom>
          <a:solidFill>
            <a:srgbClr val="8BA3B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8176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0784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41648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7296" y="4069080"/>
            <a:ext cx="91440" cy="91440"/>
          </a:xfrm>
          <a:prstGeom prst="ellipse">
            <a:avLst/>
          </a:prstGeom>
          <a:solidFill>
            <a:srgbClr val="8BA3BC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AI 時代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402336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84048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0240" y="370332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356616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342900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29184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320040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306324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971800"/>
            <a:ext cx="128016" cy="128016"/>
          </a:xfrm>
          <a:prstGeom prst="ellipse">
            <a:avLst/>
          </a:prstGeom>
          <a:solidFill>
            <a:srgbClr val="4A9F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834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作為工具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402336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393192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374904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342900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17520" y="292608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228600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173736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132588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100584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94960" y="1234440"/>
            <a:ext cx="164592" cy="16459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66360" y="960120"/>
            <a:ext cx="502920" cy="502920"/>
          </a:xfrm>
          <a:prstGeom prst="ellipse">
            <a:avLst/>
          </a:prstGeom>
          <a:solidFill>
            <a:srgbClr val="F0C84A">
              <a:alpha val="60000"/>
            </a:srgbClr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11704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1208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(人類 + Identic AI)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83680" y="1280160"/>
            <a:ext cx="2331720" cy="100584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83680" y="1280160"/>
            <a:ext cx="109728" cy="1005840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1371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AI 時代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8122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靠個人努力，能力上限受時間限制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0" y="2423160"/>
            <a:ext cx="2331720" cy="100584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583680" y="2423160"/>
            <a:ext cx="109728" cy="1005840"/>
          </a:xfrm>
          <a:prstGeom prst="rect">
            <a:avLst/>
          </a:prstGeom>
          <a:solidFill>
            <a:srgbClr val="4A9FD9"/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2514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作為工具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6812280" y="2834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效率提升，但 AI 不理解你，產出線性增長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83680" y="3566160"/>
            <a:ext cx="2331720" cy="100584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583680" y="3566160"/>
            <a:ext cx="109728" cy="100584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3657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You2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81228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完全了解你，成為數位分身，產出指數爆發！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 如何放大你的一生？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無所不在的 AI 夥伴，將全面重塑我們工作、學習與維持健康的方式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20440" y="1920240"/>
            <a:ext cx="2103120" cy="1691640"/>
          </a:xfrm>
          <a:prstGeom prst="ellipse">
            <a:avLst/>
          </a:prstGeom>
          <a:solidFill>
            <a:srgbClr val="D4622A">
              <a:alpha val="30000"/>
            </a:srgbClr>
          </a:solidFill>
          <a:ln w="25400">
            <a:solidFill>
              <a:srgbClr val="D4A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19202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383280" y="3639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926080" cy="1783080"/>
          </a:xfrm>
          <a:prstGeom prst="rect">
            <a:avLst/>
          </a:prstGeom>
          <a:solidFill>
            <a:srgbClr val="1A2D4A"/>
          </a:solidFill>
          <a:ln w="19050">
            <a:solidFill>
              <a:srgbClr val="3BAA8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926080" cy="457200"/>
          </a:xfrm>
          <a:prstGeom prst="rect">
            <a:avLst/>
          </a:prstGeom>
          <a:solidFill>
            <a:srgbClr val="3BAA8E">
              <a:alpha val="40000"/>
            </a:srgbClr>
          </a:solidFill>
          <a:ln w="12700">
            <a:solidFill>
              <a:srgbClr val="3BAA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2743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[健]  全人健康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前：傳統醫療：等你生病了再去治療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A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後：Identic AI：主動預測風險、全天候個人化健康優化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926080" cy="1783080"/>
          </a:xfrm>
          <a:prstGeom prst="rect">
            <a:avLst/>
          </a:prstGeom>
          <a:solidFill>
            <a:srgbClr val="1A2D4A"/>
          </a:solidFill>
          <a:ln w="19050">
            <a:solidFill>
              <a:srgbClr val="4A9FD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926080" cy="457200"/>
          </a:xfrm>
          <a:prstGeom prst="rect">
            <a:avLst/>
          </a:prstGeom>
          <a:solidFill>
            <a:srgbClr val="4A9FD9">
              <a:alpha val="40000"/>
            </a:srgbClr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25296"/>
            <a:ext cx="2743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[職]  職涯擴展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前：傳統職場：靠個人努力，天花板明顯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後：Identic AI：放大創造力、提升生產力，重新定義你的專業成功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926080" cy="1783080"/>
          </a:xfrm>
          <a:prstGeom prst="rect">
            <a:avLst/>
          </a:prstGeom>
          <a:solidFill>
            <a:srgbClr val="1A2D4A"/>
          </a:solidFill>
          <a:ln w="19050">
            <a:solidFill>
              <a:srgbClr val="7B82C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08960"/>
            <a:ext cx="2926080" cy="457200"/>
          </a:xfrm>
          <a:prstGeom prst="rect">
            <a:avLst/>
          </a:prstGeom>
          <a:solidFill>
            <a:srgbClr val="7B82C9">
              <a:alpha val="40000"/>
            </a:srgbClr>
          </a:solidFill>
          <a:ln w="12700">
            <a:solidFill>
              <a:srgbClr val="7B82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45536"/>
            <a:ext cx="2743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[學]  終身教育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前：傳統學習：固定課程，一體適用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114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後：Identic AI：無縫個人化學習，隨時適應你的知識迭代需求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108960"/>
            <a:ext cx="2926080" cy="1783080"/>
          </a:xfrm>
          <a:prstGeom prst="rect">
            <a:avLst/>
          </a:prstGeom>
          <a:solidFill>
            <a:srgbClr val="1A2D4A"/>
          </a:solidFill>
          <a:ln w="19050">
            <a:solidFill>
              <a:srgbClr val="E888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108960"/>
            <a:ext cx="2926080" cy="457200"/>
          </a:xfrm>
          <a:prstGeom prst="rect">
            <a:avLst/>
          </a:prstGeom>
          <a:solidFill>
            <a:srgbClr val="E8883A">
              <a:alpha val="40000"/>
            </a:srgbClr>
          </a:solidFill>
          <a:ln w="12700">
            <a:solidFill>
              <a:srgbClr val="E888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45536"/>
            <a:ext cx="27432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[社]  社交連結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639312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後：深度理解你的社交需求，強化人際關係與社群連結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我們面臨著極端的生存岔路口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 帶來的非凡承諾，同時也伴隨著深層風險——未來走向完全取決於我們的治理選擇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931920" cy="3520440"/>
          </a:xfrm>
          <a:prstGeom prst="rect">
            <a:avLst/>
          </a:prstGeom>
          <a:solidFill>
            <a:srgbClr val="120A1A"/>
          </a:solidFill>
          <a:ln w="19050">
            <a:solidFill>
              <a:srgbClr val="4A1A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3931920" cy="475488"/>
          </a:xfrm>
          <a:prstGeom prst="rect">
            <a:avLst/>
          </a:prstGeom>
          <a:solidFill>
            <a:srgbClr val="3D1050"/>
          </a:solidFill>
          <a:ln w="12700">
            <a:solidFill>
              <a:srgbClr val="3D1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61872"/>
            <a:ext cx="3703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榨取式 AI 未來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監控資本主義：你的每個行動都被數據化成企業的利潤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企業壟斷：少數科技巨頭掌控你的數位身份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失去能動性：AI 替你做所有決定，你逐漸失去獨立思考能力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840480" cy="3520440"/>
          </a:xfrm>
          <a:prstGeom prst="rect">
            <a:avLst/>
          </a:prstGeom>
          <a:solidFill>
            <a:srgbClr val="0D1E12"/>
          </a:solidFill>
          <a:ln w="19050">
            <a:solidFill>
              <a:srgbClr val="D4A83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34440"/>
            <a:ext cx="3840480" cy="475488"/>
          </a:xfrm>
          <a:prstGeom prst="rect">
            <a:avLst/>
          </a:prstGeom>
          <a:solidFill>
            <a:srgbClr val="1A3A20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261872"/>
            <a:ext cx="361188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賦權式 AI 未來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人類尊嚴：AI 強化你的能力，不取代你的身份認同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5420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共同創造：人類與 AI 攜手，創造過去不可能的成就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325526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隱私保護：你的數據完全屬於你，無人可強取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96849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能力擴張：每個人都擁有「超級個人助手」的時代到來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87952" y="2651760"/>
            <a:ext cx="768096" cy="768096"/>
          </a:xfrm>
          <a:prstGeom prst="ellipse">
            <a:avLst/>
          </a:prstGeom>
          <a:solidFill>
            <a:srgbClr val="D4622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87952" y="2651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解方：自我主權身份 (Self-Sovereign Identity)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要避免被科技巨頭控制，每個人必須完全掌控自己的「數位數據身體」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657600" cy="3566160"/>
          </a:xfrm>
          <a:prstGeom prst="ellipse">
            <a:avLst/>
          </a:prstGeom>
          <a:solidFill>
            <a:srgbClr val="142240"/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你的數位身體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(Digital Data Body)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你的一切數位足跡——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健康紀錄、學習歷程、消費習慣、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社交關係、工作成果——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構成了你的「數位身體」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這個身體，只能屬於你。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06240" cy="1261872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88720"/>
            <a:ext cx="109728" cy="12618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1371600"/>
            <a:ext cx="640080" cy="640080"/>
          </a:xfrm>
          <a:prstGeom prst="ellipse">
            <a:avLst/>
          </a:prstGeom>
          <a:solidFill>
            <a:srgbClr val="D4A830">
              <a:alpha val="40000"/>
            </a:srgbClr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31673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絕對擁有權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66420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個人數據不儲存於單一企業的伺服器，而是歸屬於使用者。就像你的房產，屬於你，而非房東。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4206240" cy="1261872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542032"/>
            <a:ext cx="109728" cy="1261872"/>
          </a:xfrm>
          <a:prstGeom prst="rect">
            <a:avLst/>
          </a:prstGeom>
          <a:solidFill>
            <a:srgbClr val="4A9FD9"/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2724912"/>
            <a:ext cx="640080" cy="640080"/>
          </a:xfrm>
          <a:prstGeom prst="ellipse">
            <a:avLst/>
          </a:prstGeom>
          <a:solidFill>
            <a:srgbClr val="4A9FD9">
              <a:alpha val="40000"/>
            </a:srgbClr>
          </a:solidFill>
          <a:ln w="19050">
            <a:solidFill>
              <a:srgbClr val="4A9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267004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授權與撤銷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017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只有在你主動授權下，AI 才能讀取特徵數據。你可以隨時撤銷授權，就像更換門鎖。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895344"/>
            <a:ext cx="4206240" cy="1261872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895344"/>
            <a:ext cx="109728" cy="1261872"/>
          </a:xfrm>
          <a:prstGeom prst="rect">
            <a:avLst/>
          </a:prstGeom>
          <a:solidFill>
            <a:srgbClr val="3BAA8E"/>
          </a:solidFill>
          <a:ln w="12700">
            <a:solidFill>
              <a:srgbClr val="3BAA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4078224"/>
            <a:ext cx="640080" cy="640080"/>
          </a:xfrm>
          <a:prstGeom prst="ellipse">
            <a:avLst/>
          </a:prstGeom>
          <a:solidFill>
            <a:srgbClr val="3BAA8E">
              <a:alpha val="40000"/>
            </a:srgbClr>
          </a:solidFill>
          <a:ln w="19050">
            <a:solidFill>
              <a:srgbClr val="3BA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402336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捍衛尊嚴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437083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將治理重心從「企業經濟利益至上」轉移到「維護人類能動性與尊嚴」。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 軌道模型：保護邊界內的無限能量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代理人可以在外部世界收集資訊，但絕對無法在未經許可的情況下穿透你的主權核心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5840" y="1097280"/>
            <a:ext cx="4572000" cy="36576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2A4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554480"/>
            <a:ext cx="2926080" cy="2743200"/>
          </a:xfrm>
          <a:prstGeom prst="ellipse">
            <a:avLst/>
          </a:prstGeom>
          <a:solidFill>
            <a:srgbClr val="142240"/>
          </a:solidFill>
          <a:ln w="25400">
            <a:solidFill>
              <a:srgbClr val="D4A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2011680"/>
            <a:ext cx="1463040" cy="1828800"/>
          </a:xfrm>
          <a:prstGeom prst="ellipse">
            <a:avLst/>
          </a:prstGeom>
          <a:solidFill>
            <a:srgbClr val="D4622A">
              <a:alpha val="70000"/>
            </a:srgbClr>
          </a:solidFill>
          <a:ln w="254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0116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主權核心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(你)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2618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自我主權邊界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外部世界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4251960"/>
            <a:ext cx="594360" cy="384048"/>
          </a:xfrm>
          <a:prstGeom prst="ellipse">
            <a:avLst/>
          </a:prstGeom>
          <a:solidFill>
            <a:srgbClr val="223344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2519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動態閘門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代理人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外部數據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(醫療、企業)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834640" cy="91440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109728" cy="9144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61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主權核心（使用者）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你的深層價值觀、個人特徵、最私密的數據——只有你能存取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194560"/>
            <a:ext cx="2834640" cy="91440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194560"/>
            <a:ext cx="109728" cy="91440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自我主權邊界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動態閘門管控：你決定什麼數據能進出，AI 必須獲得授權才能存取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200400"/>
            <a:ext cx="2834640" cy="91440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3200400"/>
            <a:ext cx="109728" cy="914400"/>
          </a:xfrm>
          <a:prstGeom prst="rect">
            <a:avLst/>
          </a:prstGeom>
          <a:solidFill>
            <a:srgbClr val="4A9FD9"/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 代理人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在邊界外部運作，為你蒐集資訊、執行任務，但無法未經授權穿透核心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4206240"/>
            <a:ext cx="2834640" cy="91440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4206240"/>
            <a:ext cx="109728" cy="914400"/>
          </a:xfrm>
          <a:prstGeom prst="rect">
            <a:avLst/>
          </a:prstGeom>
          <a:solidFill>
            <a:srgbClr val="8BA3BC"/>
          </a:solidFill>
          <a:ln w="12700">
            <a:solidFill>
              <a:srgbClr val="8BA3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279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外部世界數據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醫療網絡、企業系統等外部資訊，只在授權情況下引入你的核心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信任是啟動 You2 的唯一燃料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去中心化治理不只是道德問題——它更是解鎖 Identic AI 巨大潛能的「功能性先決條件」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560320" y="1143000"/>
            <a:ext cx="4023360" cy="3657600"/>
          </a:xfrm>
          <a:prstGeom prst="ellipse">
            <a:avLst/>
          </a:prstGeom>
          <a:solidFill>
            <a:srgbClr val="0A1525"/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828800"/>
            <a:ext cx="2377440" cy="2286000"/>
          </a:xfrm>
          <a:prstGeom prst="ellipse">
            <a:avLst/>
          </a:prstGeom>
          <a:solidFill>
            <a:srgbClr val="14224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8288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信任是啟動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You2 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唯一燃料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2468880" cy="12801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88720"/>
            <a:ext cx="109728" cy="1280160"/>
          </a:xfrm>
          <a:prstGeom prst="rect">
            <a:avLst/>
          </a:prstGeom>
          <a:solidFill>
            <a:srgbClr val="4A9FD9"/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17320"/>
            <a:ext cx="594360" cy="594360"/>
          </a:xfrm>
          <a:prstGeom prst="ellipse">
            <a:avLst/>
          </a:prstGeom>
          <a:solidFill>
            <a:srgbClr val="4A9FD9">
              <a:alpha val="45000"/>
            </a:srgbClr>
          </a:solidFill>
          <a:ln w="19050">
            <a:solidFill>
              <a:srgbClr val="4A9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3167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確立自我主權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682496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用戶擁有 100% 數據控制權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468880" cy="12801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188720"/>
            <a:ext cx="109728" cy="12801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417320"/>
            <a:ext cx="594360" cy="594360"/>
          </a:xfrm>
          <a:prstGeom prst="ellipse">
            <a:avLst/>
          </a:prstGeom>
          <a:solidFill>
            <a:srgbClr val="D4A830">
              <a:alpha val="45000"/>
            </a:srgbClr>
          </a:solidFill>
          <a:ln w="19050">
            <a:solidFill>
              <a:srgbClr val="D4A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78040" y="13167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產生深度信任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1682496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用戶願意開放最私密的特徵數據給 AI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200400"/>
            <a:ext cx="2468880" cy="12801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200400"/>
            <a:ext cx="109728" cy="1280160"/>
          </a:xfrm>
          <a:prstGeom prst="rect">
            <a:avLst/>
          </a:prstGeom>
          <a:solidFill>
            <a:srgbClr val="3BAA8E"/>
          </a:solidFill>
          <a:ln w="12700">
            <a:solidFill>
              <a:srgbClr val="3BAA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3429000"/>
            <a:ext cx="594360" cy="594360"/>
          </a:xfrm>
          <a:prstGeom prst="ellipse">
            <a:avLst/>
          </a:prstGeom>
          <a:solidFill>
            <a:srgbClr val="3BAA8E">
              <a:alpha val="45000"/>
            </a:srgbClr>
          </a:solidFill>
          <a:ln w="19050">
            <a:solidFill>
              <a:srgbClr val="3BAA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3284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A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最高維度數據讀取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3694176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獲得無與倫比的高品質情境數據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3200400"/>
            <a:ext cx="2468880" cy="1280160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200400"/>
            <a:ext cx="109728" cy="128016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429000"/>
            <a:ext cx="594360" cy="594360"/>
          </a:xfrm>
          <a:prstGeom prst="ellipse">
            <a:avLst/>
          </a:prstGeom>
          <a:solidFill>
            <a:srgbClr val="D4622A">
              <a:alpha val="45000"/>
            </a:srgbClr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3284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指數級能力擴張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694176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產出最精準的專屬決策與行動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663440" y="3337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D4622A">
              <a:alpha val="25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核心邏輯：沒有信任 → 沒有數據 → 沒有個人化 → 沒有 You2 的飛躍。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3200400"/>
            <a:ext cx="1463040" cy="1463040"/>
          </a:xfrm>
          <a:prstGeom prst="ellipse">
            <a:avLst/>
          </a:prstGeom>
          <a:solidFill>
            <a:srgbClr val="142240"/>
          </a:solidFill>
          <a:ln w="31750">
            <a:solidFill>
              <a:srgbClr val="D4A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3200400"/>
            <a:ext cx="1463040" cy="1463040"/>
          </a:xfrm>
          <a:prstGeom prst="ellipse">
            <a:avLst/>
          </a:prstGeom>
          <a:solidFill>
            <a:srgbClr val="142240"/>
          </a:solidFill>
          <a:ln w="31750">
            <a:solidFill>
              <a:srgbClr val="D4A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880360"/>
            <a:ext cx="8229600" cy="45720"/>
          </a:xfrm>
          <a:prstGeom prst="rect">
            <a:avLst/>
          </a:prstGeom>
          <a:solidFill>
            <a:srgbClr val="D4A83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未來的劇本尚未寫定——它由我們共同創造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「在缺乏人工智慧的時代，我們依靠智慧；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在擁有 Identic AI 的時代，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人類的智慧與尊嚴，必須永遠是我們的指南針。」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Joseph Bradley &amp; Don Tapscott,《You To The Power Of Two》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773168"/>
            <a:ext cx="2743200" cy="347472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773168"/>
            <a:ext cx="109728" cy="347472"/>
          </a:xfrm>
          <a:prstGeom prst="rect">
            <a:avLst/>
          </a:prstGeom>
          <a:solidFill>
            <a:srgbClr val="4A9FD9"/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818888"/>
            <a:ext cx="274320" cy="274320"/>
          </a:xfrm>
          <a:prstGeom prst="ellipse">
            <a:avLst/>
          </a:prstGeom>
          <a:solidFill>
            <a:srgbClr val="4A9FD9">
              <a:alpha val="50000"/>
            </a:srgbClr>
          </a:solidFill>
          <a:ln w="12700">
            <a:solidFill>
              <a:srgbClr val="4A9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4800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正在從工具進化成夥伴——這是不可逆的典範轉移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4773168"/>
            <a:ext cx="2743200" cy="347472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4773168"/>
            <a:ext cx="109728" cy="3474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6432" y="4818888"/>
            <a:ext cx="274320" cy="274320"/>
          </a:xfrm>
          <a:prstGeom prst="ellipse">
            <a:avLst/>
          </a:prstGeom>
          <a:solidFill>
            <a:srgbClr val="D4A830">
              <a:alpha val="5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58768" y="4800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掌握自己的數據主權，是進入 You2 時代的入場券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4773168"/>
            <a:ext cx="2743200" cy="347472"/>
          </a:xfrm>
          <a:prstGeom prst="rect">
            <a:avLst/>
          </a:prstGeom>
          <a:solidFill>
            <a:srgbClr val="111D33"/>
          </a:solidFill>
          <a:ln w="12700">
            <a:solidFill>
              <a:srgbClr val="1E33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4773168"/>
            <a:ext cx="109728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4818888"/>
            <a:ext cx="274320" cy="274320"/>
          </a:xfrm>
          <a:prstGeom prst="ellipse">
            <a:avLst/>
          </a:prstGeom>
          <a:solidFill>
            <a:srgbClr val="D4622A">
              <a:alpha val="5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4800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信任是飛輪的燃料：治理對了，You2 的潛能無上限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You2 輕鬆版</dc:title>
  <dc:subject>PptxGenJS Presentation</dc:subject>
  <dc:creator>PptxGenJS</dc:creator>
  <cp:lastModifiedBy>PptxGenJS</cp:lastModifiedBy>
  <cp:revision>1</cp:revision>
  <dcterms:created xsi:type="dcterms:W3CDTF">2026-05-19T13:04:27Z</dcterms:created>
  <dcterms:modified xsi:type="dcterms:W3CDTF">2026-05-19T13:04:27Z</dcterms:modified>
</cp:coreProperties>
</file>