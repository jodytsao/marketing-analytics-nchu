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0"/>
          </a:xfrm>
          <a:prstGeom prst="rect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FE0B2"/>
          </a:solidFill>
          <a:ln w="12700">
            <a:solidFill>
              <a:srgbClr val="FFE0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開始做事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你準備好 </a:t>
            </a:r>
            <a:pPr algn="ctr" indent="0" marL="0">
              <a:buNone/>
            </a:pPr>
            <a:r>
              <a:rPr lang="en-US" sz="4200" b="1" dirty="0">
                <a:solidFill>
                  <a:srgbClr val="FFB3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管</a:t>
            </a:r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它了嗎？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1097280" y="1737360"/>
            <a:ext cx="6949440" cy="2651760"/>
          </a:xfrm>
          <a:prstGeom prst="rect">
            <a:avLst/>
          </a:prstGeom>
          <a:solidFill>
            <a:srgbClr val="FFFFFF"/>
          </a:solidFill>
          <a:ln w="19050">
            <a:solidFill>
              <a:srgbClr val="E0D8D0"/>
            </a:solidFill>
            <a:prstDash val="solid"/>
          </a:ln>
          <a:effectLst>
            <a:outerShdw sx="100000" sy="100000" kx="0" ky="0" algn="bl" rotWithShape="0" blurRad="101600" dist="25400" dir="8100000">
              <a:srgbClr val="B0A09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97280" y="1920240"/>
            <a:ext cx="6949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70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從「用 AI」到「管 AI」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97280" y="246888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企業 AI 治理時代正式來臨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292608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不只是工具，更是需要被管理的「夥伴」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474720" y="4526280"/>
            <a:ext cx="2194560" cy="347472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452628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Governance 2025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思維大轉變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6A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去年問「AI 能做什麼？」  ➜  今年問「誰來管 AI？」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3840480" cy="3703320"/>
          </a:xfrm>
          <a:prstGeom prst="rect">
            <a:avLst/>
          </a:prstGeom>
          <a:solidFill>
            <a:srgbClr val="FFFFFF"/>
          </a:solidFill>
          <a:ln w="19050">
            <a:solidFill>
              <a:srgbClr val="E0D8D0"/>
            </a:solidFill>
            <a:prstDash val="solid"/>
          </a:ln>
          <a:effectLst>
            <a:outerShdw sx="100000" sy="100000" kx="0" ky="0" algn="bl" rotWithShape="0" blurRad="101600" dist="25400" dir="8100000">
              <a:srgbClr val="B0A09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3840480" cy="457200"/>
          </a:xfrm>
          <a:prstGeom prst="rect">
            <a:avLst/>
          </a:prstGeom>
          <a:solidFill>
            <a:srgbClr val="607D8B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515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去年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11480" y="1600200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🤔  核心問題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057400" y="1600200"/>
            <a:ext cx="1965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能幫我做什麼？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075688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 AI 角色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057400" y="2075688"/>
            <a:ext cx="1965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任務助手、效率工具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2551176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 管理焦點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57400" y="2551176"/>
            <a:ext cx="1965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導入工具與應用場景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3026664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 流程狀態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057400" y="3026664"/>
            <a:ext cx="1965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在既有流程中加上 AI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3502152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 組織影響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057400" y="3502152"/>
            <a:ext cx="1965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局部優化、效率改善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" y="3977640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📣  管理者角色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057400" y="3977640"/>
            <a:ext cx="1965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推動 AI 應用與團隊採用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87952" y="2468880"/>
            <a:ext cx="7680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7043"/>
                </a:solidFill>
              </a:rPr>
              <a:t>➜</a:t>
            </a:r>
            <a:endParaRPr lang="en-US" sz="3400" dirty="0"/>
          </a:p>
        </p:txBody>
      </p:sp>
      <p:sp>
        <p:nvSpPr>
          <p:cNvPr id="21" name="Shape 19"/>
          <p:cNvSpPr/>
          <p:nvPr/>
        </p:nvSpPr>
        <p:spPr>
          <a:xfrm>
            <a:off x="5029200" y="1051560"/>
            <a:ext cx="3840480" cy="37033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7043"/>
            </a:solidFill>
            <a:prstDash val="solid"/>
          </a:ln>
          <a:effectLst>
            <a:outerShdw sx="100000" sy="100000" kx="0" ky="0" algn="bl" rotWithShape="0" blurRad="101600" dist="25400" dir="8100000">
              <a:srgbClr val="B0A09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29200" y="1051560"/>
            <a:ext cx="3840480" cy="457200"/>
          </a:xfrm>
          <a:prstGeom prst="rect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10515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今年 ★ 重點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166360" y="1600200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核心問題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12280" y="1600200"/>
            <a:ext cx="1965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哪些工作由人做？哪些交 AI？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166360" y="2075688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  AI 角色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12280" y="2075688"/>
            <a:ext cx="1965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決策參與者、行動協作者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166360" y="2551176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🏛️  管理焦點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12280" y="2551176"/>
            <a:ext cx="1965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 AI 治理機制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166360" y="3026664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流程狀態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812280" y="3026664"/>
            <a:ext cx="1965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重整流程、重新定義工作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166360" y="3502152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🏗️  組織影響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812280" y="3502152"/>
            <a:ext cx="1965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全面重構組織運作與分工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166360" y="3977640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🧭  管理者角色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812280" y="3977640"/>
            <a:ext cx="1965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設計人機協作、定義決策框架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核心問題：工作如何重新分配？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713232"/>
            <a:ext cx="2743200" cy="4069080"/>
          </a:xfrm>
          <a:prstGeom prst="rect">
            <a:avLst/>
          </a:prstGeom>
          <a:solidFill>
            <a:srgbClr val="E8F5E9"/>
          </a:solidFill>
          <a:ln w="25400">
            <a:solidFill>
              <a:srgbClr val="2C7865"/>
            </a:solidFill>
            <a:prstDash val="solid"/>
          </a:ln>
          <a:effectLst>
            <a:outerShdw sx="100000" sy="100000" kx="0" ky="0" algn="bl" rotWithShape="0" blurRad="101600" dist="25400" dir="8100000">
              <a:srgbClr val="B0A09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713232"/>
            <a:ext cx="2743200" cy="548640"/>
          </a:xfrm>
          <a:prstGeom prst="rect">
            <a:avLst/>
          </a:prstGeom>
          <a:solidFill>
            <a:srgbClr val="2C7865"/>
          </a:solidFill>
          <a:ln w="12700">
            <a:solidFill>
              <a:srgbClr val="2C786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713232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只有人能做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371600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創意發想與靈感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965960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複雜情境判斷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560320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同理心與關係建立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3154680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倫理與價值決策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3749040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跨域整合思考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172968" y="713232"/>
            <a:ext cx="2743200" cy="4069080"/>
          </a:xfrm>
          <a:prstGeom prst="rect">
            <a:avLst/>
          </a:prstGeom>
          <a:solidFill>
            <a:srgbClr val="E0F7FA"/>
          </a:solidFill>
          <a:ln w="25400">
            <a:solidFill>
              <a:srgbClr val="26A69A"/>
            </a:solidFill>
            <a:prstDash val="solid"/>
          </a:ln>
          <a:effectLst>
            <a:outerShdw sx="100000" sy="100000" kx="0" ky="0" algn="bl" rotWithShape="0" blurRad="101600" dist="25400" dir="8100000">
              <a:srgbClr val="B0A09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72968" y="713232"/>
            <a:ext cx="2743200" cy="548640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72968" y="713232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 人機協作最佳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10128" y="1371600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資料分析與洞察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10128" y="1965960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策略規劃草稿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10128" y="2560320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客戶溝通支援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10128" y="3154680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教育培訓設計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10128" y="3749040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品質審核把關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17336" y="713232"/>
            <a:ext cx="2743200" cy="4069080"/>
          </a:xfrm>
          <a:prstGeom prst="rect">
            <a:avLst/>
          </a:prstGeom>
          <a:solidFill>
            <a:srgbClr val="FFF3E0"/>
          </a:solidFill>
          <a:ln w="25400">
            <a:solidFill>
              <a:srgbClr val="FF7043"/>
            </a:solidFill>
            <a:prstDash val="solid"/>
          </a:ln>
          <a:effectLst>
            <a:outerShdw sx="100000" sy="100000" kx="0" ky="0" algn="bl" rotWithShape="0" blurRad="101600" dist="25400" dir="8100000">
              <a:srgbClr val="B0A09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17336" y="713232"/>
            <a:ext cx="2743200" cy="548640"/>
          </a:xfrm>
          <a:prstGeom prst="rect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17336" y="713232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AI 可以主導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54496" y="1371600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重複性文件處理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54496" y="1965960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資料收集與整理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54496" y="2560320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標準化報告生成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254496" y="3154680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排程與通知管理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54496" y="3749040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常見問題回覆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4800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7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思考：你的團隊現在做的事，哪些應該交給 AI？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建立 AI 治理機制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26A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管理焦點：誰負責 · 誰授權 · 誰把關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28600" y="1051560"/>
            <a:ext cx="2743200" cy="3657600"/>
          </a:xfrm>
          <a:prstGeom prst="rect">
            <a:avLst/>
          </a:prstGeom>
          <a:solidFill>
            <a:srgbClr val="FFF0F0"/>
          </a:solidFill>
          <a:ln w="25400">
            <a:solidFill>
              <a:srgbClr val="EF5350"/>
            </a:solidFill>
            <a:prstDash val="solid"/>
          </a:ln>
          <a:effectLst>
            <a:outerShdw sx="100000" sy="100000" kx="0" ky="0" algn="bl" rotWithShape="0" blurRad="101600" dist="25400" dir="8100000">
              <a:srgbClr val="B0A09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51560"/>
            <a:ext cx="2743200" cy="594360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05156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 誰負責？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38328" y="1737360"/>
            <a:ext cx="25237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明確指定每個 AI 應用的負責人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不能讓 AI 的輸出沒有人擔責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8328" y="2651760"/>
            <a:ext cx="25237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指定 AI 應用負責人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8328" y="3127248"/>
            <a:ext cx="25237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建立出錯追責流程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8328" y="3602736"/>
            <a:ext cx="25237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定義人機交接點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172968" y="1051560"/>
            <a:ext cx="2743200" cy="3657600"/>
          </a:xfrm>
          <a:prstGeom prst="rect">
            <a:avLst/>
          </a:prstGeom>
          <a:solidFill>
            <a:srgbClr val="FFF8EE"/>
          </a:solidFill>
          <a:ln w="25400">
            <a:solidFill>
              <a:srgbClr val="FF7043"/>
            </a:solidFill>
            <a:prstDash val="solid"/>
          </a:ln>
          <a:effectLst>
            <a:outerShdw sx="100000" sy="100000" kx="0" ky="0" algn="bl" rotWithShape="0" blurRad="101600" dist="25400" dir="8100000">
              <a:srgbClr val="B0A09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72968" y="1051560"/>
            <a:ext cx="2743200" cy="594360"/>
          </a:xfrm>
          <a:prstGeom prst="rect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72968" y="105156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🔑  誰授權？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282696" y="1737360"/>
            <a:ext cx="25237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決定 AI 可以做什麼、不能做什麼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授權範圍要明確，避免越權行為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82696" y="2651760"/>
            <a:ext cx="25237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定義 AI 操作權限邊界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82696" y="3127248"/>
            <a:ext cx="25237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分級授權管理制度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82696" y="3602736"/>
            <a:ext cx="25237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動態調整授權範圍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17336" y="1051560"/>
            <a:ext cx="2743200" cy="3657600"/>
          </a:xfrm>
          <a:prstGeom prst="rect">
            <a:avLst/>
          </a:prstGeom>
          <a:solidFill>
            <a:srgbClr val="F0FAFA"/>
          </a:solidFill>
          <a:ln w="25400">
            <a:solidFill>
              <a:srgbClr val="26A69A"/>
            </a:solidFill>
            <a:prstDash val="solid"/>
          </a:ln>
          <a:effectLst>
            <a:outerShdw sx="100000" sy="100000" kx="0" ky="0" algn="bl" rotWithShape="0" blurRad="101600" dist="25400" dir="8100000">
              <a:srgbClr val="B0A09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17336" y="1051560"/>
            <a:ext cx="2743200" cy="594360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17336" y="105156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 誰把關？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227064" y="1737360"/>
            <a:ext cx="25237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設計 AI 輸出的審核機制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關鍵決策必須有人工覆核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27064" y="2651760"/>
            <a:ext cx="25237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設立 AI 輸出審核流程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27064" y="3127248"/>
            <a:ext cx="25237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高風險決策人工覆核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27064" y="3602736"/>
            <a:ext cx="25237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定期績效與合規稽核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65760" y="477316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7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治理不是阻礙 AI，而是讓 AI 走得更遠、更穩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重整流程 × 重構組織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402336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5C6BC0"/>
            </a:solidFill>
            <a:prstDash val="solid"/>
          </a:ln>
          <a:effectLst>
            <a:outerShdw sx="100000" sy="100000" kx="0" ky="0" algn="bl" rotWithShape="0" blurRad="101600" dist="25400" dir="8100000">
              <a:srgbClr val="B0A09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685800"/>
            <a:ext cx="4023360" cy="457200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858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流程狀態革命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11480" y="1261872"/>
            <a:ext cx="3749040" cy="896112"/>
          </a:xfrm>
          <a:prstGeom prst="rect">
            <a:avLst/>
          </a:prstGeom>
          <a:solidFill>
            <a:srgbClr val="C5CAE9"/>
          </a:solidFill>
          <a:ln w="19050">
            <a:solidFill>
              <a:srgbClr val="607D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298448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去年做法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0352" y="1609344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在既有流程中加上 AI（AI 是插件）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2340864"/>
            <a:ext cx="3749040" cy="896112"/>
          </a:xfrm>
          <a:prstGeom prst="rect">
            <a:avLst/>
          </a:prstGeom>
          <a:solidFill>
            <a:srgbClr val="B2DFDB"/>
          </a:solidFill>
          <a:ln w="19050">
            <a:solidFill>
              <a:srgbClr val="26A6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2377440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A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今年方向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0352" y="2688336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重整流程，重新定義工作方式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" y="3419856"/>
            <a:ext cx="3749040" cy="896112"/>
          </a:xfrm>
          <a:prstGeom prst="rect">
            <a:avLst/>
          </a:prstGeom>
          <a:solidFill>
            <a:srgbClr val="FFE0B2"/>
          </a:solidFill>
          <a:ln w="19050">
            <a:solidFill>
              <a:srgbClr val="FF704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345643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7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實際意義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0352" y="3767328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從「補丁思維」升級到「原生 AI」設計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685800"/>
            <a:ext cx="402336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FF7043"/>
            </a:solidFill>
            <a:prstDash val="solid"/>
          </a:ln>
          <a:effectLst>
            <a:outerShdw sx="100000" sy="100000" kx="0" ky="0" algn="bl" rotWithShape="0" blurRad="101600" dist="25400" dir="8100000">
              <a:srgbClr val="B0A09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685800"/>
            <a:ext cx="4023360" cy="457200"/>
          </a:xfrm>
          <a:prstGeom prst="rect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6858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🏗️ 組織影響層級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983480" y="1261872"/>
            <a:ext cx="3749040" cy="896112"/>
          </a:xfrm>
          <a:prstGeom prst="rect">
            <a:avLst/>
          </a:prstGeom>
          <a:solidFill>
            <a:srgbClr val="E8F5E9"/>
          </a:solidFill>
          <a:ln w="19050">
            <a:solidFill>
              <a:srgbClr val="2C786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83480" y="1261872"/>
            <a:ext cx="804672" cy="896112"/>
          </a:xfrm>
          <a:prstGeom prst="rect">
            <a:avLst/>
          </a:prstGeom>
          <a:solidFill>
            <a:srgbClr val="2C7865"/>
          </a:solidFill>
          <a:ln w="12700">
            <a:solidFill>
              <a:srgbClr val="2C786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1261872"/>
            <a:ext cx="80467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870448" y="1280160"/>
            <a:ext cx="274320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個人效率提升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（AI 幫個人完成任務）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983480" y="2340864"/>
            <a:ext cx="3749040" cy="896112"/>
          </a:xfrm>
          <a:prstGeom prst="rect">
            <a:avLst/>
          </a:prstGeom>
          <a:solidFill>
            <a:srgbClr val="FFF3E0"/>
          </a:solidFill>
          <a:ln w="19050">
            <a:solidFill>
              <a:srgbClr val="FF704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83480" y="2340864"/>
            <a:ext cx="804672" cy="896112"/>
          </a:xfrm>
          <a:prstGeom prst="rect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3480" y="2340864"/>
            <a:ext cx="80467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2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870448" y="2359152"/>
            <a:ext cx="274320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團隊協作優化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（AI 串聯跨部門工作流）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983480" y="3419856"/>
            <a:ext cx="3749040" cy="896112"/>
          </a:xfrm>
          <a:prstGeom prst="rect">
            <a:avLst/>
          </a:prstGeom>
          <a:solidFill>
            <a:srgbClr val="FFF0F0"/>
          </a:solidFill>
          <a:ln w="19050">
            <a:solidFill>
              <a:srgbClr val="EF535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83480" y="3419856"/>
            <a:ext cx="804672" cy="896112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83480" y="3419856"/>
            <a:ext cx="80467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3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870448" y="3438144"/>
            <a:ext cx="274320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組織全面重構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（AI 重新定義分工模式）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65760" y="477316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C6B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今年目標：直接從 Level 3 思考，不走回頭路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747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管理者的新角色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6A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從「推動 AI 採用」升級到「設計人機協作系統」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365760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E0D8D0"/>
            </a:solidFill>
            <a:prstDash val="solid"/>
          </a:ln>
          <a:effectLst>
            <a:outerShdw sx="100000" sy="100000" kx="0" ky="0" algn="bl" rotWithShape="0" blurRad="101600" dist="25400" dir="8100000">
              <a:srgbClr val="B0A09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3657600" cy="475488"/>
          </a:xfrm>
          <a:prstGeom prst="rect">
            <a:avLst/>
          </a:prstGeom>
          <a:solidFill>
            <a:srgbClr val="607D8B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51560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去年的管理者角色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11480" y="1664208"/>
            <a:ext cx="3383280" cy="548640"/>
          </a:xfrm>
          <a:prstGeom prst="rect">
            <a:avLst/>
          </a:prstGeom>
          <a:solidFill>
            <a:srgbClr val="F5F5F5"/>
          </a:solidFill>
          <a:ln w="12700">
            <a:solidFill>
              <a:srgbClr val="E0D8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664208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推動 AI 工具採用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2350008"/>
            <a:ext cx="3383280" cy="548640"/>
          </a:xfrm>
          <a:prstGeom prst="rect">
            <a:avLst/>
          </a:prstGeom>
          <a:solidFill>
            <a:srgbClr val="F5F5F5"/>
          </a:solidFill>
          <a:ln w="12700">
            <a:solidFill>
              <a:srgbClr val="E0D8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350008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幫團隊克服 AI 使用障礙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1480" y="3035808"/>
            <a:ext cx="3383280" cy="548640"/>
          </a:xfrm>
          <a:prstGeom prst="rect">
            <a:avLst/>
          </a:prstGeom>
          <a:solidFill>
            <a:srgbClr val="F5F5F5"/>
          </a:solidFill>
          <a:ln w="12700">
            <a:solidFill>
              <a:srgbClr val="E0D8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035808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選擇合適的 AI 工具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11480" y="3721608"/>
            <a:ext cx="3383280" cy="548640"/>
          </a:xfrm>
          <a:prstGeom prst="rect">
            <a:avLst/>
          </a:prstGeom>
          <a:solidFill>
            <a:srgbClr val="F5F5F5"/>
          </a:solidFill>
          <a:ln w="12700">
            <a:solidFill>
              <a:srgbClr val="E0D8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721608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監控效率指標改善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023360" y="256032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7043"/>
                </a:solidFill>
              </a:rPr>
              <a:t>⟹</a:t>
            </a:r>
            <a:endParaRPr lang="en-US" sz="4000" dirty="0"/>
          </a:p>
        </p:txBody>
      </p:sp>
      <p:sp>
        <p:nvSpPr>
          <p:cNvPr id="17" name="Shape 15"/>
          <p:cNvSpPr/>
          <p:nvPr/>
        </p:nvSpPr>
        <p:spPr>
          <a:xfrm>
            <a:off x="5212080" y="1051560"/>
            <a:ext cx="365760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FFB300"/>
            </a:solidFill>
            <a:prstDash val="solid"/>
          </a:ln>
          <a:effectLst>
            <a:outerShdw sx="100000" sy="100000" kx="0" ky="0" algn="bl" rotWithShape="0" blurRad="101600" dist="25400" dir="8100000">
              <a:srgbClr val="B0A09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212080" y="1051560"/>
            <a:ext cx="3657600" cy="47548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0" y="1051560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今年的管理者角色 ★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349240" y="1664208"/>
            <a:ext cx="3383280" cy="548640"/>
          </a:xfrm>
          <a:prstGeom prst="rect">
            <a:avLst/>
          </a:prstGeom>
          <a:solidFill>
            <a:srgbClr val="FFFDE7"/>
          </a:solidFill>
          <a:ln w="19050">
            <a:solidFill>
              <a:srgbClr val="FF704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40680" y="1664208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設計人機協作模式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349240" y="2350008"/>
            <a:ext cx="3383280" cy="548640"/>
          </a:xfrm>
          <a:prstGeom prst="rect">
            <a:avLst/>
          </a:prstGeom>
          <a:solidFill>
            <a:srgbClr val="FFFDE7"/>
          </a:solidFill>
          <a:ln w="19050">
            <a:solidFill>
              <a:srgbClr val="26A6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40680" y="2350008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A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定義問題與決策框架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349240" y="3035808"/>
            <a:ext cx="3383280" cy="548640"/>
          </a:xfrm>
          <a:prstGeom prst="rect">
            <a:avLst/>
          </a:prstGeom>
          <a:solidFill>
            <a:srgbClr val="FFFDE7"/>
          </a:solidFill>
          <a:ln w="19050">
            <a:solidFill>
              <a:srgbClr val="5C6B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40680" y="3035808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6B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建立 AI 治理規範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349240" y="3721608"/>
            <a:ext cx="3383280" cy="548640"/>
          </a:xfrm>
          <a:prstGeom prst="rect">
            <a:avLst/>
          </a:prstGeom>
          <a:solidFill>
            <a:srgbClr val="FFFDE7"/>
          </a:solidFill>
          <a:ln w="19050">
            <a:solidFill>
              <a:srgbClr val="2C786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40680" y="3721608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78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培育 AI 時代新能力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74320" y="47548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7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🔑 關鍵：不是會用 AI，而是懂得設計「人＋AI」的最佳組合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你準備好了嗎？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6A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治理的三步行動清單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2724912" cy="3474720"/>
          </a:xfrm>
          <a:prstGeom prst="rect">
            <a:avLst/>
          </a:prstGeom>
          <a:solidFill>
            <a:srgbClr val="E0F7FA"/>
          </a:solidFill>
          <a:ln w="25400">
            <a:solidFill>
              <a:srgbClr val="26A69A"/>
            </a:solidFill>
            <a:prstDash val="solid"/>
          </a:ln>
          <a:effectLst>
            <a:outerShdw sx="100000" sy="100000" kx="0" ky="0" algn="bl" rotWithShape="0" blurRad="101600" dist="25400" dir="8100000">
              <a:srgbClr val="B0A09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16736" y="960120"/>
            <a:ext cx="640080" cy="640080"/>
          </a:xfrm>
          <a:prstGeom prst="ellipse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16736" y="960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1664208"/>
            <a:ext cx="27249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6A6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盤點工作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02336" y="2240280"/>
            <a:ext cx="246888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列出團隊所有工作任務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標記哪些應由人主導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哪些可交 AI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182112" y="1143000"/>
            <a:ext cx="2724912" cy="3474720"/>
          </a:xfrm>
          <a:prstGeom prst="rect">
            <a:avLst/>
          </a:prstGeom>
          <a:solidFill>
            <a:srgbClr val="FFF3E0"/>
          </a:solidFill>
          <a:ln w="25400">
            <a:solidFill>
              <a:srgbClr val="FF7043"/>
            </a:solidFill>
            <a:prstDash val="solid"/>
          </a:ln>
          <a:effectLst>
            <a:outerShdw sx="100000" sy="100000" kx="0" ky="0" algn="bl" rotWithShape="0" blurRad="101600" dist="25400" dir="8100000">
              <a:srgbClr val="B0A09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24528" y="960120"/>
            <a:ext cx="640080" cy="640080"/>
          </a:xfrm>
          <a:prstGeom prst="ellipse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24528" y="960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182112" y="1664208"/>
            <a:ext cx="27249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70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建立治理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310128" y="2240280"/>
            <a:ext cx="246888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為每個 AI 應用指定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負責人、授權範圍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與把關機制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89904" y="1143000"/>
            <a:ext cx="2724912" cy="3474720"/>
          </a:xfrm>
          <a:prstGeom prst="rect">
            <a:avLst/>
          </a:prstGeom>
          <a:solidFill>
            <a:srgbClr val="EDE7F6"/>
          </a:solidFill>
          <a:ln w="25400">
            <a:solidFill>
              <a:srgbClr val="5C6BC0"/>
            </a:solidFill>
            <a:prstDash val="solid"/>
          </a:ln>
          <a:effectLst>
            <a:outerShdw sx="100000" sy="100000" kx="0" ky="0" algn="bl" rotWithShape="0" blurRad="101600" dist="25400" dir="8100000">
              <a:srgbClr val="B0A09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132320" y="960120"/>
            <a:ext cx="640080" cy="640080"/>
          </a:xfrm>
          <a:prstGeom prst="ellipse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0" y="960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089904" y="1664208"/>
            <a:ext cx="27249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C6B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重設角色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217920" y="2240280"/>
            <a:ext cx="246888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以「設計師」而非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「使用者」的視角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規劃人機協作新模式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5760" y="473659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7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開始做事的時代已來。領導者的工作，是讓 AI 做對的事。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實戰案例：DineMind 餐廳 AI 治理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92240" y="91440"/>
            <a:ext cx="2468880" cy="347472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0" y="9144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M1–M7 × RRM 七層治理架構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6032" y="594360"/>
            <a:ext cx="8631936" cy="475488"/>
          </a:xfrm>
          <a:prstGeom prst="rect">
            <a:avLst/>
          </a:prstGeom>
          <a:solidFill>
            <a:srgbClr val="E0F7FA"/>
          </a:solidFill>
          <a:ln w="19050">
            <a:solidFill>
              <a:srgbClr val="26A69A"/>
            </a:solidFill>
            <a:prstDash val="solid"/>
          </a:ln>
          <a:effectLst>
            <a:outerShdw sx="100000" sy="100000" kx="0" ky="0" algn="bl" rotWithShape="0" blurRad="101600" dist="25400" dir="8100000">
              <a:srgbClr val="B0A09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56032" y="594360"/>
            <a:ext cx="86319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0060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「RRM 告訴你現在發生了什麼，Agent 決定該做什麼。」— DineMind 設計哲學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56032" y="1170432"/>
            <a:ext cx="2743200" cy="1234440"/>
          </a:xfrm>
          <a:prstGeom prst="rect">
            <a:avLst/>
          </a:prstGeom>
          <a:solidFill>
            <a:srgbClr val="FFF0F0"/>
          </a:solidFill>
          <a:ln w="22860">
            <a:solidFill>
              <a:srgbClr val="EF5350"/>
            </a:solidFill>
            <a:prstDash val="solid"/>
          </a:ln>
          <a:effectLst>
            <a:outerShdw sx="100000" sy="100000" kx="0" ky="0" algn="bl" rotWithShape="0" blurRad="101600" dist="25400" dir="8100000">
              <a:srgbClr val="B0A09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1170432"/>
            <a:ext cx="2743200" cy="384048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" y="117043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誰負責？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7472" y="1609344"/>
            <a:ext cx="2560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5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M7 審計層</a:t>
            </a:r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完整記錄每次 AI 決策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含 RRM 注入值（revpash_level 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menu_category），決策路徑可追溯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0" y="1170432"/>
            <a:ext cx="2743200" cy="1234440"/>
          </a:xfrm>
          <a:prstGeom prst="rect">
            <a:avLst/>
          </a:prstGeom>
          <a:solidFill>
            <a:srgbClr val="FFF8EE"/>
          </a:solidFill>
          <a:ln w="22860">
            <a:solidFill>
              <a:srgbClr val="FF7043"/>
            </a:solidFill>
            <a:prstDash val="solid"/>
          </a:ln>
          <a:effectLst>
            <a:outerShdw sx="100000" sy="100000" kx="0" ky="0" algn="bl" rotWithShape="0" blurRad="101600" dist="25400" dir="8100000">
              <a:srgbClr val="B0A09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170432"/>
            <a:ext cx="2743200" cy="384048"/>
          </a:xfrm>
          <a:prstGeom prst="rect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117043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🔑 誰授權？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91840" y="1609344"/>
            <a:ext cx="2560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7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Toggle</a:t>
            </a:r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每個 AI 行為獨立開關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rrm_enabled / rrm_menu_engineering_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enabled 逐步授權，隨時可關閉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44768" y="1170432"/>
            <a:ext cx="2743200" cy="1234440"/>
          </a:xfrm>
          <a:prstGeom prst="rect">
            <a:avLst/>
          </a:prstGeom>
          <a:solidFill>
            <a:srgbClr val="F0FAFA"/>
          </a:solidFill>
          <a:ln w="22860">
            <a:solidFill>
              <a:srgbClr val="26A69A"/>
            </a:solidFill>
            <a:prstDash val="solid"/>
          </a:ln>
          <a:effectLst>
            <a:outerShdw sx="100000" sy="100000" kx="0" ky="0" algn="bl" rotWithShape="0" blurRad="101600" dist="25400" dir="8100000">
              <a:srgbClr val="B0A09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44768" y="1170432"/>
            <a:ext cx="2743200" cy="384048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44768" y="117043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誰把關？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36208" y="1609344"/>
            <a:ext cx="2560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60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三階段監督式 LLM</a:t>
            </a:r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Stage1 分析 → Stage2 批判審查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SupervisionGate → Stage3 執行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 Rule Engine 最終護欄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6032" y="2487168"/>
            <a:ext cx="86319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AI 如何重整餐廳流程（四大 RRM 指標 × Agent 行動）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6032" y="2825496"/>
            <a:ext cx="1993392" cy="1353312"/>
          </a:xfrm>
          <a:prstGeom prst="rect">
            <a:avLst/>
          </a:prstGeom>
          <a:solidFill>
            <a:srgbClr val="E8F5E9"/>
          </a:solidFill>
          <a:ln w="19050">
            <a:solidFill>
              <a:srgbClr val="2C7865"/>
            </a:solidFill>
            <a:prstDash val="solid"/>
          </a:ln>
          <a:effectLst>
            <a:outerShdw sx="100000" sy="100000" kx="0" ky="0" algn="bl" rotWithShape="0" blurRad="101600" dist="25400" dir="8100000">
              <a:srgbClr val="B0A09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56032" y="2843784"/>
            <a:ext cx="1993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78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RevPASH 水位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56032" y="3163824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座位時段收益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56032" y="3401568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7865"/>
                </a:solidFill>
              </a:rPr>
              <a:t>↓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65760" y="3584448"/>
            <a:ext cx="1773936" cy="530352"/>
          </a:xfrm>
          <a:prstGeom prst="rect">
            <a:avLst/>
          </a:prstGeom>
          <a:solidFill>
            <a:srgbClr val="2C7865"/>
          </a:solidFill>
          <a:ln w="12700">
            <a:solidFill>
              <a:srgbClr val="2C786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584448"/>
            <a:ext cx="17739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 菜單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離峰推高毛利品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249424" y="2999232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07D8B"/>
                </a:solidFill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2432304" y="2825496"/>
            <a:ext cx="1993392" cy="1353312"/>
          </a:xfrm>
          <a:prstGeom prst="rect">
            <a:avLst/>
          </a:prstGeom>
          <a:solidFill>
            <a:srgbClr val="EDE7F6"/>
          </a:solidFill>
          <a:ln w="19050">
            <a:solidFill>
              <a:srgbClr val="5C6BC0"/>
            </a:solidFill>
            <a:prstDash val="solid"/>
          </a:ln>
          <a:effectLst>
            <a:outerShdw sx="100000" sy="100000" kx="0" ky="0" algn="bl" rotWithShape="0" blurRad="101600" dist="25400" dir="8100000">
              <a:srgbClr val="B0A09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432304" y="2843784"/>
            <a:ext cx="1993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6B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 Boston Matrix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432304" y="3163824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菜色毛利×人氣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432304" y="3401568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C6BC0"/>
                </a:solidFill>
              </a:rPr>
              <a:t>↓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2542032" y="3584448"/>
            <a:ext cx="1773936" cy="530352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42032" y="3584448"/>
            <a:ext cx="17739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 排序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Star+5 Dog−8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425696" y="2999232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07D8B"/>
                </a:solidFill>
              </a:rPr>
              <a:t>→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608576" y="2825496"/>
            <a:ext cx="1993392" cy="1353312"/>
          </a:xfrm>
          <a:prstGeom prst="rect">
            <a:avLst/>
          </a:prstGeom>
          <a:solidFill>
            <a:srgbClr val="FEF3C7"/>
          </a:solidFill>
          <a:ln w="19050">
            <a:solidFill>
              <a:srgbClr val="B45309"/>
            </a:solidFill>
            <a:prstDash val="solid"/>
          </a:ln>
          <a:effectLst>
            <a:outerShdw sx="100000" sy="100000" kx="0" ky="0" algn="bl" rotWithShape="0" blurRad="101600" dist="25400" dir="8100000">
              <a:srgbClr val="B0A090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608576" y="2843784"/>
            <a:ext cx="1993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爽約率分析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608576" y="3163824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&gt;20% 高風險時段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608576" y="3401568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309"/>
                </a:solidFill>
              </a:rPr>
              <a:t>↓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718304" y="3584448"/>
            <a:ext cx="1773936" cy="53035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18304" y="3584448"/>
            <a:ext cx="17739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提醒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自動提前+1小時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601968" y="2999232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07D8B"/>
                </a:solidFill>
              </a:rPr>
              <a:t>→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6784848" y="2825496"/>
            <a:ext cx="1993392" cy="1353312"/>
          </a:xfrm>
          <a:prstGeom prst="rect">
            <a:avLst/>
          </a:prstGeom>
          <a:solidFill>
            <a:srgbClr val="FFF3E0"/>
          </a:solidFill>
          <a:ln w="19050">
            <a:solidFill>
              <a:srgbClr val="FF7043"/>
            </a:solidFill>
            <a:prstDash val="solid"/>
          </a:ln>
          <a:effectLst>
            <a:outerShdw sx="100000" sy="100000" kx="0" ky="0" algn="bl" rotWithShape="0" blurRad="101600" dist="25400" dir="8100000">
              <a:srgbClr val="B0A090">
                <a:alpha val="1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784848" y="2843784"/>
            <a:ext cx="1993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7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  座位周轉 p50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784848" y="3163824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動態用餐時長預測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784848" y="3401568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7043"/>
                </a:solidFill>
              </a:rPr>
              <a:t>↓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894576" y="3584448"/>
            <a:ext cx="1773936" cy="530352"/>
          </a:xfrm>
          <a:prstGeom prst="rect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94576" y="3584448"/>
            <a:ext cx="17739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通知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動態候位時間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56032" y="4206240"/>
            <a:ext cx="4224528" cy="822960"/>
          </a:xfrm>
          <a:prstGeom prst="rect">
            <a:avLst/>
          </a:prstGeom>
          <a:solidFill>
            <a:srgbClr val="E8F5E9"/>
          </a:solidFill>
          <a:ln w="19050">
            <a:solidFill>
              <a:srgbClr val="2C7865"/>
            </a:solidFill>
            <a:prstDash val="solid"/>
          </a:ln>
          <a:effectLst>
            <a:outerShdw sx="100000" sy="100000" kx="0" ky="0" algn="bl" rotWithShape="0" blurRad="101600" dist="25400" dir="8100000">
              <a:srgbClr val="B0A090">
                <a:alpha val="18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347472" y="423367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78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🏗️ 組織影響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347472" y="4507992"/>
            <a:ext cx="40416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全面重整餐廳流程：訂位提醒、候位通知、菜單排序全數升級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從「靜態人工設定」→「RRM 數據驅動的動態決策」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663440" y="4206240"/>
            <a:ext cx="4224528" cy="822960"/>
          </a:xfrm>
          <a:prstGeom prst="rect">
            <a:avLst/>
          </a:prstGeom>
          <a:solidFill>
            <a:srgbClr val="FFFDE7"/>
          </a:solidFill>
          <a:ln w="19050">
            <a:solidFill>
              <a:srgbClr val="FFB300"/>
            </a:solidFill>
            <a:prstDash val="solid"/>
          </a:ln>
          <a:effectLst>
            <a:outerShdw sx="100000" sy="100000" kx="0" ky="0" algn="bl" rotWithShape="0" blurRad="101600" dist="25400" dir="8100000">
              <a:srgbClr val="B0A090">
                <a:alpha val="18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4754880" y="423367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🧭 管理者角色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754880" y="4507992"/>
            <a:ext cx="40416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店主透過 Feature Toggle 設計人機協作邊界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「rrm_enabled = True/False」= 決定 AI 在哪裡做主，哪裡交給人判斷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實戰案例：AIDC 電商平台 AI 治理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92240" y="91440"/>
            <a:ext cx="2468880" cy="347472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0" y="9144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AIDC × WooCommerce × ECRM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6032" y="594360"/>
            <a:ext cx="8631936" cy="438912"/>
          </a:xfrm>
          <a:prstGeom prst="rect">
            <a:avLst/>
          </a:prstGeom>
          <a:solidFill>
            <a:srgbClr val="EDE7F6"/>
          </a:solidFill>
          <a:ln w="19050">
            <a:solidFill>
              <a:srgbClr val="5C6BC0"/>
            </a:solidFill>
            <a:prstDash val="solid"/>
          </a:ln>
          <a:effectLst>
            <a:outerShdw sx="100000" sy="100000" kx="0" ky="0" algn="bl" rotWithShape="0" blurRad="101600" dist="25400" dir="8100000">
              <a:srgbClr val="B0A09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56032" y="594360"/>
            <a:ext cx="86319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「讓 AI 可以大膽提案，但規則確保它不能越權執行。」— AIDC 電商 Agent 設計哲學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56032" y="1097280"/>
            <a:ext cx="2743200" cy="2788920"/>
          </a:xfrm>
          <a:prstGeom prst="rect">
            <a:avLst/>
          </a:prstGeom>
          <a:solidFill>
            <a:srgbClr val="FFF0F0"/>
          </a:solidFill>
          <a:ln w="22860">
            <a:solidFill>
              <a:srgbClr val="EF5350"/>
            </a:solidFill>
            <a:prstDash val="solid"/>
          </a:ln>
          <a:effectLst>
            <a:outerShdw sx="100000" sy="100000" kx="0" ky="0" algn="bl" rotWithShape="0" blurRad="101600" dist="25400" dir="8100000">
              <a:srgbClr val="B0A09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1097280"/>
            <a:ext cx="2743200" cy="438912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" y="109728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🆘  挽回型 Agent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56032" y="1536192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F5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 Abandonment Recovery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47472" y="178308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偵測棄購行為，建立 WC Coupon（ECRM-XXXXXX），觸發 LINE Push 挽回潛在流失訂單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47472" y="2523744"/>
            <a:ext cx="2560320" cy="201168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2523744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觸發：棄購率 &gt; 閾值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7472" y="2734056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5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WC Coupons API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EF5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LINE B2C 推播折扣碼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108960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開關：ecrm_cart_recovery_enabled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182112" y="1097280"/>
            <a:ext cx="2743200" cy="2788920"/>
          </a:xfrm>
          <a:prstGeom prst="rect">
            <a:avLst/>
          </a:prstGeom>
          <a:solidFill>
            <a:srgbClr val="EDE7F6"/>
          </a:solidFill>
          <a:ln w="22860">
            <a:solidFill>
              <a:srgbClr val="5C6BC0"/>
            </a:solidFill>
            <a:prstDash val="solid"/>
          </a:ln>
          <a:effectLst>
            <a:outerShdw sx="100000" sy="100000" kx="0" ky="0" algn="bl" rotWithShape="0" blurRad="101600" dist="25400" dir="8100000">
              <a:srgbClr val="B0A09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182112" y="1097280"/>
            <a:ext cx="2743200" cy="438912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82112" y="109728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  推薦型 Agent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182112" y="1536192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Recommendation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73552" y="178308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CLV 分群 × demand_ratio 需求倍率 × SKU 組合優化 × 安全庫存 Reorder Point 預警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73552" y="2523744"/>
            <a:ext cx="2560320" cy="201168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73552" y="2523744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觸發：demand_ratio &gt; 1.3  或定期 CLV 分群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73552" y="2734056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C6B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高價值顧客推薦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5C6B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B2E 補貨警示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73552" y="3108960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開關：ecrm_personalized_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recommendation_enabled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108192" y="1097280"/>
            <a:ext cx="2743200" cy="2788920"/>
          </a:xfrm>
          <a:prstGeom prst="rect">
            <a:avLst/>
          </a:prstGeom>
          <a:solidFill>
            <a:srgbClr val="E8F5E9"/>
          </a:solidFill>
          <a:ln w="22860">
            <a:solidFill>
              <a:srgbClr val="2C7865"/>
            </a:solidFill>
            <a:prstDash val="solid"/>
          </a:ln>
          <a:effectLst>
            <a:outerShdw sx="100000" sy="100000" kx="0" ky="0" algn="bl" rotWithShape="0" blurRad="101600" dist="25400" dir="8100000">
              <a:srgbClr val="B0A09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08192" y="1097280"/>
            <a:ext cx="2743200" cy="438912"/>
          </a:xfrm>
          <a:prstGeom prst="rect">
            <a:avLst/>
          </a:prstGeom>
          <a:solidFill>
            <a:srgbClr val="2C7865"/>
          </a:solidFill>
          <a:ln w="12700">
            <a:solidFill>
              <a:srgbClr val="2C786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08192" y="109728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🔮  預測型 Agent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108192" y="1536192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2C78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Forecasting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199632" y="178308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天加權移動平均（WMA）× 農曆節慶乘數（×1.8/×1.4/×1.3）× 庫存危機三級分類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199632" y="2523744"/>
            <a:ext cx="2560320" cy="201168"/>
          </a:xfrm>
          <a:prstGeom prst="rect">
            <a:avLst/>
          </a:prstGeom>
          <a:solidFill>
            <a:srgbClr val="2C7865"/>
          </a:solidFill>
          <a:ln w="12700">
            <a:solidFill>
              <a:srgbClr val="2C786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99632" y="2523744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觸發：stock_status = critical  節慶前 N 天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199632" y="2734056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78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備貨提醒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C78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B2E 緊急警報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99632" y="3108960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開關：ecrm_demand_alert_enabled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56032" y="3950208"/>
            <a:ext cx="8631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AI 治理三問 × AIDC 電商實作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56032" y="4224528"/>
            <a:ext cx="2743200" cy="822960"/>
          </a:xfrm>
          <a:prstGeom prst="rect">
            <a:avLst/>
          </a:prstGeom>
          <a:solidFill>
            <a:srgbClr val="FFF0F0"/>
          </a:solidFill>
          <a:ln w="19050">
            <a:solidFill>
              <a:srgbClr val="EF5350"/>
            </a:solidFill>
            <a:prstDash val="solid"/>
          </a:ln>
          <a:effectLst>
            <a:outerShdw sx="100000" sy="100000" kx="0" ky="0" algn="bl" rotWithShape="0" blurRad="101600" dist="25400" dir="8100000">
              <a:srgbClr val="B0A090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347472" y="42519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5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誰負責？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47472" y="4480560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M7 審計層 記錄每次三階段 LLM 決策路徑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租戶 ID 隔離，SaaS 合規可追溯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182112" y="4224528"/>
            <a:ext cx="2743200" cy="822960"/>
          </a:xfrm>
          <a:prstGeom prst="rect">
            <a:avLst/>
          </a:prstGeom>
          <a:solidFill>
            <a:srgbClr val="FFF3E0"/>
          </a:solidFill>
          <a:ln w="19050">
            <a:solidFill>
              <a:srgbClr val="FF7043"/>
            </a:solidFill>
            <a:prstDash val="solid"/>
          </a:ln>
          <a:effectLst>
            <a:outerShdw sx="100000" sy="100000" kx="0" ky="0" algn="bl" rotWithShape="0" blurRad="101600" dist="25400" dir="8100000">
              <a:srgbClr val="B0A090">
                <a:alpha val="1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3273552" y="42519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🔑 誰授權？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273552" y="4480560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個 Feature Toggle 逐功能授權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每個電商租戶獨立開關組合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108192" y="4224528"/>
            <a:ext cx="2743200" cy="822960"/>
          </a:xfrm>
          <a:prstGeom prst="rect">
            <a:avLst/>
          </a:prstGeom>
          <a:solidFill>
            <a:srgbClr val="E0F7FA"/>
          </a:solidFill>
          <a:ln w="19050">
            <a:solidFill>
              <a:srgbClr val="26A69A"/>
            </a:solidFill>
            <a:prstDash val="solid"/>
          </a:ln>
          <a:effectLst>
            <a:outerShdw sx="100000" sy="100000" kx="0" ky="0" algn="bl" rotWithShape="0" blurRad="101600" dist="25400" dir="8100000">
              <a:srgbClr val="B0A090">
                <a:alpha val="1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199632" y="42519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A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誰把關？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199632" y="4480560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 Rule Engine 確定性護欄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折扣上限驗證 + SupervisionGate 攔截高風險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"/>
            <a:ext cx="6583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747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理論視角：用 Kahneman 雙系統解讀 AI 治理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949440" y="7315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i="1" dirty="0">
                <a:solidFill>
                  <a:srgbClr val="5D4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Thinking, Fast and Slow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949440" y="27432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D6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Daniel Kahneman, 2011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6032" y="594360"/>
            <a:ext cx="4133088" cy="1508760"/>
          </a:xfrm>
          <a:prstGeom prst="rect">
            <a:avLst/>
          </a:prstGeom>
          <a:solidFill>
            <a:srgbClr val="FFF3E0"/>
          </a:solidFill>
          <a:ln w="25400">
            <a:solidFill>
              <a:srgbClr val="FF7043"/>
            </a:solidFill>
            <a:prstDash val="solid"/>
          </a:ln>
          <a:effectLst>
            <a:outerShdw sx="100000" sy="100000" kx="0" ky="0" algn="bl" rotWithShape="0" blurRad="101600" dist="25400" dir="8100000">
              <a:srgbClr val="B0A09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594360"/>
            <a:ext cx="4133088" cy="420624"/>
          </a:xfrm>
          <a:prstGeom prst="rect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594360"/>
            <a:ext cx="41330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⚡ 系統一（System 1）— 快思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" y="1051560"/>
            <a:ext cx="39136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7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自動、直覺、快速</a:t>
            </a:r>
            <a:pPr indent="0" marL="0">
              <a:buNone/>
            </a:pPr>
            <a:r>
              <a:rPr lang="en-US" sz="115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，不費力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依賴模式識別與過去經驗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容易有偏見、過度自信、跳過驗證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在新情境中常犯系統性錯誤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54880" y="594360"/>
            <a:ext cx="4133088" cy="1508760"/>
          </a:xfrm>
          <a:prstGeom prst="rect">
            <a:avLst/>
          </a:prstGeom>
          <a:solidFill>
            <a:srgbClr val="E8F5E9"/>
          </a:solidFill>
          <a:ln w="25400">
            <a:solidFill>
              <a:srgbClr val="26A69A"/>
            </a:solidFill>
            <a:prstDash val="solid"/>
          </a:ln>
          <a:effectLst>
            <a:outerShdw sx="100000" sy="100000" kx="0" ky="0" algn="bl" rotWithShape="0" blurRad="101600" dist="25400" dir="8100000">
              <a:srgbClr val="B0A09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594360"/>
            <a:ext cx="4133088" cy="420624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594360"/>
            <a:ext cx="41330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🧠 系統二（System 2）— 慢想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64608" y="1051560"/>
            <a:ext cx="39136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60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刻意、邏輯、緩慢</a:t>
            </a:r>
            <a:pPr indent="0" marL="0">
              <a:buNone/>
            </a:pPr>
            <a:r>
              <a:rPr lang="en-US" sz="115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，需要專注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逐步推理，會自我修正與驗證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可靠，但耗費認知資源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適合複雜、高風險的決策情境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56032" y="2176272"/>
            <a:ext cx="8631936" cy="402336"/>
          </a:xfrm>
          <a:prstGeom prst="rect">
            <a:avLst/>
          </a:prstGeom>
          <a:solidFill>
            <a:srgbClr val="FFFDE7"/>
          </a:solidFill>
          <a:ln w="22860">
            <a:solidFill>
              <a:srgbClr val="FFB3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2176272"/>
            <a:ext cx="8631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B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🔑  Kahneman 洞察：人類傾向讓系統一主導，但高風險決策必須啟動系統二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56032" y="2651760"/>
            <a:ext cx="8631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雙系統理論如何解讀 AI 治理架構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56032" y="2944368"/>
            <a:ext cx="4133088" cy="1719072"/>
          </a:xfrm>
          <a:prstGeom prst="rect">
            <a:avLst/>
          </a:prstGeom>
          <a:solidFill>
            <a:srgbClr val="FFF8EE"/>
          </a:solidFill>
          <a:ln w="22860">
            <a:solidFill>
              <a:srgbClr val="FF7043"/>
            </a:solidFill>
            <a:prstDash val="solid"/>
          </a:ln>
          <a:effectLst>
            <a:outerShdw sx="100000" sy="100000" kx="0" ky="0" algn="bl" rotWithShape="0" blurRad="101600" dist="25400" dir="8100000">
              <a:srgbClr val="B0A09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6032" y="2944368"/>
            <a:ext cx="4133088" cy="347472"/>
          </a:xfrm>
          <a:prstGeom prst="rect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2944368"/>
            <a:ext cx="41330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AI 系統一 ＝ LLM 生成層（快思）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3346704"/>
            <a:ext cx="3913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快速產出建議（菜單推薦、折扣提案、回覆草稿）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5760" y="3602736"/>
            <a:ext cx="3913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依靠訓練資料中的模式，不費力地生成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65760" y="3858768"/>
            <a:ext cx="3913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可能產生幻覺、過度承諾、偏誤輸出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65760" y="4114800"/>
            <a:ext cx="3913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單模型無法自我校正，容易誤判複雜情境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65760" y="4370832"/>
            <a:ext cx="3913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7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對應 Stage 1：Gemma 4 31B 主分析生成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54880" y="2944368"/>
            <a:ext cx="4133088" cy="1719072"/>
          </a:xfrm>
          <a:prstGeom prst="rect">
            <a:avLst/>
          </a:prstGeom>
          <a:solidFill>
            <a:srgbClr val="F0FAFA"/>
          </a:solidFill>
          <a:ln w="22860">
            <a:solidFill>
              <a:srgbClr val="26A69A"/>
            </a:solidFill>
            <a:prstDash val="solid"/>
          </a:ln>
          <a:effectLst>
            <a:outerShdw sx="100000" sy="100000" kx="0" ky="0" algn="bl" rotWithShape="0" blurRad="101600" dist="25400" dir="8100000">
              <a:srgbClr val="B0A09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944368"/>
            <a:ext cx="4133088" cy="347472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2944368"/>
            <a:ext cx="41330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AI 系統二 ＝ 治理層（慢想）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64608" y="3346704"/>
            <a:ext cx="3913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 Critic：第二個 LLM 批判審查輸出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64608" y="3602736"/>
            <a:ext cx="3913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SupervisionGate：高風險決策強制中止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64608" y="3858768"/>
            <a:ext cx="3913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 Rule Engine：確定性規則作最終護欄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64608" y="4114800"/>
            <a:ext cx="3913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Toggle：人類管理者設定授權邊界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64608" y="4370832"/>
            <a:ext cx="3913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60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對應慢想：刻意、有結構、可審計的驗證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56032" y="4709160"/>
            <a:ext cx="8631936" cy="384048"/>
          </a:xfrm>
          <a:prstGeom prst="rect">
            <a:avLst/>
          </a:prstGeom>
          <a:solidFill>
            <a:srgbClr val="E0F2F1"/>
          </a:solidFill>
          <a:ln w="19050">
            <a:solidFill>
              <a:srgbClr val="26A69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6032" y="4709160"/>
            <a:ext cx="86319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4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AI 治理的本質：設計一套機制，讓 AI「快思」產出創意，再用「慢想」規則把關風險——就像優秀的決策者一樣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開始做事，你準備好管它了嗎？</dc:title>
  <dc:subject>PptxGenJS Presentation</dc:subject>
  <dc:creator>PptxGenJS</dc:creator>
  <cp:lastModifiedBy>PptxGenJS</cp:lastModifiedBy>
  <cp:revision>1</cp:revision>
  <dcterms:created xsi:type="dcterms:W3CDTF">2026-05-20T00:07:23Z</dcterms:created>
  <dcterms:modified xsi:type="dcterms:W3CDTF">2026-05-20T00:07:23Z</dcterms:modified>
</cp:coreProperties>
</file>